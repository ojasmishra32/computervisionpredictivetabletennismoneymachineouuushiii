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talk (4:45)" id="{C0DE0000-5D1E-4C2B-9A11-C0A7F1D00000}">
          <p14:sldIdLst>
            <p14:sldId id="256"/>
            <p14:sldId id="257"/>
            <p14:sldId id="258"/>
            <p14:sldId id="259"/>
            <p14:sldId id="260"/>
            <p14:sldId id="261"/>
            <p14:sldId id="262"/>
            <p14:sldId id="263"/>
            <p14:sldId id="264"/>
            <p14:sldId id="265"/>
          </p14:sldIdLst>
        </p14:section>
        <p14:section name="Q&amp;A backup" id="{C0DE0001-5D1E-4C2B-9A11-C0A7F1D00001}">
          <p14:sldIdLst>
            <p14:sldId id="266"/>
            <p14:sldId id="267"/>
            <p14:sldId id="268"/>
            <p14:sldId id="269"/>
            <p14:sldId id="270"/>
            <p14:sldId id="271"/>
            <p14:sldId id="272"/>
            <p14:sldId id="273"/>
            <p14:sldId id="274"/>
            <p14:sldId id="275"/>
            <p14:sldId id="276"/>
            <p14:sldId id="277"/>
            <p14:sldId id="278"/>
            <p14:sldId id="279"/>
          </p14:sldIdLst>
        </p14:section>
        <p14:section name="Manifest (hidden)" id="{C0DE0002-5D1E-4C2B-9A11-C0A7F1D00002}">
          <p14:sldIdLst>
            <p14:sldId id="280"/>
            <p14:sldId id="281"/>
            <p14:sldId id="282"/>
            <p14:sldId id="283"/>
            <p14:sldId id="284"/>
            <p14:sldId id="285"/>
            <p14:sldId id="286"/>
            <p14:sldId id="287"/>
            <p14:sldId id="288"/>
            <p14:sldId id="289"/>
            <p14:sldId id="290"/>
            <p14:sldId id="291"/>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Fast tier (0–3 s)</c:v>
                </c:pt>
              </c:strCache>
            </c:strRef>
          </c:tx>
          <c:spPr>
            <a:solidFill>
              <a:srgbClr val="27598B"/>
            </a:solidFill>
            <a:ln>
              <a:noFill/>
            </a:ln>
          </c:spPr>
          <c:invertIfNegative val="0"/>
          <c:dPt>
            <c:idx val="8"/>
            <c:spPr>
              <a:solidFill>
                <a:srgbClr val="9DB8D3"/>
              </a:solidFill>
              <a:ln>
                <a:noFill/>
              </a:ln>
            </c:spPr>
          </c:dPt>
          <c:dPt>
            <c:idx val="9"/>
            <c:spPr>
              <a:solidFill>
                <a:srgbClr val="9DB8D3"/>
              </a:solidFill>
              <a:ln>
                <a:noFill/>
              </a:ln>
            </c:spPr>
          </c:dPt>
          <c:dPt>
            <c:idx val="10"/>
            <c:spPr>
              <a:solidFill>
                <a:srgbClr val="9DB8D3"/>
              </a:solidFill>
              <a:ln>
                <a:noFill/>
              </a:ln>
            </c:spPr>
          </c:dPt>
          <c:cat>
            <c:strRef>
              <c:f>Sheet1!$A$2:$A$12</c:f>
              <c:strCache>
                <c:ptCount val="11"/>
                <c:pt idx="0">
                  <c:v>Dec</c:v>
                </c:pt>
                <c:pt idx="1">
                  <c:v>Jan</c:v>
                </c:pt>
                <c:pt idx="2">
                  <c:v>Feb</c:v>
                </c:pt>
                <c:pt idx="3">
                  <c:v>Mar</c:v>
                </c:pt>
                <c:pt idx="4">
                  <c:v>Apr</c:v>
                </c:pt>
                <c:pt idx="5">
                  <c:v>May</c:v>
                </c:pt>
                <c:pt idx="6">
                  <c:v>Jun</c:v>
                </c:pt>
                <c:pt idx="7">
                  <c:v>Jul</c:v>
                </c:pt>
                <c:pt idx="8">
                  <c:v>Aug</c:v>
                </c:pt>
                <c:pt idx="9">
                  <c:v>Sep</c:v>
                </c:pt>
                <c:pt idx="10">
                  <c:v>Oct</c:v>
                </c:pt>
              </c:strCache>
            </c:strRef>
          </c:cat>
          <c:val>
            <c:numRef>
              <c:f>Sheet1!$B$2:$B$12</c:f>
              <c:numCache>
                <c:formatCode>General</c:formatCode>
                <c:ptCount val="11"/>
                <c:pt idx="0">
                  <c:v>1.97</c:v>
                </c:pt>
                <c:pt idx="1">
                  <c:v>2.41</c:v>
                </c:pt>
                <c:pt idx="2">
                  <c:v>1.21</c:v>
                </c:pt>
                <c:pt idx="3">
                  <c:v>2.02</c:v>
                </c:pt>
                <c:pt idx="4">
                  <c:v>1.43</c:v>
                </c:pt>
                <c:pt idx="5">
                  <c:v>0.8</c:v>
                </c:pt>
                <c:pt idx="6">
                  <c:v>0.73</c:v>
                </c:pt>
                <c:pt idx="7">
                  <c:v>0.6</c:v>
                </c:pt>
                <c:pt idx="8">
                  <c:v>0.83</c:v>
                </c:pt>
                <c:pt idx="9">
                  <c:v>0.7</c:v>
                </c:pt>
                <c:pt idx="10">
                  <c:v>0.44</c:v>
                </c:pt>
              </c:numCache>
            </c:numRef>
          </c:val>
        </c:ser>
        <c:ser>
          <c:idx val="1"/>
          <c:order val="1"/>
          <c:tx>
            <c:strRef>
              <c:f>Sheet1!$C$1</c:f>
              <c:strCache>
                <c:ptCount val="1"/>
                <c:pt idx="0">
                  <c:v>Everyone else, same 0–3 s</c:v>
                </c:pt>
              </c:strCache>
            </c:strRef>
          </c:tx>
          <c:spPr>
            <a:solidFill>
              <a:srgbClr val="7D8FA3"/>
            </a:solidFill>
            <a:ln>
              <a:noFill/>
            </a:ln>
          </c:spPr>
          <c:invertIfNegative val="0"/>
          <c:dPt>
            <c:idx val="8"/>
            <c:spPr>
              <a:solidFill>
                <a:srgbClr val="C3CCD6"/>
              </a:solidFill>
              <a:ln>
                <a:noFill/>
              </a:ln>
            </c:spPr>
          </c:dPt>
          <c:dPt>
            <c:idx val="9"/>
            <c:spPr>
              <a:solidFill>
                <a:srgbClr val="C3CCD6"/>
              </a:solidFill>
              <a:ln>
                <a:noFill/>
              </a:ln>
            </c:spPr>
          </c:dPt>
          <c:dPt>
            <c:idx val="10"/>
            <c:spPr>
              <a:solidFill>
                <a:srgbClr val="C3CCD6"/>
              </a:solidFill>
              <a:ln>
                <a:noFill/>
              </a:ln>
            </c:spPr>
          </c:dPt>
          <c:cat>
            <c:strRef>
              <c:f>Sheet1!$A$2:$A$12</c:f>
              <c:strCache>
                <c:ptCount val="11"/>
                <c:pt idx="0">
                  <c:v>Dec</c:v>
                </c:pt>
                <c:pt idx="1">
                  <c:v>Jan</c:v>
                </c:pt>
                <c:pt idx="2">
                  <c:v>Feb</c:v>
                </c:pt>
                <c:pt idx="3">
                  <c:v>Mar</c:v>
                </c:pt>
                <c:pt idx="4">
                  <c:v>Apr</c:v>
                </c:pt>
                <c:pt idx="5">
                  <c:v>May</c:v>
                </c:pt>
                <c:pt idx="6">
                  <c:v>Jun</c:v>
                </c:pt>
                <c:pt idx="7">
                  <c:v>Jul</c:v>
                </c:pt>
                <c:pt idx="8">
                  <c:v>Aug</c:v>
                </c:pt>
                <c:pt idx="9">
                  <c:v>Sep</c:v>
                </c:pt>
                <c:pt idx="10">
                  <c:v>Oct</c:v>
                </c:pt>
              </c:strCache>
            </c:strRef>
          </c:cat>
          <c:val>
            <c:numRef>
              <c:f>Sheet1!$C$2:$C$12</c:f>
              <c:numCache>
                <c:formatCode>General</c:formatCode>
                <c:ptCount val="11"/>
                <c:pt idx="0">
                  <c:v>-0.48</c:v>
                </c:pt>
                <c:pt idx="1">
                  <c:v>-0.56</c:v>
                </c:pt>
                <c:pt idx="2">
                  <c:v>-0.63</c:v>
                </c:pt>
                <c:pt idx="3">
                  <c:v>-0.49</c:v>
                </c:pt>
                <c:pt idx="4">
                  <c:v>-0.87</c:v>
                </c:pt>
                <c:pt idx="5">
                  <c:v>-1.68</c:v>
                </c:pt>
                <c:pt idx="6">
                  <c:v>-0.84</c:v>
                </c:pt>
                <c:pt idx="7">
                  <c:v>-1.27</c:v>
                </c:pt>
                <c:pt idx="8">
                  <c:v>-1.2</c:v>
                </c:pt>
                <c:pt idx="9">
                  <c:v>-1.22</c:v>
                </c:pt>
                <c:pt idx="10">
                  <c:v>-1.86</c:v>
                </c:pt>
              </c:numCache>
            </c:numRef>
          </c:val>
        </c:ser>
        <c:ser>
          <c:idx val="2"/>
          <c:order val="2"/>
          <c:tx>
            <c:strRef>
              <c:f>Sheet1!$D$1</c:f>
              <c:strCache>
                <c:ptCount val="1"/>
                <c:pt idx="0">
                  <c:v>Fast tier's trades copied ~3 s later</c:v>
                </c:pt>
              </c:strCache>
            </c:strRef>
          </c:tx>
          <c:spPr>
            <a:solidFill>
              <a:srgbClr val="D1432F"/>
            </a:solidFill>
            <a:ln>
              <a:noFill/>
            </a:ln>
          </c:spPr>
          <c:invertIfNegative val="0"/>
          <c:dPt>
            <c:idx val="8"/>
            <c:spPr>
              <a:solidFill>
                <a:srgbClr val="EBA79C"/>
              </a:solidFill>
              <a:ln>
                <a:noFill/>
              </a:ln>
            </c:spPr>
          </c:dPt>
          <c:dPt>
            <c:idx val="9"/>
            <c:spPr>
              <a:solidFill>
                <a:srgbClr val="EBA79C"/>
              </a:solidFill>
              <a:ln>
                <a:noFill/>
              </a:ln>
            </c:spPr>
          </c:dPt>
          <c:dPt>
            <c:idx val="10"/>
            <c:spPr>
              <a:solidFill>
                <a:srgbClr val="EBA79C"/>
              </a:solidFill>
              <a:ln>
                <a:noFill/>
              </a:ln>
            </c:spPr>
          </c:dPt>
          <c:cat>
            <c:strRef>
              <c:f>Sheet1!$A$2:$A$12</c:f>
              <c:strCache>
                <c:ptCount val="11"/>
                <c:pt idx="0">
                  <c:v>Dec</c:v>
                </c:pt>
                <c:pt idx="1">
                  <c:v>Jan</c:v>
                </c:pt>
                <c:pt idx="2">
                  <c:v>Feb</c:v>
                </c:pt>
                <c:pt idx="3">
                  <c:v>Mar</c:v>
                </c:pt>
                <c:pt idx="4">
                  <c:v>Apr</c:v>
                </c:pt>
                <c:pt idx="5">
                  <c:v>May</c:v>
                </c:pt>
                <c:pt idx="6">
                  <c:v>Jun</c:v>
                </c:pt>
                <c:pt idx="7">
                  <c:v>Jul</c:v>
                </c:pt>
                <c:pt idx="8">
                  <c:v>Aug</c:v>
                </c:pt>
                <c:pt idx="9">
                  <c:v>Sep</c:v>
                </c:pt>
                <c:pt idx="10">
                  <c:v>Oct</c:v>
                </c:pt>
              </c:strCache>
            </c:strRef>
          </c:cat>
          <c:val>
            <c:numRef>
              <c:f>Sheet1!$D$2:$D$12</c:f>
              <c:numCache>
                <c:formatCode>General</c:formatCode>
                <c:ptCount val="11"/>
                <c:pt idx="0">
                  <c:v>-0.37</c:v>
                </c:pt>
                <c:pt idx="1">
                  <c:v>-2.1</c:v>
                </c:pt>
                <c:pt idx="2">
                  <c:v>-0.06</c:v>
                </c:pt>
                <c:pt idx="3">
                  <c:v>-2.53</c:v>
                </c:pt>
                <c:pt idx="4">
                  <c:v>-1.02</c:v>
                </c:pt>
                <c:pt idx="5">
                  <c:v>-1.03</c:v>
                </c:pt>
                <c:pt idx="6">
                  <c:v>-0.7</c:v>
                </c:pt>
                <c:pt idx="7">
                  <c:v>-0.97</c:v>
                </c:pt>
                <c:pt idx="8">
                  <c:v>-1.53</c:v>
                </c:pt>
                <c:pt idx="9">
                  <c:v>-1.57</c:v>
                </c:pt>
                <c:pt idx="10">
                  <c:v>-2.42</c:v>
                </c:pt>
              </c:numCache>
            </c:numRef>
          </c:val>
        </c:ser>
        <c:gapWidth val="55"/>
        <c:axId val="-2068027336"/>
        <c:axId val="-2113994440"/>
      </c:barChart>
      <c:catAx>
        <c:axId val="-2068027336"/>
        <c:scaling>
          <c:orientation val="minMax"/>
        </c:scaling>
        <c:delete val="0"/>
        <c:axPos val="b"/>
        <c:majorTickMark val="none"/>
        <c:minorTickMark val="none"/>
        <c:tickLblPos val="low"/>
        <c:spPr>
          <a:ln w="9525">
            <a:solidFill>
              <a:srgbClr val="566676"/>
            </a:solidFill>
          </a:ln>
        </c:spPr>
        <c:txPr>
          <a:bodyPr/>
          <a:lstStyle/>
          <a:p>
            <a:pPr>
              <a:defRPr sz="1100">
                <a:solidFill>
                  <a:srgbClr val="566676"/>
                </a:solidFill>
              </a:defRPr>
            </a:pPr>
          </a:p>
        </c:txPr>
        <c:crossAx val="-2113994440"/>
        <c:crosses val="autoZero"/>
        <c:auto val="1"/>
        <c:lblAlgn val="ctr"/>
        <c:lblOffset val="100"/>
        <c:noMultiLvlLbl val="0"/>
      </c:catAx>
      <c:valAx>
        <c:axId val="-2113994440"/>
        <c:scaling/>
        <c:delete val="0"/>
        <c:axPos val="l"/>
        <c:majorGridlines>
          <c:spPr>
            <a:ln w="6350">
              <a:solidFill>
                <a:srgbClr val="D3DCE5"/>
              </a:solidFill>
            </a:ln>
          </c:spPr>
        </c:majorGridlines>
        <c:numFmt formatCode="0&quot;¢&quot;" sourceLinked="0"/>
        <c:majorTickMark val="none"/>
        <c:minorTickMark val="none"/>
        <c:tickLblPos val="nextTo"/>
        <c:spPr>
          <a:ln>
            <a:noFill/>
          </a:ln>
        </c:spPr>
        <c:txPr>
          <a:bodyPr/>
          <a:lstStyle/>
          <a:p>
            <a:pPr>
              <a:defRPr sz="1100">
                <a:solidFill>
                  <a:srgbClr val="566676"/>
                </a:solidFill>
              </a:defRPr>
            </a:pPr>
          </a:p>
        </c:txPr>
        <c:crossAx val="-2068027336"/>
        <c:crosses val="autoZero"/>
      </c:valAx>
    </c:plotArea>
    <c:legend>
      <c:legendPos val="t"/>
      <c:overlay val="0"/>
      <c:txPr>
        <a:bodyPr/>
        <a:lstStyle/>
        <a:p>
          <a:pPr>
            <a:defRPr sz="1100">
              <a:solidFill>
                <a:srgbClr val="0C1A28"/>
              </a:solidFill>
            </a:defRPr>
          </a:pPr>
        </a:p>
      </c:txPr>
    </c:legend>
    <c:dispBlanksAs val="gap"/>
  </c:chart>
  <c:txPr>
    <a:bodyPr/>
    <a:lstStyle/>
    <a:p>
      <a:pPr>
        <a:defRPr sz="1100">
          <a:solidFill>
            <a:srgbClr val="566676"/>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In sample</c:v>
                </c:pt>
              </c:strCache>
            </c:strRef>
          </c:tx>
          <c:spPr>
            <a:solidFill>
              <a:srgbClr val="27598B"/>
            </a:solidFill>
            <a:ln>
              <a:noFill/>
            </a:ln>
          </c:spPr>
          <c:invertIfNegative val="0"/>
          <c:cat>
            <c:strRef>
              <c:f>Sheet1!$A$2:$A$6</c:f>
              <c:strCache>
                <c:ptCount val="5"/>
                <c:pt idx="0">
                  <c:v>Fast-tier fills</c:v>
                </c:pt>
                <c:pt idx="1">
                  <c:v>+½ tick</c:v>
                </c:pt>
                <c:pt idx="2">
                  <c:v>+1 tick</c:v>
                </c:pt>
                <c:pt idx="3">
                  <c:v>Fees ×2</c:v>
                </c:pt>
                <c:pt idx="4">
                  <c:v>All costs ×2</c:v>
                </c:pt>
              </c:strCache>
            </c:strRef>
          </c:cat>
          <c:val>
            <c:numRef>
              <c:f>Sheet1!$B$2:$B$6</c:f>
              <c:numCache>
                <c:formatCode>General</c:formatCode>
                <c:ptCount val="5"/>
                <c:pt idx="0">
                  <c:v>1.38</c:v>
                </c:pt>
                <c:pt idx="1">
                  <c:v>0.88</c:v>
                </c:pt>
                <c:pt idx="2">
                  <c:v>0.38</c:v>
                </c:pt>
                <c:pt idx="3">
                  <c:v>0.77</c:v>
                </c:pt>
                <c:pt idx="4">
                  <c:v>0.27</c:v>
                </c:pt>
              </c:numCache>
            </c:numRef>
          </c:val>
        </c:ser>
        <c:ser>
          <c:idx val="1"/>
          <c:order val="1"/>
          <c:tx>
            <c:strRef>
              <c:f>Sheet1!$C$1</c:f>
              <c:strCache>
                <c:ptCount val="1"/>
                <c:pt idx="0">
                  <c:v>Burned OOS (non-blind)</c:v>
                </c:pt>
              </c:strCache>
            </c:strRef>
          </c:tx>
          <c:spPr>
            <a:solidFill>
              <a:srgbClr val="D1432F"/>
            </a:solidFill>
            <a:ln>
              <a:noFill/>
            </a:ln>
          </c:spPr>
          <c:invertIfNegative val="0"/>
          <c:cat>
            <c:strRef>
              <c:f>Sheet1!$A$2:$A$6</c:f>
              <c:strCache>
                <c:ptCount val="5"/>
                <c:pt idx="0">
                  <c:v>Fast-tier fills</c:v>
                </c:pt>
                <c:pt idx="1">
                  <c:v>+½ tick</c:v>
                </c:pt>
                <c:pt idx="2">
                  <c:v>+1 tick</c:v>
                </c:pt>
                <c:pt idx="3">
                  <c:v>Fees ×2</c:v>
                </c:pt>
                <c:pt idx="4">
                  <c:v>All costs ×2</c:v>
                </c:pt>
              </c:strCache>
            </c:strRef>
          </c:cat>
          <c:val>
            <c:numRef>
              <c:f>Sheet1!$C$2:$C$6</c:f>
              <c:numCache>
                <c:formatCode>General</c:formatCode>
                <c:ptCount val="5"/>
                <c:pt idx="0">
                  <c:v>0.6</c:v>
                </c:pt>
                <c:pt idx="1">
                  <c:v>0.1</c:v>
                </c:pt>
                <c:pt idx="2">
                  <c:v>-0.4</c:v>
                </c:pt>
                <c:pt idx="3">
                  <c:v>-0.34</c:v>
                </c:pt>
                <c:pt idx="4">
                  <c:v>-0.84</c:v>
                </c:pt>
              </c:numCache>
            </c:numRef>
          </c:val>
        </c:ser>
        <c:dLbls>
          <c:numFmt formatCode="+0.00;−0.00" sourceLinked="0"/>
          <c:txPr>
            <a:bodyPr/>
            <a:lstStyle/>
            <a:p>
              <a:pPr>
                <a:defRPr sz="1100" b="1">
                  <a:solidFill>
                    <a:srgbClr val="0C1A28"/>
                  </a:solidFill>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low"/>
        <c:spPr>
          <a:ln w="9525">
            <a:solidFill>
              <a:srgbClr val="566676"/>
            </a:solidFill>
          </a:ln>
        </c:spPr>
        <c:txPr>
          <a:bodyPr/>
          <a:lstStyle/>
          <a:p>
            <a:pPr>
              <a:defRPr sz="1100">
                <a:solidFill>
                  <a:srgbClr val="566676"/>
                </a:solidFill>
              </a:defRPr>
            </a:pPr>
          </a:p>
        </c:txPr>
        <c:crossAx val="-2113994440"/>
        <c:crosses val="autoZero"/>
        <c:auto val="1"/>
        <c:lblAlgn val="ctr"/>
        <c:lblOffset val="100"/>
        <c:noMultiLvlLbl val="0"/>
      </c:catAx>
      <c:valAx>
        <c:axId val="-2113994440"/>
        <c:scaling/>
        <c:delete val="0"/>
        <c:axPos val="l"/>
        <c:majorGridlines>
          <c:spPr>
            <a:ln w="6350">
              <a:solidFill>
                <a:srgbClr val="D3DCE5"/>
              </a:solidFill>
            </a:ln>
          </c:spPr>
        </c:majorGridlines>
        <c:numFmt formatCode="0.0&quot;¢&quot;" sourceLinked="0"/>
        <c:majorTickMark val="none"/>
        <c:minorTickMark val="none"/>
        <c:tickLblPos val="nextTo"/>
        <c:spPr>
          <a:ln>
            <a:noFill/>
          </a:ln>
        </c:spPr>
        <c:txPr>
          <a:bodyPr/>
          <a:lstStyle/>
          <a:p>
            <a:pPr>
              <a:defRPr sz="1100">
                <a:solidFill>
                  <a:srgbClr val="566676"/>
                </a:solidFill>
              </a:defRPr>
            </a:pPr>
          </a:p>
        </c:txPr>
        <c:crossAx val="-2068027336"/>
        <c:crosses val="autoZero"/>
      </c:valAx>
    </c:plotArea>
    <c:legend>
      <c:legendPos val="t"/>
      <c:overlay val="0"/>
      <c:txPr>
        <a:bodyPr/>
        <a:lstStyle/>
        <a:p>
          <a:pPr>
            <a:defRPr sz="1100">
              <a:solidFill>
                <a:srgbClr val="0C1A28"/>
              </a:solidFill>
            </a:defRPr>
          </a:pPr>
        </a:p>
      </c:txPr>
    </c:legend>
    <c:dispBlanksAs val="gap"/>
  </c:chart>
  <c:txPr>
    <a:bodyPr/>
    <a:lstStyle/>
    <a:p>
      <a:pPr>
        <a:defRPr sz="1100">
          <a:solidFill>
            <a:srgbClr val="566676"/>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1"/>
    <c:plotArea>
      <c:scatterChart>
        <c:scatterStyle val="lineMarker"/>
        <c:varyColors val="0"/>
        <c:ser>
          <c:idx val="0"/>
          <c:order val="0"/>
          <c:tx>
            <c:strRef>
              <c:f>Sheet1!$B$1</c:f>
              <c:strCache>
                <c:ptCount val="1"/>
                <c:pt idx="0">
                  <c:v>Pre-registered (lag 2.0 s)</c:v>
                </c:pt>
              </c:strCache>
            </c:strRef>
          </c:tx>
          <c:spPr>
            <a:ln w="28575">
              <a:solidFill>
                <a:srgbClr val="27598B"/>
              </a:solidFill>
            </a:ln>
          </c:spPr>
          <c:marker>
            <c:symbol val="none"/>
          </c:marker>
          <c:xVal>
            <c:numRef>
              <c:f>Sheet1!$A$2:$A$10</c:f>
              <c:numCache>
                <c:formatCode>General</c:formatCode>
                <c:ptCount val="9"/>
                <c:pt idx="0">
                  <c:v>0.0</c:v>
                </c:pt>
                <c:pt idx="1">
                  <c:v>0.05</c:v>
                </c:pt>
                <c:pt idx="2">
                  <c:v>0.25</c:v>
                </c:pt>
                <c:pt idx="3">
                  <c:v>0.5</c:v>
                </c:pt>
                <c:pt idx="4">
                  <c:v>0.75</c:v>
                </c:pt>
                <c:pt idx="5">
                  <c:v>1.0</c:v>
                </c:pt>
                <c:pt idx="6">
                  <c:v>1.5</c:v>
                </c:pt>
                <c:pt idx="7">
                  <c:v>2.0</c:v>
                </c:pt>
                <c:pt idx="8">
                  <c:v>3.0</c:v>
                </c:pt>
              </c:numCache>
            </c:numRef>
          </c:xVal>
          <c:yVal>
            <c:numRef>
              <c:f>Sheet1!$B$2:$B$10</c:f>
              <c:numCache>
                <c:formatCode>General</c:formatCode>
                <c:ptCount val="9"/>
                <c:pt idx="0">
                  <c:v>46.43</c:v>
                </c:pt>
                <c:pt idx="1">
                  <c:v>35.69</c:v>
                </c:pt>
                <c:pt idx="2">
                  <c:v>24.42</c:v>
                </c:pt>
                <c:pt idx="3">
                  <c:v>15.16</c:v>
                </c:pt>
                <c:pt idx="4">
                  <c:v>8.64</c:v>
                </c:pt>
                <c:pt idx="5">
                  <c:v>4.35</c:v>
                </c:pt>
                <c:pt idx="6">
                  <c:v>-11.29</c:v>
                </c:pt>
                <c:pt idx="7">
                  <c:v>-11.2</c:v>
                </c:pt>
                <c:pt idx="8">
                  <c:v>-12.67</c:v>
                </c:pt>
              </c:numCache>
            </c:numRef>
          </c:yVal>
          <c:smooth val="0"/>
        </c:ser>
        <c:ser>
          <c:idx val="1"/>
          <c:order val="1"/>
          <c:tx>
            <c:strRef>
              <c:f>Sheet1!$B$12</c:f>
              <c:strCache>
                <c:ptCount val="1"/>
                <c:pt idx="0">
                  <c:v>Post hoc (lag 3.14 s)</c:v>
                </c:pt>
              </c:strCache>
            </c:strRef>
          </c:tx>
          <c:spPr>
            <a:ln w="28575">
              <a:solidFill>
                <a:srgbClr val="3F6E9C"/>
              </a:solidFill>
              <a:prstDash val="dash"/>
            </a:ln>
          </c:spPr>
          <c:marker>
            <c:symbol val="none"/>
          </c:marker>
          <c:xVal>
            <c:numRef>
              <c:f>Sheet1!$A$13:$A$21</c:f>
              <c:numCache>
                <c:formatCode>General</c:formatCode>
                <c:ptCount val="9"/>
                <c:pt idx="0">
                  <c:v>0.0</c:v>
                </c:pt>
                <c:pt idx="1">
                  <c:v>0.05</c:v>
                </c:pt>
                <c:pt idx="2">
                  <c:v>0.25</c:v>
                </c:pt>
                <c:pt idx="3">
                  <c:v>0.5</c:v>
                </c:pt>
                <c:pt idx="4">
                  <c:v>0.75</c:v>
                </c:pt>
                <c:pt idx="5">
                  <c:v>1.0</c:v>
                </c:pt>
                <c:pt idx="6">
                  <c:v>1.5</c:v>
                </c:pt>
                <c:pt idx="7">
                  <c:v>2.0</c:v>
                </c:pt>
                <c:pt idx="8">
                  <c:v>3.0</c:v>
                </c:pt>
              </c:numCache>
            </c:numRef>
          </c:xVal>
          <c:yVal>
            <c:numRef>
              <c:f>Sheet1!$B$13:$B$21</c:f>
              <c:numCache>
                <c:formatCode>General</c:formatCode>
                <c:ptCount val="9"/>
                <c:pt idx="0">
                  <c:v>129.39</c:v>
                </c:pt>
                <c:pt idx="1">
                  <c:v>125.46</c:v>
                </c:pt>
                <c:pt idx="2">
                  <c:v>91.13</c:v>
                </c:pt>
                <c:pt idx="3">
                  <c:v>81.35</c:v>
                </c:pt>
                <c:pt idx="4">
                  <c:v>69.53</c:v>
                </c:pt>
                <c:pt idx="5">
                  <c:v>56.59</c:v>
                </c:pt>
                <c:pt idx="6">
                  <c:v>19.33</c:v>
                </c:pt>
                <c:pt idx="7">
                  <c:v>7.46</c:v>
                </c:pt>
                <c:pt idx="8">
                  <c:v>-11.38</c:v>
                </c:pt>
              </c:numCache>
            </c:numRef>
          </c:yVal>
          <c:smooth val="0"/>
        </c:ser>
        <c:ser>
          <c:idx val="2"/>
          <c:order val="2"/>
          <c:tx>
            <c:strRef>
              <c:f>Sheet1!$B$23</c:f>
              <c:strCache>
                <c:ptCount val="1"/>
                <c:pt idx="0">
                  <c:v>Same inference, per point</c:v>
                </c:pt>
              </c:strCache>
            </c:strRef>
          </c:tx>
          <c:spPr>
            <a:ln w="28575">
              <a:solidFill>
                <a:srgbClr val="D1432F"/>
              </a:solidFill>
            </a:ln>
          </c:spPr>
          <c:marker>
            <c:symbol val="none"/>
          </c:marker>
          <c:xVal>
            <c:numRef>
              <c:f>Sheet1!$A$24:$A$32</c:f>
              <c:numCache>
                <c:formatCode>General</c:formatCode>
                <c:ptCount val="9"/>
                <c:pt idx="0">
                  <c:v>0.0</c:v>
                </c:pt>
                <c:pt idx="1">
                  <c:v>0.05</c:v>
                </c:pt>
                <c:pt idx="2">
                  <c:v>0.25</c:v>
                </c:pt>
                <c:pt idx="3">
                  <c:v>0.5</c:v>
                </c:pt>
                <c:pt idx="4">
                  <c:v>0.75</c:v>
                </c:pt>
                <c:pt idx="5">
                  <c:v>1.0</c:v>
                </c:pt>
                <c:pt idx="6">
                  <c:v>1.5</c:v>
                </c:pt>
                <c:pt idx="7">
                  <c:v>2.0</c:v>
                </c:pt>
                <c:pt idx="8">
                  <c:v>3.0</c:v>
                </c:pt>
              </c:numCache>
            </c:numRef>
          </c:xVal>
          <c:yVal>
            <c:numRef>
              <c:f>Sheet1!$B$24:$B$32</c:f>
              <c:numCache>
                <c:formatCode>General</c:formatCode>
                <c:ptCount val="9"/>
                <c:pt idx="0">
                  <c:v>132.53</c:v>
                </c:pt>
                <c:pt idx="1">
                  <c:v>129.32</c:v>
                </c:pt>
                <c:pt idx="2">
                  <c:v>78.39</c:v>
                </c:pt>
                <c:pt idx="3">
                  <c:v>-39.81</c:v>
                </c:pt>
                <c:pt idx="4">
                  <c:v>-19.77</c:v>
                </c:pt>
                <c:pt idx="5">
                  <c:v>-16.84</c:v>
                </c:pt>
                <c:pt idx="6">
                  <c:v>-16.84</c:v>
                </c:pt>
                <c:pt idx="7">
                  <c:v>-16.84</c:v>
                </c:pt>
                <c:pt idx="8">
                  <c:v>-16.84</c:v>
                </c:pt>
              </c:numCache>
            </c:numRef>
          </c:yVal>
          <c:smooth val="0"/>
        </c:ser>
        <c:ser>
          <c:idx val="3"/>
          <c:order val="3"/>
          <c:tx>
            <c:strRef>
              <c:f>Sheet1!$B$34</c:f>
              <c:strCache>
                <c:ptCount val="1"/>
                <c:pt idx="0">
                  <c:v>assumed licensed feed: V = 1 s</c:v>
                </c:pt>
              </c:strCache>
            </c:strRef>
          </c:tx>
          <c:spPr>
            <a:ln w="12700">
              <a:solidFill>
                <a:srgbClr val="566676"/>
              </a:solidFill>
              <a:prstDash val="dash"/>
            </a:ln>
          </c:spPr>
          <c:marker>
            <c:symbol val="none"/>
          </c:marker>
          <c:xVal>
            <c:numRef>
              <c:f>Sheet1!$A$35:$A$36</c:f>
              <c:numCache>
                <c:formatCode>General</c:formatCode>
                <c:ptCount val="2"/>
                <c:pt idx="0">
                  <c:v>1.0</c:v>
                </c:pt>
                <c:pt idx="1">
                  <c:v>1.0</c:v>
                </c:pt>
              </c:numCache>
            </c:numRef>
          </c:xVal>
          <c:yVal>
            <c:numRef>
              <c:f>Sheet1!$B$35:$B$36</c:f>
              <c:numCache>
                <c:formatCode>General</c:formatCode>
                <c:ptCount val="2"/>
                <c:pt idx="0">
                  <c:v>-40</c:v>
                </c:pt>
                <c:pt idx="1">
                  <c:v>140</c:v>
                </c:pt>
              </c:numCache>
            </c:numRef>
          </c:yVal>
          <c:smooth val="0"/>
        </c:ser>
        <c:ser>
          <c:idx val="4"/>
          <c:order val="4"/>
          <c:tx>
            <c:strRef>
              <c:f>Sheet1!$B$38</c:f>
              <c:strCache>
                <c:ptCount val="1"/>
                <c:pt idx="0">
                  <c:v>zero</c:v>
                </c:pt>
              </c:strCache>
            </c:strRef>
          </c:tx>
          <c:spPr>
            <a:ln w="12700">
              <a:solidFill>
                <a:srgbClr val="B8C4D0"/>
              </a:solidFill>
              <a:prstDash val="dash"/>
            </a:ln>
          </c:spPr>
          <c:marker>
            <c:symbol val="none"/>
          </c:marker>
          <c:xVal>
            <c:numRef>
              <c:f>Sheet1!$A$39:$A$40</c:f>
              <c:numCache>
                <c:formatCode>General</c:formatCode>
                <c:ptCount val="2"/>
                <c:pt idx="0">
                  <c:v>0.0</c:v>
                </c:pt>
                <c:pt idx="1">
                  <c:v>3.0</c:v>
                </c:pt>
              </c:numCache>
            </c:numRef>
          </c:xVal>
          <c:yVal>
            <c:numRef>
              <c:f>Sheet1!$B$39:$B$40</c:f>
              <c:numCache>
                <c:formatCode>General</c:formatCode>
                <c:ptCount val="2"/>
                <c:pt idx="0">
                  <c:v>0.0</c:v>
                </c:pt>
                <c:pt idx="1">
                  <c:v>0.0</c:v>
                </c:pt>
              </c:numCache>
            </c:numRef>
          </c:yVal>
          <c:smooth val="0"/>
        </c:ser>
        <c:axId val="-2128940872"/>
        <c:axId val="-2129643912"/>
      </c:scatterChart>
      <c:valAx>
        <c:axId val="-2128940872"/>
        <c:scaling>
          <c:orientation val="minMax"/>
          <c:max val="3.0"/>
          <c:min val="0.0"/>
        </c:scaling>
        <c:delete val="0"/>
        <c:axPos val="b"/>
        <c:numFmt formatCode="0.0&quot; s&quot;" sourceLinked="0"/>
        <c:majorTickMark val="none"/>
        <c:minorTickMark val="none"/>
        <c:tickLblPos val="low"/>
        <c:spPr>
          <a:ln w="9525">
            <a:solidFill>
              <a:srgbClr val="566676"/>
            </a:solidFill>
          </a:ln>
        </c:spPr>
        <c:txPr>
          <a:bodyPr/>
          <a:lstStyle/>
          <a:p>
            <a:pPr>
              <a:defRPr sz="1100">
                <a:solidFill>
                  <a:srgbClr val="566676"/>
                </a:solidFill>
              </a:defRPr>
            </a:pPr>
          </a:p>
        </c:txPr>
        <c:crossAx val="-2129643912"/>
        <c:crosses val="autoZero"/>
        <c:crossBetween val="midCat"/>
      </c:valAx>
      <c:valAx>
        <c:axId val="-2129643912"/>
        <c:scaling>
          <c:orientation val="minMax"/>
          <c:max val="140.0"/>
          <c:min val="-40.0"/>
        </c:scaling>
        <c:delete val="0"/>
        <c:axPos val="l"/>
        <c:majorGridlines>
          <c:spPr>
            <a:ln w="6350">
              <a:solidFill>
                <a:srgbClr val="D3DCE5"/>
              </a:solidFill>
            </a:ln>
          </c:spPr>
        </c:majorGridlines>
        <c:numFmt formatCode="&quot;$&quot;0" sourceLinked="0"/>
        <c:majorTickMark val="none"/>
        <c:minorTickMark val="none"/>
        <c:tickLblPos val="nextTo"/>
        <c:spPr>
          <a:ln>
            <a:noFill/>
          </a:ln>
        </c:spPr>
        <c:txPr>
          <a:bodyPr/>
          <a:lstStyle/>
          <a:p>
            <a:pPr>
              <a:defRPr sz="1100">
                <a:solidFill>
                  <a:srgbClr val="566676"/>
                </a:solidFill>
              </a:defRPr>
            </a:pPr>
          </a:p>
        </c:txPr>
        <c:crossAx val="-2128940872"/>
        <c:crosses val="autoZero"/>
        <c:crossBetween val="midCat"/>
      </c:valAx>
    </c:plotArea>
    <c:legend>
      <c:legendPos val="t"/>
      <c:layout/>
      <c:overlay val="0"/>
      <c:txPr>
        <a:bodyPr/>
        <a:lstStyle/>
        <a:p>
          <a:pPr>
            <a:defRPr sz="1000">
              <a:solidFill>
                <a:srgbClr val="0C1A28"/>
              </a:solidFill>
            </a:defRPr>
          </a:pPr>
        </a:p>
      </c:txPr>
    </c:legend>
    <c:plotVisOnly val="1"/>
    <c:dispBlanksAs val="gap"/>
    <c:showDLblsOverMax val="0"/>
  </c:chart>
  <c:txPr>
    <a:bodyPr/>
    <a:lstStyle/>
    <a:p>
      <a:pPr>
        <a:defRPr sz="1100">
          <a:solidFill>
            <a:srgbClr val="566676"/>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to 0:25, 25 s]  TITLE + HOOK</a:t>
            </a:r>
          </a:p>
          <a:p/>
          <a:p>
            <a:r>
              <a:t>Every tennis point moves a prediction market: on average a one-dollar share moves about 2.6¢ per point, and the point is worth a 5.7¢ swing between winning and losing it.</a:t>
            </a:r>
          </a:p>
          <a:p/>
          <a:p>
            <a:r>
              <a:t>So we asked: when the price jumps, who is on the other side, and who gets paid?</a:t>
            </a:r>
          </a:p>
          <a:p/>
          <a:p>
            <a:r>
              <a:t>We took every resolved ATP and WTA moneyline on Polymarket for a year: 13,084 matches, $2.84B traded, every print classified by side, net of its own fee. Everything you will see is public data and paper trading. No order was ever sent.</a:t>
            </a:r>
          </a:p>
          <a:p/>
          <a:p>
            <a:r>
              <a:t>[The video pairs a real tape (Nakashima v Medvedev, 2026-08-18) with a simulated groundstroke; it is not that point's line call. Blue dots are the fast tier.]</a:t>
            </a:r>
          </a:p>
          <a:p>
            <a:r>
              <a:t>[PRE-FLIGHT: open the .pptx in PowerPoint (not Keynote, Google Slides or the PDF) so the videos autoplay. Bring results/viz/courtside_replay.mp4 and the slide 4 video as separate files; if a video fails, talk over its poster frame.]</a:t>
            </a:r>
          </a:p>
          <a:p>
            <a:r>
              <a:t>[Every number in this deck is read from a results file at build time; the hidden slides at the end list each one with its source key.]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[0:25 to 0:55, 30 s]  ECONOMIC FOUNDATION: THE INFORMATION LADDER</a:t>
            </a:r>
          </a:p>
          <a:p/>
          <a:p>
            <a:r>
              <a:t>Why does anyone lose? Because a point ends in tiers.</a:t>
            </a:r>
          </a:p>
          <a:p/>
          <a:p>
            <a:r>
              <a:t>Ball tracking knows where the ball lands before it bounces. The umpire knows at the bounce. Market makers reprice the book −1.32 s relative to the official stamp, which an umpire types in after the ball lands. TV and public scores trail the book: ESPN by +28.2 s; in our pre-registered live test the book moved first on 93% of 75 points. Streams are slower still.</a:t>
            </a:r>
          </a:p>
          <a:p/>
          <a:p>
            <a:r>
              <a:t>Over a match a one-dollar share's fair value travels $4.2 in total, about 2.6¢ per point. Whoever trades on an older tier sells to someone faster. The venue admits it: it holds every marketable order 1 s so makers can reprice, and charges takers 5% times p(1−p).</a:t>
            </a:r>
          </a:p>
          <a:p/>
          <a:p>
            <a:r>
              <a:t>[If asked how ESPN's lag was measured: we bought no official ATP/WTA data feed and no trading result uses one; the free WTA website and ESPN scoreboard were recorded on 2026-10-03 only to time their lag (research/v2/latency/RESULTS.md).]</a:t>
            </a:r>
          </a:p>
          <a:p>
            <a:r>
              <a:t>[If asked about the clocks: the WTA stamp is the public point log, 1 s resolution, read after the fact; its lag to the bounce is unmeasured. The post hoc inference from fast-tier prints (≈3.1 s) assumes courtside humans with a 0.25 s reaction; it is not a measurement. ATP has no public official point clock.]</a:t>
            </a:r>
          </a:p>
          <a:p>
            <a:r>
              <a:t>[Sources: results/tier0/results.json timing; results/decay/decay.json latency_inputs; results/summary.json h4 and tracking_tennis_physics; results/leverage_stats.json atp; results/risk/risk_stats.json regime.]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[0:55 to 1:25, 30 s]  EVIDENCE: WHO GETS PAID</a:t>
            </a:r>
          </a:p>
          <a:p/>
          <a:p>
            <a:r>
              <a:t>Every taker print, by seconds since the point, marked out 30 seconds later, net of fees.</a:t>
            </a:r>
          </a:p>
          <a:p/>
          <a:p>
            <a:r>
              <a:t>A small group of wallets, the fast tier, trades within three seconds and wins. Picked each month from earlier months only, it made money in 11/11 months: 8 in sample, where we found it, and 3/3 out of sample, the real test. Everyone else in the same window lost in 11/11 months.</a:t>
            </a:r>
          </a:p>
          <a:p/>
          <a:p>
            <a:r>
              <a:t>The control: copy their exact trades about three seconds later and you lose in 11/11 months. So it is not who they are. The edge is speed.</a:t>
            </a:r>
          </a:p>
          <a:p/>
          <a:p>
            <a:r>
              <a:t>And it replicates blind on 11,307 markets we had never looked at: fast tier minus everyone else +3.09¢ in sample, +2.16¢ out of sample.</a:t>
            </a:r>
          </a:p>
          <a:p/>
          <a:p>
            <a:r>
              <a:t>[Honest framing if asked: H6 was written after the in-sample wallet study (DEVIATIONS D4, D5), so only the out-of-sample months test it. These are onset-aligned windows, an ex-post event study; every tradable v2 number uses the causal window (D9).]</a:t>
            </a:r>
          </a:p>
          <a:p>
            <a:r>
              <a:t>[Sources: results/summary.json :: is &gt; h6_walkforward (months before universe &gt; oos_start) + oos &gt; h6_walkforward; results/expand/results.json fast_minus_others_u2.]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 to 2:05, 40 s]  INNOVATION: CALLING THE POINT BEFORE IT LANDS</a:t>
            </a:r>
          </a:p>
          <a:p/>
          <a:p>
            <a:r>
              <a:t>Can anyone reach tier zero? This is real 120-frame-per-second table-tennis footage, OpenTTGames, a public labelled high-speed set; table tennis itself is not tradable on a liquid book, tennis video at this frame rate is not public.</a:t>
            </a:r>
          </a:p>
          <a:p/>
          <a:p>
            <a:r>
              <a:t>Our tracker finds the ball within five pixels on 94.0% of labelled held-out frames. Run live and causally on one GPU, at 120 frames a second with 0 frames dropped, the engine is call-ready in 4.6 ms. On held-out games it called 4 of 41 misses before contact, a median 162.5 ms early, and every call was right; with four calls the lower bound on precision is 51%. It is cautious.</a:t>
            </a:r>
          </a:p>
          <a:p/>
          <a:p>
            <a:r>
              <a:t>The offline evaluation said 11/11 at fifty milliseconds, but it used a feature that looked ahead over the whole flight. The live engine is the deployable number, and our engine README documents the gap. The lead comes from frame rate and cameras, so it lives in the venue.</a:t>
            </a:r>
          </a:p>
          <a:p/>
          <a:p>
            <a:r>
              <a:t>[If asked about the laptop: it sustains 51 fps, not 120, under load; HiPerGator GPU timing is in hpg/engine_vision.sbatch. Footage credit: OpenTTGames, adapted (overlays added), CC BY-NC-SA 4.0 (non-commercial; credited on the slide).]</a:t>
            </a:r>
          </a:p>
          <a:p>
            <a:r>
              <a:t>[If asked about the offline numbers (11/11 at 50 ms, recall 27%, lower bound 74%; the 408 ms clip): offline, with a look-ahead feature. The live causal engine's call on that clip came 325 ms early (online_vs_offline.json flights_called_or_miss test_2/2819). Laptop vision processing: 158 ms per call (p90 219 ms).]</a:t>
            </a:r>
          </a:p>
          <a:p>
            <a:r>
              <a:t>[Reproducing the calls needs models/vision/frozen_call_model.pkl, which is not in git; hpg/engine_vision.sbatch rebuilds it.]</a:t>
            </a:r>
          </a:p>
          <a:p>
            <a:r>
              <a:t>[Sources: results/engine/online_vs_offline.json runs.fp16_cl_fuse_compile_b1_realtime.A_engine_calls and headline; results/tracking/summary.json early_call (offline); results/engine/demo_run.json vision + latency_budget; results/engine/vision_bench.json summary.]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[2:05 to 2:40, 35 s]  BACKTEST: IN SAMPLE VS OUT OF SAMPLE, AND COSTS DOUBLED</a:t>
            </a:r>
          </a:p>
          <a:p/>
          <a:p>
            <a:r>
              <a:t>We priced that opportunity as a paper strategy on the fast tier's own fills. It measures their speed, not our execution.</a:t>
            </a:r>
          </a:p>
          <a:p/>
          <a:p>
            <a:r>
              <a:t>Version one copied their tickets and lost $36.1k out of sample. Version two adds five rules. In sample: +1.38¢ a share, Sharpe 14.5. Out of sample, on a window we had already seen, so we call it burned: +0.60¢, Sharpe 6.7.</a:t>
            </a:r>
          </a:p>
          <a:p/>
          <a:p>
            <a:r>
              <a:t>Now the stress. Half a tick worse and the out-of-sample edge is +0.10¢. Double the fees and it is −0.34¢: negative. Double all costs: −0.84¢. In today's fee regime it does not survive doubled costs, and we say so.</a:t>
            </a:r>
          </a:p>
          <a:p/>
          <a:p>
            <a:r>
              <a:t>The blind forward test runs once, planned for 2026-10-04 11:30 UTC; at build time it is pending, and it will be reported either way.</a:t>
            </a:r>
          </a:p>
          <a:p/>
          <a:p>
            <a:r>
              <a:t>[If asked "whose fills?": the fast tier's. Second place earns nothing out of sample (+1/2 tick: +0.10¢).]</a:t>
            </a:r>
          </a:p>
          <a:p>
            <a:r>
              <a:t>[Sources: results/v2/causal.json (slippage cases), results/v2/cost_stress.json (fees x2, all costs x2), results/summary.json oos h6_shadow (v1), results/v2/forward.json (forward).]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to 3:10, 30 s]  RIGOR AND BLIND TESTS, INCLUDING THE FAILURES</a:t>
            </a:r>
          </a:p>
          <a:p/>
          <a:p>
            <a:r>
              <a:t>We tried 3,410 variants, and we count all of them. In sample the deflated Sharpe is 0.997. On the burned 40 days it is 0.075 at the full trial count: 40 days cannot rule out luck, and we say that. Overfitting probability on our risk grid: 15.4%.</a:t>
            </a:r>
          </a:p>
          <a:p/>
          <a:p>
            <a:r>
              <a:t>Then the blind tests, which we could not tune. Run frozen on markets we had never opened, v2 passed in the in-sample period and failed out of sample: its interval includes zero. Our side-market maker, pre-registered, failed its blind test. The frozen tier-0 v3 counterfactual failed its blind tests on unseen markets in both periods, and its burned out-of-sample run failed too because the interval includes zero. In table tennis we detected no fast tier. Fees doubled: negative.</a:t>
            </a:r>
          </a:p>
          <a:p/>
          <a:p>
            <a:r>
              <a:t>The one clean test left is the forward run, planned for 2026-10-04 11:30 UTC. Every look is logged (77 lines in the peek log at build time).</a:t>
            </a:r>
          </a:p>
          <a:p/>
          <a:p>
            <a:r>
              <a:t>[NOTE section 8 counts 3,386 trials; the deck and video deflate at N = 3,410, which adds the 24-variant v2-safe grid. DSR is the lowest across the variance sources (dsr_min).]</a:t>
            </a:r>
          </a:p>
          <a:p/>
          <a:p>
            <a:r>
              <a:t>[Sources: results/rigor/rigor.json (psr_dsr, pbo_cscv, bootstrap); results/expand/results.json primary; results/maker/oos.json primary; results/tier0_v3/blind.json (tier-0 v3, counterfactual); results/tt/results.json TT1-TT3; results/v2/cost_stress.json; results/oos_peeks.log.]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[3:10 to 3:45, 35 s]  WHAT SPEED IS WORTH: THE 1 s BASELINE (SIMULATED)</a:t>
            </a:r>
          </a:p>
          <a:p/>
          <a:p>
            <a:r>
              <a:t>We don't own a fast feed. We assume a one-second licensed feed and ask what it is worth. This slide carries the label SIMULATED: assumed 1 s licensed feed (not purchased); parameters measured; trade set = points that later moved ≥ 4¢ (selected on outcomes, not ex ante). We bought no official ATP/WTA data feed and no result here uses one.</a:t>
            </a:r>
          </a:p>
          <a:p/>
          <a:p>
            <a:r>
              <a:t>Pre-registered first: it breaks even, +$4 a day held out, −0.38¢ a share, and the break-even feed delay is 1.01 s to 1.09 s. So the call has to beat the umpire's stamp by about nine-tenths of a second.</a:t>
            </a:r>
          </a:p>
          <a:p/>
          <a:p>
            <a:r>
              <a:t>A post hoc reading of the umpire's lag (3.14 s, which assumes the fast traders are courtside humans) gives +$57 a day; its own bootstrap interval for the lag is [2.23, 3.22] s. Read the same clocks point by point and it loses: −$17 a day. A replay on nine real recorded books, calling every point ex ante, gives −0.94¢ a share and 36/36 cells lose.</a:t>
            </a:r>
          </a:p>
          <a:p/>
          <a:p>
            <a:r>
              <a:t>The simulated trader only trades points that later moved four cents or more, so every number here is an upper bound. One second is the decision point for buying a feed. It is not a profit claim.</a:t>
            </a:r>
          </a:p>
          <a:p/>
          <a:p>
            <a:r>
              <a:t>[If asked "isn't 1 s at L = 3.14 s just the camera counterfactual?": in the model, yes; only bounce-to-reprice time enters, so V = 1 at L = 3.14 equals a camera 0.14 s ahead of the bounce at L = 2.0 (QA_PREP Q8).]</a:t>
            </a:r>
          </a:p>
          <a:p>
            <a:r>
              <a:t>[If asked about machines instead of humans: a 20 ms bot in London still gives L of about 2.85 s, because the 1 s venue hold dominates the inference (results/redteam/stamp_lag.json; QA_PREP Q9).]</a:t>
            </a:r>
          </a:p>
          <a:p>
            <a:r>
              <a:t>[Sources: results/tier0/latency_sweep.json video_own120 and breakeven_video_delay; results/replay/replay.json headline_by_V and cells; results/redteam/derived.json keys; results/financials/financials.json cost_assumptions; results/tier0_v3/blind.json.]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[3:45 to 4:10, 25 s]  THE ENGINE RUNS END TO END, PAPER ONLY</a:t>
            </a:r>
          </a:p>
          <a:p/>
          <a:p>
            <a:r>
              <a:t>This is not just a backtest. The market-data and paper-trading legs run on live Polymarket order books, read-only: 7,785 · 54 messages and assets in a 60 s window, feed delay (p50/95/99) 65 / 84 / 123 ms, no gaps, and zero orders sent, by construction.</a:t>
            </a:r>
          </a:p>
          <a:p/>
          <a:p>
            <a:r>
              <a:t>On the right, the full chain runs on a real recorded WTA book: vision call, paper order, the one-second venue delay, the fill, then the reprice. It is an illustrative pairing of table-tennis calls with a tennis book, so it shows timing, not edge.</a:t>
            </a:r>
          </a:p>
          <a:p/>
          <a:p>
            <a:r>
              <a:t>The strip at the bottom answers the organizers' first question, whether we can trade inside three seconds. It is measured end to end in one process: our own footage streamed over WebRTC into the vision engine, a call, a paper order built against a live tennis book, the measured network time to the venue, and the venue's one-second hold, plus a simulated one-second feed. Our own part is tens of milliseconds; the feed and the venue hold dominate. Two conditions go with it: the laptop vision engine was fed ten frames a second, every frame, twelve times slower than real time, because it cannot run 120 frames a second live; and every order was a timing probe, because the rule and the risk check declined every call on the pre-match books. Three seconds is not the real bar, though: the call has to beat the umpire's stamp by about nine-tenths of a second.</a:t>
            </a:r>
          </a:p>
          <a:p/>
          <a:p>
            <a:r>
              <a:t>[Engine: streaming vision → fair value → strategy → risk → paper executor. The executor refuses to start if a live-trading flag or wallet key is present. The e2e run maps table-tennis calls onto a live tennis market for timing only (different sport); the order payload is unsigned and never sent (results/e2e/summary.json).]</a:t>
            </a:r>
          </a:p>
          <a:p/>
          <a:p>
            <a:r>
              <a:t>The live paper session (our pre-registered maker plus a taker control) was finished at build time. Status: final. Primary book: 0 fills, P&amp;L +$0.00. It is a plumbing check; that strategy already failed its blind test.</a:t>
            </a:r>
          </a:p>
          <a:p/>
          <a:p>
            <a:r>
              <a:t>[Paper only: TERMS 5.3 forbids funded accounts; the executor raises LiveTradingForbidden if keys or live flags exist. If the session summary updates before the talk, rebuild the deck and re-render the video together: both read it at build time.]</a:t>
            </a:r>
          </a:p>
          <a:p>
            <a:r>
              <a:t>[Sources: results/engine/live_market_run.json; results/live/summary.json; results/engine/demo_timeline.png from results/engine/demo_run.json; results/e2e/summary.json budget_with_1s_simulated_feed; results/engine/online_vs_offline.json headline.]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[4:10 to 4:35, 25 s]  RISK, LIQUIDITY AND CAPITAL, FINANCIALS</a:t>
            </a:r>
          </a:p>
          <a:p/>
          <a:p>
            <a:r>
              <a:t>Small by design. Every order goes through hard limits: $1,000 per order, 100 shares net per match, a $1,000 daily stop, and kill switches when data or vision goes stale.</a:t>
            </a:r>
          </a:p>
          <a:p/>
          <a:p>
            <a:r>
              <a:t>Liquidity: the median trade is $11.17; at most 18.1% of the fast tier's own volume in any month; capital is three times peak locked, $28.3k.</a:t>
            </a:r>
          </a:p>
          <a:p/>
          <a:p>
            <a:r>
              <a:t>Capacity, the organizers' second question: v2's held-out edge holds only up to about $22.8k–$33.9k of capital, one to two times its frozen size, and five times the size loses. The CV book at one second uses $13.8k–$22.6k; the binding limit is the stale depth on each point, not our capital.</a:t>
            </a:r>
          </a:p>
          <a:p/>
          <a:p>
            <a:r>
              <a:t>Financials, honestly: before fixed costs v2 makes money. After a data licence and a London server, it is about break-even in sample and negative on the burned out-of-sample. The CV book at one second can pay at most $1,644 a month for data under the post hoc reading and $55 pre-registered, against quotes of $1,250 to $10,000. So this prices speed; it is not a business yet.</a:t>
            </a:r>
          </a:p>
          <a:p/>
          <a:p>
            <a:r>
              <a:t>[Biggest risk is the venue: one fee or delay change moves the edge more than any parameter (R11). Wallet concentration: top wallet 41.7% of IS P&amp;L (R2).]</a:t>
            </a:r>
          </a:p>
          <a:p>
            <a:r>
              <a:t>[Sources: results/engine/demo_run.json risk_config; results/risk/risk_stats.json liquidity_capital, concentration; results/v2/causal.json; results/financials/financials.json headline rows and cost_assumptions; results/alpha/alpha.json headline.oos_capital_capacity_usd; results/redteam/derived.json keys (derived by scripts/redteam_derived.py); results/capacity/capacity.json (capacity grid); docs/RISK.md.]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[4:35 to 4:45, 10 s]  CLOSE</a:t>
            </a:r>
          </a:p>
          <a:p/>
          <a:p>
            <a:r>
              <a:t>The code is public and the failures are in it. bash run.sh replay reruns the paper engine on recorded books in seconds; bash run.sh data, then bash run.sh reproduce, rebuilds every table and figure from public data in one to two hours; bash run.sh redteam reruns the checks we ran against ourselves. The blind forward test runs once, planned for 2026-10-04 11:30 UTC.</a:t>
            </a:r>
          </a:p>
          <a:p/>
          <a:p>
            <a:r>
              <a:t>Next: one session with a licensed feed measures the stamp lag. If the umpire lags about three seconds and data costs less than the book can pay, it pays; if not, the speed belongs to someone else. Thank you.</a:t>
            </a:r>
          </a:p>
          <a:p/>
          <a:p>
            <a:r>
              <a:t>[Status at build time: forward test pending; live session finished (started 2026-10-03 20:48 UTC).]</a:t>
            </a:r>
          </a:p>
          <a:p>
            <a:r>
              <a:t>[If asked about reproducing the CV calls: the frozen call model (models/vision/frozen_call_model.pkl) is not in git; hpg/engine_vision.sbatch rebuilds it on HiPerGator.]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Q1: Table 2 fills at the fast tier's own print. You only know that print exists because it happened. Isn't that lookahead, and isn't this someone else's P&amp;L?</a:t>
            </a:r>
          </a:p>
          <a:p/>
          <a:p>
            <a:r>
              <a:t>Answer in this order:</a:t>
            </a:r>
          </a:p>
          <a:p>
            <a:r>
              <a:t>- Yes, it is their speed, and we say so. v2 measures the opportunity for a trader as fast as the fast tier, not our execution.</a:t>
            </a:r>
          </a:p>
          <a:p>
            <a:r>
              <a:t>- What gets counted uses no future information: wallets qualify on past months only, the fee filter uses the fee at the time, and the 0–3 s window runs from detection, not hindsight onset (D9).</a:t>
            </a:r>
          </a:p>
          <a:p>
            <a:r>
              <a:t>- The executable lagged copy loses: the same trades ~3 s later lose in 11/11 months.</a:t>
            </a:r>
          </a:p>
          <a:p>
            <a:r>
              <a:t>- Out of sample, second place earns nothing: +½ tick gives +0.10¢ [−0.41, 0.63].</a:t>
            </a:r>
          </a:p>
          <a:p>
            <a:r>
              <a:t>- Our own route to first place is tier 0, which we only model as a labelled counterfactual.</a:t>
            </a:r>
          </a:p>
          <a:p/>
          <a:p>
            <a:r>
              <a:t>[Sources: results/summary.json; results/v2/causal.json]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Q2: You built v2 after v1 lost $36.1k out of sample. Isn't that tuning on the out-of-sample period?</a:t>
            </a:r>
          </a:p>
          <a:p/>
          <a:p>
            <a:r>
              <a:t>Answer in this order:</a:t>
            </a:r>
          </a:p>
          <a:p>
            <a:r>
              <a:t>- The OOS was opened once, blind, for v1 (2026-10-03 10:42 UTC); v1's −$36.1k loss is reported.</a:t>
            </a:r>
          </a:p>
          <a:p>
            <a:r>
              <a:t>- v2's rules were tuned on in-sample data only, but its motivation came from how v1 failed. So that window is burned, and every v2 number on it is labelled non-blind.</a:t>
            </a:r>
          </a:p>
          <a:p>
            <a:r>
              <a:t>- v2's clean tests are pre-registered. Blind, on 11,307 never-examined markets: +2.02¢ [1.14, 2.93] in the in-sample period (pass); +1.22¢ [−0.19, 2.65] out of sample: a fail by our rule.</a:t>
            </a:r>
          </a:p>
          <a:p>
            <a:r>
              <a:t>- The forward window is run once, planned for 2026-10-04 11:30 UTC, and reported either way.</a:t>
            </a:r>
          </a:p>
          <a:p>
            <a:r>
              <a:t>- All 77 looks at held-out data are in results/oos_peeks.log.</a:t>
            </a:r>
          </a:p>
          <a:p/>
          <a:p>
            <a:r>
              <a:t>[Sources: results/summary.json; results/expand/results.json; results/oos_peeks.log]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Q3: A Sharpe of 14.5 on daily data. The brief says above 3, assume a bug.</a:t>
            </a:r>
          </a:p>
          <a:p/>
          <a:p>
            <a:r>
              <a:t>Answer in this order:</a:t>
            </a:r>
          </a:p>
          <a:p>
            <a:r>
              <a:t>- We assumed one and found one: the onset hindsight (D9). Fixing it cut the in-sample Sharpe from 16.8 to 14.5.</a:t>
            </a:r>
          </a:p>
          <a:p>
            <a:r>
              <a:t>- What remains is structural: about 270 small bets a day, each settled by an exogenous binary outcome, net exposure capped at 100 shares per match.</a:t>
            </a:r>
          </a:p>
          <a:p>
            <a:r>
              <a:t>- Tails are mild: skew 0.53, kurtosis 4.3, worst day −1.9%.</a:t>
            </a:r>
          </a:p>
          <a:p>
            <a:r>
              <a:t>- It falls fast with costs: Sharpe 9.8 at +½ tick, 4.3 at +1 tick, 3.0 with all costs doubled; burned OOS 6.7 (bootstrap [1.9, 12.3]).</a:t>
            </a:r>
          </a:p>
          <a:p/>
          <a:p>
            <a:r>
              <a:t>[Sources: results/summary.json; results/v2/causal.json; results/v2/note_metrics.json; results/rigor/rigor.json]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Q4: What happens when costs double? What is your cost in bps?</a:t>
            </a:r>
          </a:p>
          <a:p/>
          <a:p>
            <a:r>
              <a:t>Answer in this order:</a:t>
            </a:r>
          </a:p>
          <a:p>
            <a:r>
              <a:t>- Fees: each match's own rate × q(1−q): about 120 bps of notional in sample (mixed fee regimes) and 179 bps out of sample (all at today's rate).</a:t>
            </a:r>
          </a:p>
          <a:p>
            <a:r>
              <a:t>- Fees doubled: +0.77¢ in sample (7/7 months), but −0.34¢ [−0.86, 0.19] out of sample (0/3 months).</a:t>
            </a:r>
          </a:p>
          <a:p>
            <a:r>
              <a:t>- All costs doubled: +0.27¢ in sample and −0.84¢ out of sample.</a:t>
            </a:r>
          </a:p>
          <a:p>
            <a:r>
              <a:t>- So in today's regime the edge does not survive doubled costs, and we say so. Break-even taker fee rate on the burned OOS, before fixed costs: 8.2%.</a:t>
            </a:r>
          </a:p>
          <a:p>
            <a:r>
              <a:t>- That is why venue rules are risk R11 and why the halve/stop rule exists.</a:t>
            </a:r>
          </a:p>
          <a:p/>
          <a:p>
            <a:r>
              <a:t>[Sources: results/v2/note_metrics.json; results/v2/cost_stress.json; results/financials/financials.json]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Q5: Is Polymarket even allowed in this track, and can you trade it from the US?</a:t>
            </a:r>
          </a:p>
          <a:p/>
          <a:p>
            <a:r>
              <a:t>Answer in this order:</a:t>
            </a:r>
          </a:p>
          <a:p>
            <a:r>
              <a:t>- The track allows any liquid, publicly traded market. Polymarket tennis has a public order book, keyless public data, and $2.84B traded in our universe.</a:t>
            </a:r>
          </a:p>
          <a:p>
            <a:r>
              <a:t>- The international venue restricts US persons, and we say so. TERMS 5.3 forbids funded accounts during the event, so everything here is paper.</a:t>
            </a:r>
          </a:p>
          <a:p>
            <a:r>
              <a:t>- The repo only reads public data. The engine is paper-only by construction (orders sent in the live run: 0); it refuses to start if a key or live flag exists.</a:t>
            </a:r>
          </a:p>
          <a:p>
            <a:r>
              <a:t>- A deployment needs a permitted venue, licensed data and legal review (docs/RISK.md R16).</a:t>
            </a:r>
          </a:p>
          <a:p>
            <a:r>
              <a:t>- Kalshi, the regulated alternative, leads most repricings, but its fee leaves the hedged laggard trade at about zero (research/v2/kalshi/RESULTS.md).</a:t>
            </a:r>
          </a:p>
          <a:p/>
          <a:p>
            <a:r>
              <a:t>[Sources: results/summary.json; results/engine/live_market_run.json; docs/RISK.md R16]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Q6: Who is the fast tier, and why hasn't competition killed the edge?</a:t>
            </a:r>
          </a:p>
          <a:p/>
          <a:p>
            <a:r>
              <a:t>Answer in this order:</a:t>
            </a:r>
          </a:p>
          <a:p>
            <a:r>
              <a:t>- We can't identify them; we can characterize them: they trade within 3 s of a detected point, and selected walk-forward they made money in 11/11 months.</a:t>
            </a:r>
          </a:p>
          <a:p>
            <a:r>
              <a:t>- They replicate blind: on unseen markets they beat everyone else by +3.09¢ in sample and +2.16¢ [1.79, 2.53] out of sample.</a:t>
            </a:r>
          </a:p>
          <a:p>
            <a:r>
              <a:t>- Someone knows the point before the book. Courtside humans would imply an official-stamp lag of about 3.1 s, but that is an inference, not a measurement.</a:t>
            </a:r>
          </a:p>
          <a:p>
            <a:r>
              <a:t>- Competition is biting: the 30 s edge went from +2.0¢ in the first month to +0.4¢ in the last; qualifying wallets grew from 4 to 131. It shrank but stayed positive.</a:t>
            </a:r>
          </a:p>
          <a:p/>
          <a:p>
            <a:r>
              <a:t>[Sources: results/summary.json; results/expand/results.json; results/tier0/results.json]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Q7: You tried 3,410 or more variants. Why isn't this the luckiest draw?</a:t>
            </a:r>
          </a:p>
          <a:p/>
          <a:p>
            <a:r>
              <a:t>Answer in this order:</a:t>
            </a:r>
          </a:p>
          <a:p>
            <a:r>
              <a:t>- Every variant is counted and reported: N = 3,410.</a:t>
            </a:r>
          </a:p>
          <a:p>
            <a:r>
              <a:t>- In sample the deflated Sharpe at that N is 0.997, even with the most conservative variance.</a:t>
            </a:r>
          </a:p>
          <a:p>
            <a:r>
              <a:t>- On the 40-day burned OOS it is 0.481 at N = 44 and 0.075 at N = 3,410. 40 days cannot rule out luck at the full trial count, and we say that.</a:t>
            </a:r>
          </a:p>
          <a:p>
            <a:r>
              <a:t>- Probability of backtest overfitting: 0.0% on the sizing grid, 15.4% by Sharpe on the v2-safe grid, 42.0% by its selection rule.</a:t>
            </a:r>
          </a:p>
          <a:p>
            <a:r>
              <a:t>- Many variants are near-duplicates, so N overstates independent trials. The real answer is the forward test.</a:t>
            </a:r>
          </a:p>
          <a:p/>
          <a:p>
            <a:r>
              <a:t>[Sources: results/rigor/rigor.json]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Q8: Your OOS is 20% of matches but only 38.7 of 360 days, and your universe keeps matches with at least $5k of lifetime volume, which you only know afterwards. Isn't that survivorship and lookahead?</a:t>
            </a:r>
          </a:p>
          <a:p/>
          <a:p>
            <a:r>
              <a:t>Answer in this order:</a:t>
            </a:r>
          </a:p>
          <a:p>
            <a:r>
              <a:t>- We read “20%” as a share of observations: 2,617 of 13,084 matches, 21% of volume. By calendar time it is 38.7 of 360 days (40 UTC dates, the count slides 5 and 6 use); a time-based 20% would start 2026-07-23.</a:t>
            </a:r>
          </a:p>
          <a:p>
            <a:r>
              <a:t>- The volume filter is ex-post. It drops thin markets a live trader would see. The OOS trades nearest the threshold made −1.96¢ a share.</a:t>
            </a:r>
          </a:p>
          <a:p>
            <a:r>
              <a:t>- Our check is the blind test on 11,307 other markets (mostly ITF): the fast-tier gap holds there; v2's out-of-sample interval includes zero.</a:t>
            </a:r>
          </a:p>
          <a:p>
            <a:r>
              <a:t>- H1–H6 use onset-aligned windows: an ex-post event study, labelled as such. Every tradable v2 number uses the causal window.</a:t>
            </a:r>
          </a:p>
          <a:p/>
          <a:p>
            <a:r>
              <a:t>[Sources: results/v2/note_metrics.json; results/risk/risk_stats.json; results/expand/results.json]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Q9: How much capital could this run, and doesn't it hang on a handful of wallets?</a:t>
            </a:r>
          </a:p>
          <a:p/>
          <a:p>
            <a:r>
              <a:t>Answer in this order:</a:t>
            </a:r>
          </a:p>
          <a:p>
            <a:r>
              <a:t>- Not much. v2 ran about $7.2k a day of notional ($1.48M in 206 days) on $28.3k of capital; median trade $11.17.</a:t>
            </a:r>
          </a:p>
          <a:p>
            <a:r>
              <a:t>- Capacity is bounded by the fast tier's own prints, not book depth: every qualifying print totals $82.3k/day in sample and $105.5k/day out of sample.</a:t>
            </a:r>
          </a:p>
          <a:p>
            <a:r>
              <a:t>- Concentration is real: the top wallet carries 41.7% of in-sample P&amp;L and 48.4% out of sample. Clustered by wallet, the burned-OOS CI is [−0.45, 2.38].</a:t>
            </a:r>
          </a:p>
          <a:p>
            <a:r>
              <a:t>- Does it cover central fixed costs out of sample? No: not even with every qualifying print (central cost $167/day). That is why we say “positive but not proven”.</a:t>
            </a:r>
          </a:p>
          <a:p/>
          <a:p>
            <a:r>
              <a:t>[Sources: results/v2/note_metrics.json; results/v2/causal.json; results/risk/risk_stats.json; results/financials/financials.json; results/financials/pm_compute.json]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Q10: Your call model was scored with a look-ahead feature. Causally, how good is it, and what does it add?</a:t>
            </a:r>
          </a:p>
          <a:p/>
          <a:p>
            <a:r>
              <a:t>Answer in this order:</a:t>
            </a:r>
          </a:p>
          <a:p>
            <a:r>
              <a:t>- The live engine is causal; the offline evaluation was not. Streamed at 120 fps on one GPU, it called 4 of 41 held-out misses before contact, all correct (lower bound 51%), median lead 162.5 ms. The offline 11/11 at 50 ms used a look-ahead feature.</a:t>
            </a:r>
          </a:p>
          <a:p>
            <a:r>
              <a:t>- At a 1 s feed the lead barely matters: with the live engine's own call table the pre-registered 1 s cell is +$17/day in sample and +$4 held out; with no early calls at all, +$8 and −$13.</a:t>
            </a:r>
          </a:p>
          <a:p>
            <a:r>
              <a:t>- It also fires between rallies: about 30 MISS calls an hour on balls outside the scored set; the post hoc 1 s P&amp;L survives only ~32 phantom trades a day. A rally-state gate is now in the strategy (off by default, not yet evaluated on the event log); it comes before any live trade.</a:t>
            </a:r>
          </a:p>
          <a:p>
            <a:r>
              <a:t>- The contribution is the time budget: where a lead comes from (frame rate, cameras, being in the venue), and proof that the call fits easily inside the venue's 1 s hold.</a:t>
            </a:r>
          </a:p>
          <a:p/>
          <a:p>
            <a:r>
              <a:t>[Sources: results/engine/online_vs_offline.json; results/redteam/causal_cv.json; results/tier0/latency_sweep.json; results/redteam/derived.json]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Q11: Your simulated CV trader only trades points the market later moved by 4¢ or more. How would a live trader know which points those are? Isn't that lookahead?</a:t>
            </a:r>
          </a:p>
          <a:p/>
          <a:p>
            <a:r>
              <a:t>Answer in this order:</a:t>
            </a:r>
          </a:p>
          <a:p>
            <a:r>
              <a:t>- Yes, and we label it: the sweep trades only points the market later repriced by ≥ 4¢, so it prices speed given a point worth trading. It is not yet a deployable rule, and every number from it is an upper bound.</a:t>
            </a:r>
          </a:p>
          <a:p>
            <a:r>
              <a:t>- Our ex-ante test is the replay: on nine books recorded live, calling every point, 36 of 36 delay × lag cells lose; −0.94¢ a share [−1.28, −0.58] at V = 1 s.</a:t>
            </a:r>
          </a:p>
          <a:p>
            <a:r>
              <a:t>- Widening the pool to all 482 live points roughly halves the edge: +0.25¢ [−0.35, 0.86] held out, even with our own camera (V = 0).</a:t>
            </a:r>
          </a:p>
          <a:p>
            <a:r>
              <a:t>- Next: an ex-ante filter from the Markov point leverage, its threshold fixed at the detector's 4¢, run once on the replay with a logged look.</a:t>
            </a:r>
          </a:p>
          <a:p/>
          <a:p>
            <a:r>
              <a:t>[Sources: results/replay/replay.json; results/redteam/derived.json; research/v2/tier0/RESULTS.md §8]</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Q12: The 3.14 s stamp lag was inferred after the pre-registered 2.0 s gave a held-out Sharpe of 0.3, and read point by point the same inference loses. Isn't that tuning on the out-of-sample period?</a:t>
            </a:r>
          </a:p>
          <a:p/>
          <a:p>
            <a:r>
              <a:t>Answer in this order:</a:t>
            </a:r>
          </a:p>
          <a:p>
            <a:r>
              <a:t>- We lead with the pre-registered reading: at 1 s it breaks even, +$4/day held out, −0.38¢ a share.</a:t>
            </a:r>
          </a:p>
          <a:p>
            <a:r>
              <a:t>- The 3.14 s lag is post hoc: inferred from fast-tier prints assuming courtside humans; +$57/day held out. Its bootstrap CI is [2.23, 3.22] s, and 33% of resamples fall below 2.5 s.</a:t>
            </a:r>
          </a:p>
          <a:p>
            <a:r>
              <a:t>- Read per point, the same inference loses −$17/day: every reprice lands at most 1.78 s after the bounce, before a 1 s order can arrive (1.83 s).</a:t>
            </a:r>
          </a:p>
          <a:p>
            <a:r>
              <a:t>- Both readings use the per-tournament timing adopted after the first P&amp;L run (DEVIATIONS V3); the headline lag and the 1 s baseline were chosen after looking, and we count them as post hoc trials.</a:t>
            </a:r>
          </a:p>
          <a:p/>
          <a:p>
            <a:r>
              <a:t>[Sources: results/tier0/latency_sweep.json; results/redteam/derived.json; results/redteam/stamp_lag.json; DEVIATIONS.md V3]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Q13: You need sub-3-second data. Prove the pipeline can actually trade that fast, frame to order.</a:t>
            </a:r>
          </a:p>
          <a:p/>
          <a:p>
            <a:r>
              <a:t>Answer in this order:</a:t>
            </a:r>
          </a:p>
          <a:p>
            <a:r>
              <a:t>- Measured end to end, in one process: our footage over WebRTC into the vision engine, a call, a paper order on a live tennis book. Video in → order ready: 54 ms on a laptop (24 traces). With a simulated 1 s feed, the network (65 ms) and the venue's 1 s hold: 2,119 ms, under 3,000 ms. Conditions: CV fed at 10 frames/s, every frame (12x slow motion; the laptop cannot run 120 fps in real time); all 24 orders were timing probes: the rule and the risk check declined every call on pre-match books.</a:t>
            </a:r>
          </a:p>
          <a:p>
            <a:r>
              <a:t>- On a GPU the vision call is ready in 4.6 ms (p99 12.2 ms) at 120 fps, 0 frames dropped.</a:t>
            </a:r>
          </a:p>
          <a:p>
            <a:r>
              <a:t>- 3 s is not the real bar: the call must beat the umpire's stamp by about 0.9 s; from a 3 s feed delay every reading loses.</a:t>
            </a:r>
          </a:p>
          <a:p>
            <a:r>
              <a:t>- Paper only: the order payload is unsigned and never sent; table-tennis calls are mapped onto a tennis market for timing only (different sport).</a:t>
            </a:r>
          </a:p>
          <a:p/>
          <a:p>
            <a:r>
              <a:t>[Sources: results/e2e/summary.json; results/engine/online_vs_offline.json; results/redteam/derived.json]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Q14: How much capital can this run, and after paying for the data, what do you make?</a:t>
            </a:r>
          </a:p>
          <a:p/>
          <a:p>
            <a:r>
              <a:t>Answer in this order:</a:t>
            </a:r>
          </a:p>
          <a:p>
            <a:r>
              <a:t>- Capital: small. v2's held-out edge holds up to about $22.8k–$33.9k of capital (1–2× its frozen size); five times the size loses.</a:t>
            </a:r>
          </a:p>
          <a:p>
            <a:r>
              <a:t>- The CV book at 1 s (post hoc 3.14 s lag, 10 matches a day) runs up to $28.5k–$40.2k held out ($55.3k–$73.3k in sample) before its Sharpe halves; the range is how we share stale depth with the fast tier. Every match: $65.0k–$96.9k. Pre-registered lag: Sharpe 0.8 held out, no capacity.</a:t>
            </a:r>
          </a:p>
          <a:p>
            <a:r>
              <a:t>- Data: the 1 s book can pay at most $1,644/month (post hoc) or $55 (pre-registered); quotes run $1,250–$10,000/month (ASSUMPTION). Net of the central stack it is −$110/day post hoc.</a:t>
            </a:r>
          </a:p>
          <a:p>
            <a:r>
              <a:t>- At today's 5% fee COURTSIDE prices speed. It is not yet a business, and the paper says so.</a:t>
            </a:r>
          </a:p>
          <a:p/>
          <a:p>
            <a:r>
              <a:t>[Sources: results/alpha/alpha.json; results/redteam/derived.json; results/financials/financials.json; results/capacity/capacity.json]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0"/>
            <a:ext cx="103632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0"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2F5F8"/>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4415" cy="731520"/>
          </a:xfrm>
          <a:prstGeom prst="rect">
            <a:avLst/>
          </a:prstGeom>
        </p:spPr>
        <p:txBody>
          <a:bodyPr vert="horz" lIns="0" tIns="0" rIns="0" bIns="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0"/>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600" y="6356350"/>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0"/>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600" kern="1200" b="1">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2.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C1A28"/>
        </a:solidFill>
        <a:effectLst/>
      </p:bgPr>
    </p:bg>
    <p:spTree>
      <p:nvGrpSpPr>
        <p:cNvPr id="1" name=""/>
        <p:cNvGrpSpPr/>
        <p:nvPr/>
      </p:nvGrpSpPr>
      <p:grpSpPr/>
      <p:sp>
        <p:nvSpPr>
          <p:cNvPr id="2" name="Title 1"/>
          <p:cNvSpPr>
            <a:spLocks noGrp="1"/>
          </p:cNvSpPr>
          <p:nvPr>
            <p:ph type="title"/>
          </p:nvPr>
        </p:nvSpPr>
        <p:spPr>
          <a:xfrm>
            <a:off x="548640" y="896112"/>
            <a:ext cx="4663440" cy="1024128"/>
          </a:xfrm>
        </p:spPr>
        <p:txBody>
          <a:bodyPr lIns="0" tIns="0" rIns="0" bIns="0"/>
          <a:lstStyle/>
          <a:p>
            <a:r>
              <a:rPr sz="6000" b="1" i="0">
                <a:solidFill>
                  <a:srgbClr val="FFFFFF"/>
                </a:solidFill>
                <a:latin typeface="Arial Narrow" panose="020B0606020202030204" pitchFamily="34" charset="0"/>
              </a:rPr>
              <a:t>COURTSIDE</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9FB3C8"/>
                </a:solidFill>
                <a:latin typeface="Arial" panose="020B0604020202020204" pitchFamily="34" charset="0"/>
              </a:rPr>
              <a:t>GATOR QUANT HACKS 2026  ·  SYSTEMATIC TRADING</a:t>
            </a:r>
          </a:p>
        </p:txBody>
      </p:sp>
      <p:sp>
        <p:nvSpPr>
          <p:cNvPr id="5" name="Hook"/>
          <p:cNvSpPr txBox="1"/>
          <p:nvPr/>
        </p:nvSpPr>
        <p:spPr>
          <a:xfrm>
            <a:off x="548640" y="2057400"/>
            <a:ext cx="4663440" cy="1874519"/>
          </a:xfrm>
          <a:prstGeom prst="rect">
            <a:avLst/>
          </a:prstGeom>
          <a:noFill/>
        </p:spPr>
        <p:txBody>
          <a:bodyPr wrap="square" anchor="t" lIns="0" tIns="0" rIns="0" bIns="0">
            <a:noAutofit/>
          </a:bodyPr>
          <a:lstStyle/>
          <a:p>
            <a:pPr algn="l">
              <a:lnSpc>
                <a:spcPct val="95000"/>
              </a:lnSpc>
            </a:pPr>
            <a:r>
              <a:rPr sz="3600" b="1" i="0">
                <a:solidFill>
                  <a:srgbClr val="FFFFFF"/>
                </a:solidFill>
                <a:latin typeface="Arial Narrow" panose="020B0606020202030204" pitchFamily="34" charset="0"/>
              </a:rPr>
              <a:t>Every point</a:t>
            </a:r>
          </a:p>
          <a:p>
            <a:pPr algn="l">
              <a:lnSpc>
                <a:spcPct val="95000"/>
              </a:lnSpc>
            </a:pPr>
            <a:r>
              <a:rPr sz="3600" b="1" i="0">
                <a:solidFill>
                  <a:srgbClr val="FFFFFF"/>
                </a:solidFill>
                <a:latin typeface="Arial Narrow" panose="020B0606020202030204" pitchFamily="34" charset="0"/>
              </a:rPr>
              <a:t>moves a market.</a:t>
            </a:r>
          </a:p>
          <a:p>
            <a:pPr algn="l">
              <a:lnSpc>
                <a:spcPct val="95000"/>
              </a:lnSpc>
            </a:pPr>
            <a:r>
              <a:rPr sz="3600" b="1" i="0">
                <a:solidFill>
                  <a:srgbClr val="D1432F"/>
                </a:solidFill>
                <a:latin typeface="Arial Narrow" panose="020B0606020202030204" pitchFamily="34" charset="0"/>
              </a:rPr>
              <a:t>Who gets paid?</a:t>
            </a:r>
          </a:p>
        </p:txBody>
      </p:sp>
      <p:sp>
        <p:nvSpPr>
          <p:cNvPr id="6" name="Universe"/>
          <p:cNvSpPr txBox="1"/>
          <p:nvPr/>
        </p:nvSpPr>
        <p:spPr>
          <a:xfrm>
            <a:off x="548640" y="4069080"/>
            <a:ext cx="4663440" cy="685800"/>
          </a:xfrm>
          <a:prstGeom prst="rect">
            <a:avLst/>
          </a:prstGeom>
          <a:noFill/>
        </p:spPr>
        <p:txBody>
          <a:bodyPr wrap="square" anchor="b" lIns="0" tIns="0" rIns="0" bIns="0">
            <a:noAutofit/>
          </a:bodyPr>
          <a:lstStyle/>
          <a:p>
            <a:pPr algn="l"/>
            <a:r>
              <a:rPr sz="3800" b="1" i="0">
                <a:solidFill>
                  <a:srgbClr val="FFFFFF"/>
                </a:solidFill>
                <a:latin typeface="Arial Narrow" panose="020B0606020202030204" pitchFamily="34" charset="0"/>
              </a:rPr>
              <a:t>13,084</a:t>
            </a:r>
            <a:r>
              <a:rPr sz="1800" b="0" i="0">
                <a:solidFill>
                  <a:srgbClr val="9FB3C8"/>
                </a:solidFill>
                <a:latin typeface="Arial Narrow" panose="020B0606020202030204" pitchFamily="34" charset="0"/>
              </a:rPr>
              <a:t> matches   </a:t>
            </a:r>
            <a:r>
              <a:rPr sz="3800" b="1" i="0">
                <a:solidFill>
                  <a:srgbClr val="FFFFFF"/>
                </a:solidFill>
                <a:latin typeface="Arial Narrow" panose="020B0606020202030204" pitchFamily="34" charset="0"/>
              </a:rPr>
              <a:t>$2.84B</a:t>
            </a:r>
            <a:r>
              <a:rPr sz="1800" b="0" i="0">
                <a:solidFill>
                  <a:srgbClr val="9FB3C8"/>
                </a:solidFill>
                <a:latin typeface="Arial Narrow" panose="020B0606020202030204" pitchFamily="34" charset="0"/>
              </a:rPr>
              <a:t> traded</a:t>
            </a:r>
          </a:p>
        </p:txBody>
      </p:sp>
      <p:sp>
        <p:nvSpPr>
          <p:cNvPr id="7" name="Universe caption"/>
          <p:cNvSpPr txBox="1"/>
          <p:nvPr/>
        </p:nvSpPr>
        <p:spPr>
          <a:xfrm>
            <a:off x="548640" y="4846320"/>
            <a:ext cx="4572000" cy="566928"/>
          </a:xfrm>
          <a:prstGeom prst="rect">
            <a:avLst/>
          </a:prstGeom>
          <a:noFill/>
        </p:spPr>
        <p:txBody>
          <a:bodyPr wrap="square" anchor="t" lIns="0" tIns="0" rIns="0" bIns="0">
            <a:noAutofit/>
          </a:bodyPr>
          <a:lstStyle/>
          <a:p>
            <a:pPr algn="l"/>
            <a:r>
              <a:rPr sz="1300" b="0" i="0">
                <a:solidFill>
                  <a:srgbClr val="9FB3C8"/>
                </a:solidFill>
                <a:latin typeface="Arial" panose="020B0604020202020204" pitchFamily="34" charset="0"/>
              </a:rPr>
              <a:t>Every resolved Polymarket ATP/WTA singles moneyline with lifetime volume ≥ $5k, Oct 2025 – Oct 2026</a:t>
            </a:r>
          </a:p>
        </p:txBody>
      </p:sp>
      <p:sp>
        <p:nvSpPr>
          <p:cNvPr id="8" name="Paper chip"/>
          <p:cNvSpPr/>
          <p:nvPr/>
        </p:nvSpPr>
        <p:spPr>
          <a:xfrm>
            <a:off x="548640" y="5577840"/>
            <a:ext cx="3931920" cy="365760"/>
          </a:xfrm>
          <a:prstGeom prst="roundRect">
            <a:avLst>
              <a:gd name="adj" fmla="val 20000"/>
            </a:avLst>
          </a:prstGeom>
          <a:solidFill>
            <a:srgbClr val="17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aper only"/>
          <p:cNvSpPr txBox="1"/>
          <p:nvPr/>
        </p:nvSpPr>
        <p:spPr>
          <a:xfrm>
            <a:off x="548640" y="5577840"/>
            <a:ext cx="3931920" cy="365760"/>
          </a:xfrm>
          <a:prstGeom prst="rect">
            <a:avLst/>
          </a:prstGeom>
          <a:noFill/>
        </p:spPr>
        <p:txBody>
          <a:bodyPr wrap="square" anchor="ctr" lIns="0" tIns="0" rIns="0" bIns="0">
            <a:noAutofit/>
          </a:bodyPr>
          <a:lstStyle/>
          <a:p>
            <a:pPr algn="ctr"/>
            <a:r>
              <a:rPr sz="1150" b="1" i="0" spc="120">
                <a:solidFill>
                  <a:srgbClr val="F07A66"/>
                </a:solidFill>
                <a:latin typeface="Arial" panose="020B0604020202020204" pitchFamily="34" charset="0"/>
              </a:rPr>
              <a:t>PAPER ONLY  ·  PUBLIC DATA  ·  NO ORDERS SENT</a:t>
            </a:r>
          </a:p>
        </p:txBody>
      </p:sp>
      <p:sp>
        <p:nvSpPr>
          <p:cNvPr id="10" name="Video frame"/>
          <p:cNvSpPr/>
          <p:nvPr/>
        </p:nvSpPr>
        <p:spPr>
          <a:xfrm>
            <a:off x="5495544" y="923544"/>
            <a:ext cx="6184087" cy="3510553"/>
          </a:xfrm>
          <a:prstGeom prst="roundRect">
            <a:avLst>
              <a:gd name="adj" fmla="val 1562"/>
            </a:avLst>
          </a:prstGeom>
          <a:solidFill>
            <a:srgbClr val="17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ideo: Hawk-Eye-style replay">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532120" y="960120"/>
            <a:ext cx="6110935" cy="3437401"/>
          </a:xfrm>
          <a:prstGeom prst="rect">
            <a:avLst/>
          </a:prstGeom>
        </p:spPr>
      </p:pic>
      <p:sp>
        <p:nvSpPr>
          <p:cNvPr id="12" name="Video caption"/>
          <p:cNvSpPr txBox="1"/>
          <p:nvPr/>
        </p:nvSpPr>
        <p:spPr>
          <a:xfrm>
            <a:off x="5532120" y="4507249"/>
            <a:ext cx="6110935" cy="457200"/>
          </a:xfrm>
          <a:prstGeom prst="rect">
            <a:avLst/>
          </a:prstGeom>
          <a:noFill/>
        </p:spPr>
        <p:txBody>
          <a:bodyPr wrap="square" anchor="t" lIns="0" tIns="0" rIns="0" bIns="0">
            <a:noAutofit/>
          </a:bodyPr>
          <a:lstStyle/>
          <a:p>
            <a:pPr algn="l"/>
            <a:r>
              <a:rPr sz="1200" b="0" i="0">
                <a:solidFill>
                  <a:srgbClr val="9FB3C8"/>
                </a:solidFill>
                <a:latin typeface="Arial" panose="020B0604020202020204" pitchFamily="34" charset="0"/>
              </a:rPr>
              <a:t>Real Polymarket tape (Nakashima v Medvedev, 2026-08-18) beside a simulated Hawk-Eye-style call</a:t>
            </a:r>
          </a:p>
        </p:txBody>
      </p:sp>
      <p:sp>
        <p:nvSpPr>
          <p:cNvPr id="13" name="Repo"/>
          <p:cNvSpPr txBox="1"/>
          <p:nvPr/>
        </p:nvSpPr>
        <p:spPr>
          <a:xfrm>
            <a:off x="548640" y="6400800"/>
            <a:ext cx="11094415" cy="310896"/>
          </a:xfrm>
          <a:prstGeom prst="rect">
            <a:avLst/>
          </a:prstGeom>
          <a:noFill/>
        </p:spPr>
        <p:txBody>
          <a:bodyPr wrap="square" anchor="ctr" lIns="0" tIns="0" rIns="0" bIns="0">
            <a:noAutofit/>
          </a:bodyPr>
          <a:lstStyle/>
          <a:p>
            <a:pPr algn="l"/>
            <a:r>
              <a:rPr sz="1200" b="0" i="0">
                <a:solidFill>
                  <a:srgbClr val="9FB3C8"/>
                </a:solidFill>
                <a:latin typeface="Courier New"/>
              </a:rPr>
              <a:t>github.com/OjasMishra32/computervisionpredictivetabletennismoneymachineouuushiii</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300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repeatCount="indefinite" fill="hold" display="0">
                  <p:stCondLst>
                    <p:cond delay="indefinite"/>
                  </p:stCondLst>
                </p:cTn>
                <p:tgtEl>
                  <p:spTgt spid="11"/>
                </p:tgtEl>
              </p:cMediaNode>
            </p:video>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600" b="1" i="0">
                <a:solidFill>
                  <a:srgbClr val="0C1A28"/>
                </a:solidFill>
                <a:latin typeface="Arial Narrow" panose="020B0606020202030204" pitchFamily="34" charset="0"/>
              </a:rPr>
              <a:t>A point ends in tiers. Slow tiers pay fast ones</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01  ·  ECONOMIC FOUNDATION</a:t>
            </a:r>
          </a:p>
        </p:txBody>
      </p:sp>
      <p:sp>
        <p:nvSpPr>
          <p:cNvPr id="5" name="Ladder rung 0"/>
          <p:cNvSpPr/>
          <p:nvPr/>
        </p:nvSpPr>
        <p:spPr>
          <a:xfrm>
            <a:off x="548640" y="1591056"/>
            <a:ext cx="7269480" cy="603504"/>
          </a:xfrm>
          <a:prstGeom prst="roundRect">
            <a:avLst>
              <a:gd name="adj" fmla="val 12121"/>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Ladder who 0"/>
          <p:cNvSpPr txBox="1"/>
          <p:nvPr/>
        </p:nvSpPr>
        <p:spPr>
          <a:xfrm>
            <a:off x="731520" y="1609344"/>
            <a:ext cx="4434840" cy="566928"/>
          </a:xfrm>
          <a:prstGeom prst="rect">
            <a:avLst/>
          </a:prstGeom>
          <a:noFill/>
        </p:spPr>
        <p:txBody>
          <a:bodyPr wrap="square" anchor="ctr" lIns="0" tIns="0" rIns="0" bIns="0">
            <a:noAutofit/>
          </a:bodyPr>
          <a:lstStyle/>
          <a:p>
            <a:pPr algn="l">
              <a:lnSpc>
                <a:spcPct val="90000"/>
              </a:lnSpc>
            </a:pPr>
            <a:r>
              <a:rPr sz="1050" b="1" i="0" spc="120">
                <a:solidFill>
                  <a:srgbClr val="F6D3CC"/>
                </a:solidFill>
                <a:latin typeface="Arial" panose="020B0604020202020204" pitchFamily="34" charset="0"/>
              </a:rPr>
              <a:t>TIER 0  </a:t>
            </a:r>
            <a:r>
              <a:rPr sz="1900" b="1" i="0">
                <a:solidFill>
                  <a:srgbClr val="FFFFFF"/>
                </a:solidFill>
                <a:latin typeface="Arial Narrow" panose="020B0606020202030204" pitchFamily="34" charset="0"/>
              </a:rPr>
              <a:t>Ball tracking</a:t>
            </a:r>
          </a:p>
          <a:p>
            <a:pPr algn="l"/>
            <a:r>
              <a:rPr sz="1100" b="0" i="0">
                <a:solidFill>
                  <a:srgbClr val="F6D3CC"/>
                </a:solidFill>
                <a:latin typeface="Arial" panose="020B0604020202020204" pitchFamily="34" charset="0"/>
              </a:rPr>
              <a:t>our vision ~158 ms/call (laptop; no courtside camera)</a:t>
            </a:r>
          </a:p>
        </p:txBody>
      </p:sp>
      <p:sp>
        <p:nvSpPr>
          <p:cNvPr id="7" name="Ladder when 0"/>
          <p:cNvSpPr txBox="1"/>
          <p:nvPr/>
        </p:nvSpPr>
        <p:spPr>
          <a:xfrm>
            <a:off x="5074920" y="1609344"/>
            <a:ext cx="2578608" cy="566928"/>
          </a:xfrm>
          <a:prstGeom prst="rect">
            <a:avLst/>
          </a:prstGeom>
          <a:noFill/>
        </p:spPr>
        <p:txBody>
          <a:bodyPr wrap="square" anchor="ctr" lIns="0" tIns="0" rIns="0" bIns="0">
            <a:noAutofit/>
          </a:bodyPr>
          <a:lstStyle/>
          <a:p>
            <a:pPr algn="r">
              <a:lnSpc>
                <a:spcPct val="90000"/>
              </a:lnSpc>
            </a:pPr>
            <a:r>
              <a:rPr sz="1900" b="1" i="0">
                <a:solidFill>
                  <a:srgbClr val="FFFFFF"/>
                </a:solidFill>
                <a:latin typeface="Arial Narrow" panose="020B0606020202030204" pitchFamily="34" charset="0"/>
              </a:rPr>
              <a:t>before the bounce</a:t>
            </a:r>
          </a:p>
          <a:p>
            <a:pPr algn="r"/>
            <a:r>
              <a:rPr sz="1050" b="0" i="0">
                <a:solidFill>
                  <a:srgbClr val="F6D3CC"/>
                </a:solidFill>
                <a:latin typeface="Arial" panose="020B0604020202020204" pitchFamily="34" charset="0"/>
              </a:rPr>
              <a:t>±2.4 cm at 100 ms (simulated)</a:t>
            </a:r>
          </a:p>
        </p:txBody>
      </p:sp>
      <p:sp>
        <p:nvSpPr>
          <p:cNvPr id="8" name="Ladder rung 1"/>
          <p:cNvSpPr/>
          <p:nvPr/>
        </p:nvSpPr>
        <p:spPr>
          <a:xfrm>
            <a:off x="822959" y="2267712"/>
            <a:ext cx="6995160" cy="603504"/>
          </a:xfrm>
          <a:prstGeom prst="roundRect">
            <a:avLst>
              <a:gd name="adj" fmla="val 12121"/>
            </a:avLst>
          </a:prstGeom>
          <a:solidFill>
            <a:srgbClr val="0C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dder who 1"/>
          <p:cNvSpPr txBox="1"/>
          <p:nvPr/>
        </p:nvSpPr>
        <p:spPr>
          <a:xfrm>
            <a:off x="1005839" y="2286000"/>
            <a:ext cx="4160520" cy="566928"/>
          </a:xfrm>
          <a:prstGeom prst="rect">
            <a:avLst/>
          </a:prstGeom>
          <a:noFill/>
        </p:spPr>
        <p:txBody>
          <a:bodyPr wrap="square" anchor="ctr" lIns="0" tIns="0" rIns="0" bIns="0">
            <a:noAutofit/>
          </a:bodyPr>
          <a:lstStyle/>
          <a:p>
            <a:pPr algn="l">
              <a:lnSpc>
                <a:spcPct val="90000"/>
              </a:lnSpc>
            </a:pPr>
            <a:r>
              <a:rPr sz="1050" b="1" i="0" spc="120">
                <a:solidFill>
                  <a:srgbClr val="9FB3C8"/>
                </a:solidFill>
                <a:latin typeface="Arial" panose="020B0604020202020204" pitchFamily="34" charset="0"/>
              </a:rPr>
              <a:t>TIER 1  </a:t>
            </a:r>
            <a:r>
              <a:rPr sz="1900" b="1" i="0">
                <a:solidFill>
                  <a:srgbClr val="FFFFFF"/>
                </a:solidFill>
                <a:latin typeface="Arial Narrow" panose="020B0606020202030204" pitchFamily="34" charset="0"/>
              </a:rPr>
              <a:t>Chair umpire</a:t>
            </a:r>
          </a:p>
        </p:txBody>
      </p:sp>
      <p:sp>
        <p:nvSpPr>
          <p:cNvPr id="10" name="Ladder when 1"/>
          <p:cNvSpPr txBox="1"/>
          <p:nvPr/>
        </p:nvSpPr>
        <p:spPr>
          <a:xfrm>
            <a:off x="5074920" y="2286000"/>
            <a:ext cx="2578608" cy="566928"/>
          </a:xfrm>
          <a:prstGeom prst="rect">
            <a:avLst/>
          </a:prstGeom>
          <a:noFill/>
        </p:spPr>
        <p:txBody>
          <a:bodyPr wrap="square" anchor="ctr" lIns="0" tIns="0" rIns="0" bIns="0">
            <a:noAutofit/>
          </a:bodyPr>
          <a:lstStyle/>
          <a:p>
            <a:pPr algn="r">
              <a:lnSpc>
                <a:spcPct val="90000"/>
              </a:lnSpc>
            </a:pPr>
            <a:r>
              <a:rPr sz="1900" b="1" i="0">
                <a:solidFill>
                  <a:srgbClr val="FFFFFF"/>
                </a:solidFill>
                <a:latin typeface="Arial Narrow" panose="020B0606020202030204" pitchFamily="34" charset="0"/>
              </a:rPr>
              <a:t>at the bounce</a:t>
            </a:r>
          </a:p>
        </p:txBody>
      </p:sp>
      <p:sp>
        <p:nvSpPr>
          <p:cNvPr id="11" name="Ladder rung 2"/>
          <p:cNvSpPr/>
          <p:nvPr/>
        </p:nvSpPr>
        <p:spPr>
          <a:xfrm>
            <a:off x="1097280" y="2944368"/>
            <a:ext cx="6720840" cy="603504"/>
          </a:xfrm>
          <a:prstGeom prst="roundRect">
            <a:avLst>
              <a:gd name="adj" fmla="val 12121"/>
            </a:avLst>
          </a:prstGeom>
          <a:solidFill>
            <a:srgbClr val="2759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dder who 2"/>
          <p:cNvSpPr txBox="1"/>
          <p:nvPr/>
        </p:nvSpPr>
        <p:spPr>
          <a:xfrm>
            <a:off x="1280160" y="2962656"/>
            <a:ext cx="3886200" cy="566928"/>
          </a:xfrm>
          <a:prstGeom prst="rect">
            <a:avLst/>
          </a:prstGeom>
          <a:noFill/>
        </p:spPr>
        <p:txBody>
          <a:bodyPr wrap="square" anchor="ctr" lIns="0" tIns="0" rIns="0" bIns="0">
            <a:noAutofit/>
          </a:bodyPr>
          <a:lstStyle/>
          <a:p>
            <a:pPr algn="l">
              <a:lnSpc>
                <a:spcPct val="90000"/>
              </a:lnSpc>
            </a:pPr>
            <a:r>
              <a:rPr sz="1050" b="1" i="0" spc="120">
                <a:solidFill>
                  <a:srgbClr val="C9D9EA"/>
                </a:solidFill>
                <a:latin typeface="Arial" panose="020B0604020202020204" pitchFamily="34" charset="0"/>
              </a:rPr>
              <a:t>TIER 2  </a:t>
            </a:r>
            <a:r>
              <a:rPr sz="1900" b="1" i="0">
                <a:solidFill>
                  <a:srgbClr val="FFFFFF"/>
                </a:solidFill>
                <a:latin typeface="Arial Narrow" panose="020B0606020202030204" pitchFamily="34" charset="0"/>
              </a:rPr>
              <a:t>Market makers</a:t>
            </a:r>
          </a:p>
          <a:p>
            <a:pPr algn="l"/>
            <a:r>
              <a:rPr sz="1100" b="0" i="0">
                <a:solidFill>
                  <a:srgbClr val="C9D9EA"/>
                </a:solidFill>
                <a:latin typeface="Arial" panose="020B0604020202020204" pitchFamily="34" charset="0"/>
              </a:rPr>
              <a:t>the book reprices</a:t>
            </a:r>
          </a:p>
        </p:txBody>
      </p:sp>
      <p:sp>
        <p:nvSpPr>
          <p:cNvPr id="13" name="Ladder when 2"/>
          <p:cNvSpPr txBox="1"/>
          <p:nvPr/>
        </p:nvSpPr>
        <p:spPr>
          <a:xfrm>
            <a:off x="5074920" y="2962656"/>
            <a:ext cx="2578608" cy="566928"/>
          </a:xfrm>
          <a:prstGeom prst="rect">
            <a:avLst/>
          </a:prstGeom>
          <a:noFill/>
        </p:spPr>
        <p:txBody>
          <a:bodyPr wrap="square" anchor="ctr" lIns="0" tIns="0" rIns="0" bIns="0">
            <a:noAutofit/>
          </a:bodyPr>
          <a:lstStyle/>
          <a:p>
            <a:pPr algn="r">
              <a:lnSpc>
                <a:spcPct val="90000"/>
              </a:lnSpc>
            </a:pPr>
            <a:r>
              <a:rPr sz="1900" b="1" i="0">
                <a:solidFill>
                  <a:srgbClr val="FFFFFF"/>
                </a:solidFill>
                <a:latin typeface="Arial Narrow" panose="020B0606020202030204" pitchFamily="34" charset="0"/>
              </a:rPr>
              <a:t>−1.32 s</a:t>
            </a:r>
          </a:p>
          <a:p>
            <a:pPr algn="r"/>
            <a:r>
              <a:rPr sz="1050" b="0" i="0">
                <a:solidFill>
                  <a:srgbClr val="C9D9EA"/>
                </a:solidFill>
                <a:latin typeface="Arial" panose="020B0604020202020204" pitchFamily="34" charset="0"/>
              </a:rPr>
              <a:t>vs the official stamp (median)</a:t>
            </a:r>
          </a:p>
        </p:txBody>
      </p:sp>
      <p:sp>
        <p:nvSpPr>
          <p:cNvPr id="14" name="Ladder rung 3"/>
          <p:cNvSpPr/>
          <p:nvPr/>
        </p:nvSpPr>
        <p:spPr>
          <a:xfrm>
            <a:off x="1371600" y="3621024"/>
            <a:ext cx="6446520" cy="603504"/>
          </a:xfrm>
          <a:prstGeom prst="roundRect">
            <a:avLst>
              <a:gd name="adj" fmla="val 12121"/>
            </a:avLst>
          </a:prstGeom>
          <a:solidFill>
            <a:srgbClr val="3F6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dder who 3"/>
          <p:cNvSpPr txBox="1"/>
          <p:nvPr/>
        </p:nvSpPr>
        <p:spPr>
          <a:xfrm>
            <a:off x="1554480" y="3639312"/>
            <a:ext cx="3611880" cy="566928"/>
          </a:xfrm>
          <a:prstGeom prst="rect">
            <a:avLst/>
          </a:prstGeom>
          <a:noFill/>
        </p:spPr>
        <p:txBody>
          <a:bodyPr wrap="square" anchor="ctr" lIns="0" tIns="0" rIns="0" bIns="0">
            <a:noAutofit/>
          </a:bodyPr>
          <a:lstStyle/>
          <a:p>
            <a:pPr algn="l">
              <a:lnSpc>
                <a:spcPct val="90000"/>
              </a:lnSpc>
            </a:pPr>
            <a:r>
              <a:rPr sz="1050" b="1" i="0" spc="120">
                <a:solidFill>
                  <a:srgbClr val="C9D9EA"/>
                </a:solidFill>
                <a:latin typeface="Arial" panose="020B0604020202020204" pitchFamily="34" charset="0"/>
              </a:rPr>
              <a:t>TIER 3  </a:t>
            </a:r>
            <a:r>
              <a:rPr sz="1900" b="1" i="0">
                <a:solidFill>
                  <a:srgbClr val="FFFFFF"/>
                </a:solidFill>
                <a:latin typeface="Arial Narrow" panose="020B0606020202030204" pitchFamily="34" charset="0"/>
              </a:rPr>
              <a:t>Official feed</a:t>
            </a:r>
          </a:p>
          <a:p>
            <a:pPr algn="l"/>
            <a:r>
              <a:rPr sz="1100" b="0" i="0">
                <a:solidFill>
                  <a:srgbClr val="C9D9EA"/>
                </a:solidFill>
                <a:latin typeface="Arial" panose="020B0604020202020204" pitchFamily="34" charset="0"/>
              </a:rPr>
              <a:t>umpire-entered point stamp</a:t>
            </a:r>
          </a:p>
        </p:txBody>
      </p:sp>
      <p:sp>
        <p:nvSpPr>
          <p:cNvPr id="16" name="Ladder when 3"/>
          <p:cNvSpPr txBox="1"/>
          <p:nvPr/>
        </p:nvSpPr>
        <p:spPr>
          <a:xfrm>
            <a:off x="5074920" y="3639312"/>
            <a:ext cx="2578608" cy="566928"/>
          </a:xfrm>
          <a:prstGeom prst="rect">
            <a:avLst/>
          </a:prstGeom>
          <a:noFill/>
        </p:spPr>
        <p:txBody>
          <a:bodyPr wrap="square" anchor="ctr" lIns="0" tIns="0" rIns="0" bIns="0">
            <a:noAutofit/>
          </a:bodyPr>
          <a:lstStyle/>
          <a:p>
            <a:pPr algn="r">
              <a:lnSpc>
                <a:spcPct val="90000"/>
              </a:lnSpc>
            </a:pPr>
            <a:r>
              <a:rPr sz="1900" b="1" i="0">
                <a:solidFill>
                  <a:srgbClr val="FFFFFF"/>
                </a:solidFill>
                <a:latin typeface="Arial Narrow" panose="020B0606020202030204" pitchFamily="34" charset="0"/>
              </a:rPr>
              <a:t>reference</a:t>
            </a:r>
          </a:p>
          <a:p>
            <a:pPr algn="r"/>
            <a:r>
              <a:rPr sz="1050" b="0" i="0">
                <a:solidFill>
                  <a:srgbClr val="C9D9EA"/>
                </a:solidFill>
                <a:latin typeface="Arial" panose="020B0604020202020204" pitchFamily="34" charset="0"/>
              </a:rPr>
              <a:t>1–3 s after the bounce, unmeasured (post hoc inference ≈3.1 s)</a:t>
            </a:r>
          </a:p>
        </p:txBody>
      </p:sp>
      <p:sp>
        <p:nvSpPr>
          <p:cNvPr id="17" name="Ladder rung 4"/>
          <p:cNvSpPr/>
          <p:nvPr/>
        </p:nvSpPr>
        <p:spPr>
          <a:xfrm>
            <a:off x="1645919" y="4297680"/>
            <a:ext cx="6172200" cy="603504"/>
          </a:xfrm>
          <a:prstGeom prst="roundRect">
            <a:avLst>
              <a:gd name="adj" fmla="val 12121"/>
            </a:avLst>
          </a:prstGeom>
          <a:solidFill>
            <a:srgbClr val="C9D5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dder who 4"/>
          <p:cNvSpPr txBox="1"/>
          <p:nvPr/>
        </p:nvSpPr>
        <p:spPr>
          <a:xfrm>
            <a:off x="1828799" y="4315968"/>
            <a:ext cx="3337560" cy="566928"/>
          </a:xfrm>
          <a:prstGeom prst="rect">
            <a:avLst/>
          </a:prstGeom>
          <a:noFill/>
        </p:spPr>
        <p:txBody>
          <a:bodyPr wrap="square" anchor="ctr" lIns="0" tIns="0" rIns="0" bIns="0">
            <a:noAutofit/>
          </a:bodyPr>
          <a:lstStyle/>
          <a:p>
            <a:pPr algn="l">
              <a:lnSpc>
                <a:spcPct val="90000"/>
              </a:lnSpc>
            </a:pPr>
            <a:r>
              <a:rPr sz="1050" b="1" i="0" spc="120">
                <a:solidFill>
                  <a:srgbClr val="566676"/>
                </a:solidFill>
                <a:latin typeface="Arial" panose="020B0604020202020204" pitchFamily="34" charset="0"/>
              </a:rPr>
              <a:t>TIER 4  </a:t>
            </a:r>
            <a:r>
              <a:rPr sz="1900" b="1" i="0">
                <a:solidFill>
                  <a:srgbClr val="0C1A28"/>
                </a:solidFill>
                <a:latin typeface="Arial Narrow" panose="020B0606020202030204" pitchFamily="34" charset="0"/>
              </a:rPr>
              <a:t>TV and public scores</a:t>
            </a:r>
          </a:p>
          <a:p>
            <a:pPr algn="l"/>
            <a:r>
              <a:rPr sz="1100" b="0" i="0">
                <a:solidFill>
                  <a:srgbClr val="566676"/>
                </a:solidFill>
                <a:latin typeface="Arial" panose="020B0604020202020204" pitchFamily="34" charset="0"/>
              </a:rPr>
              <a:t>book first on 93% of 75 points, median 44.5 s</a:t>
            </a:r>
          </a:p>
        </p:txBody>
      </p:sp>
      <p:sp>
        <p:nvSpPr>
          <p:cNvPr id="19" name="Ladder when 4"/>
          <p:cNvSpPr txBox="1"/>
          <p:nvPr/>
        </p:nvSpPr>
        <p:spPr>
          <a:xfrm>
            <a:off x="5074920" y="4315968"/>
            <a:ext cx="2578608" cy="566928"/>
          </a:xfrm>
          <a:prstGeom prst="rect">
            <a:avLst/>
          </a:prstGeom>
          <a:noFill/>
        </p:spPr>
        <p:txBody>
          <a:bodyPr wrap="square" anchor="ctr" lIns="0" tIns="0" rIns="0" bIns="0">
            <a:noAutofit/>
          </a:bodyPr>
          <a:lstStyle/>
          <a:p>
            <a:pPr algn="r">
              <a:lnSpc>
                <a:spcPct val="90000"/>
              </a:lnSpc>
            </a:pPr>
            <a:r>
              <a:rPr sz="1900" b="1" i="0">
                <a:solidFill>
                  <a:srgbClr val="0C1A28"/>
                </a:solidFill>
                <a:latin typeface="Arial Narrow" panose="020B0606020202030204" pitchFamily="34" charset="0"/>
              </a:rPr>
              <a:t>+28.2 s</a:t>
            </a:r>
          </a:p>
          <a:p>
            <a:pPr algn="r"/>
            <a:r>
              <a:rPr sz="1050" b="0" i="0">
                <a:solidFill>
                  <a:srgbClr val="566676"/>
                </a:solidFill>
                <a:latin typeface="Arial" panose="020B0604020202020204" pitchFamily="34" charset="0"/>
              </a:rPr>
              <a:t>ESPN behind the book</a:t>
            </a:r>
          </a:p>
        </p:txBody>
      </p:sp>
      <p:sp>
        <p:nvSpPr>
          <p:cNvPr id="20" name="Ladder rung 5"/>
          <p:cNvSpPr/>
          <p:nvPr/>
        </p:nvSpPr>
        <p:spPr>
          <a:xfrm>
            <a:off x="1920240" y="4974336"/>
            <a:ext cx="5897880" cy="603504"/>
          </a:xfrm>
          <a:prstGeom prst="roundRect">
            <a:avLst>
              <a:gd name="adj" fmla="val 12121"/>
            </a:avLst>
          </a:prstGeom>
          <a:solidFill>
            <a:srgbClr val="E4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dder who 5"/>
          <p:cNvSpPr txBox="1"/>
          <p:nvPr/>
        </p:nvSpPr>
        <p:spPr>
          <a:xfrm>
            <a:off x="2103120" y="4992624"/>
            <a:ext cx="3063240" cy="566928"/>
          </a:xfrm>
          <a:prstGeom prst="rect">
            <a:avLst/>
          </a:prstGeom>
          <a:noFill/>
        </p:spPr>
        <p:txBody>
          <a:bodyPr wrap="square" anchor="ctr" lIns="0" tIns="0" rIns="0" bIns="0">
            <a:noAutofit/>
          </a:bodyPr>
          <a:lstStyle/>
          <a:p>
            <a:pPr algn="l">
              <a:lnSpc>
                <a:spcPct val="90000"/>
              </a:lnSpc>
            </a:pPr>
            <a:r>
              <a:rPr sz="1050" b="1" i="0" spc="120">
                <a:solidFill>
                  <a:srgbClr val="566676"/>
                </a:solidFill>
                <a:latin typeface="Arial" panose="020B0604020202020204" pitchFamily="34" charset="0"/>
              </a:rPr>
              <a:t>TIER 5  </a:t>
            </a:r>
            <a:r>
              <a:rPr sz="1900" b="1" i="0">
                <a:solidFill>
                  <a:srgbClr val="0C1A28"/>
                </a:solidFill>
                <a:latin typeface="Arial Narrow" panose="020B0606020202030204" pitchFamily="34" charset="0"/>
              </a:rPr>
              <a:t>Streams</a:t>
            </a:r>
          </a:p>
          <a:p>
            <a:pPr algn="l"/>
            <a:r>
              <a:rPr sz="1100" b="0" i="0">
                <a:solidFill>
                  <a:srgbClr val="566676"/>
                </a:solidFill>
                <a:latin typeface="Arial" panose="020B0604020202020204" pitchFamily="34" charset="0"/>
              </a:rPr>
              <a:t>the slowest money</a:t>
            </a:r>
          </a:p>
        </p:txBody>
      </p:sp>
      <p:sp>
        <p:nvSpPr>
          <p:cNvPr id="22" name="Ladder when 5"/>
          <p:cNvSpPr txBox="1"/>
          <p:nvPr/>
        </p:nvSpPr>
        <p:spPr>
          <a:xfrm>
            <a:off x="5074920" y="4992624"/>
            <a:ext cx="2578608" cy="566928"/>
          </a:xfrm>
          <a:prstGeom prst="rect">
            <a:avLst/>
          </a:prstGeom>
          <a:noFill/>
        </p:spPr>
        <p:txBody>
          <a:bodyPr wrap="square" anchor="ctr" lIns="0" tIns="0" rIns="0" bIns="0">
            <a:noAutofit/>
          </a:bodyPr>
          <a:lstStyle/>
          <a:p>
            <a:pPr algn="r">
              <a:lnSpc>
                <a:spcPct val="90000"/>
              </a:lnSpc>
            </a:pPr>
            <a:r>
              <a:rPr sz="1900" b="1" i="0">
                <a:solidFill>
                  <a:srgbClr val="0C1A28"/>
                </a:solidFill>
                <a:latin typeface="Arial Narrow" panose="020B0606020202030204" pitchFamily="34" charset="0"/>
              </a:rPr>
              <a:t>+5–30 s</a:t>
            </a:r>
          </a:p>
          <a:p>
            <a:pPr algn="r"/>
            <a:r>
              <a:rPr sz="1050" b="0" i="0">
                <a:solidFill>
                  <a:srgbClr val="566676"/>
                </a:solidFill>
                <a:latin typeface="Arial" panose="020B0604020202020204" pitchFamily="34" charset="0"/>
              </a:rPr>
              <a:t>assumed, not measured</a:t>
            </a:r>
          </a:p>
        </p:txBody>
      </p:sp>
      <p:sp>
        <p:nvSpPr>
          <p:cNvPr id="23" name="Ladder source"/>
          <p:cNvSpPr txBox="1"/>
          <p:nvPr/>
        </p:nvSpPr>
        <p:spPr>
          <a:xfrm>
            <a:off x="548640" y="5715000"/>
            <a:ext cx="7269480" cy="640080"/>
          </a:xfrm>
          <a:prstGeom prst="rect">
            <a:avLst/>
          </a:prstGeom>
          <a:noFill/>
        </p:spPr>
        <p:txBody>
          <a:bodyPr wrap="square" anchor="t" lIns="0" tIns="0" rIns="0" bIns="0">
            <a:noAutofit/>
          </a:bodyPr>
          <a:lstStyle/>
          <a:p>
            <a:pPr algn="l"/>
            <a:r>
              <a:rPr sz="1050" b="0" i="0">
                <a:solidFill>
                  <a:srgbClr val="566676"/>
                </a:solidFill>
                <a:latin typeface="Arial" panose="020B0604020202020204" pitchFamily="34" charset="0"/>
              </a:rPr>
              <a:t>Tier 0: physics simulation of Hawk-Eye-class tracking. Tiers 2–4: live books vs the WTA's public point log, read after the fact (stamp-to-bounce lag is unmeasured; the post hoc inference assumes courtside humans). Streams: assumption.</a:t>
            </a:r>
          </a:p>
        </p:txBody>
      </p:sp>
      <p:sp>
        <p:nvSpPr>
          <p:cNvPr id="24" name="Label: WHO PAYS WHOM"/>
          <p:cNvSpPr txBox="1"/>
          <p:nvPr/>
        </p:nvSpPr>
        <p:spPr>
          <a:xfrm>
            <a:off x="8275320" y="1591056"/>
            <a:ext cx="3367735" cy="274320"/>
          </a:xfrm>
          <a:prstGeom prst="rect">
            <a:avLst/>
          </a:prstGeom>
          <a:noFill/>
        </p:spPr>
        <p:txBody>
          <a:bodyPr wrap="square" anchor="ctr" lIns="0" tIns="0" rIns="0" bIns="0">
            <a:noAutofit/>
          </a:bodyPr>
          <a:lstStyle/>
          <a:p>
            <a:pPr algn="l"/>
            <a:r>
              <a:rPr sz="1200" b="1" i="0" spc="140">
                <a:solidFill>
                  <a:srgbClr val="27598B"/>
                </a:solidFill>
                <a:latin typeface="Arial" panose="020B0604020202020204" pitchFamily="34" charset="0"/>
              </a:rPr>
              <a:t>WHO PAYS WHOM</a:t>
            </a:r>
          </a:p>
        </p:txBody>
      </p:sp>
      <p:sp>
        <p:nvSpPr>
          <p:cNvPr id="25" name="Leverage value"/>
          <p:cNvSpPr txBox="1"/>
          <p:nvPr/>
        </p:nvSpPr>
        <p:spPr>
          <a:xfrm>
            <a:off x="8275320" y="1783080"/>
            <a:ext cx="3367735" cy="777240"/>
          </a:xfrm>
          <a:prstGeom prst="rect">
            <a:avLst/>
          </a:prstGeom>
          <a:noFill/>
        </p:spPr>
        <p:txBody>
          <a:bodyPr wrap="square" anchor="b" lIns="0" tIns="0" rIns="0" bIns="0">
            <a:noAutofit/>
          </a:bodyPr>
          <a:lstStyle/>
          <a:p>
            <a:pPr algn="l"/>
            <a:r>
              <a:rPr sz="5000" b="1" i="0">
                <a:solidFill>
                  <a:srgbClr val="27598B"/>
                </a:solidFill>
                <a:latin typeface="Arial Narrow" panose="020B0606020202030204" pitchFamily="34" charset="0"/>
              </a:rPr>
              <a:t>$4.2</a:t>
            </a:r>
          </a:p>
        </p:txBody>
      </p:sp>
      <p:sp>
        <p:nvSpPr>
          <p:cNvPr id="26" name="Leverage caption"/>
          <p:cNvSpPr txBox="1"/>
          <p:nvPr/>
        </p:nvSpPr>
        <p:spPr>
          <a:xfrm>
            <a:off x="8275320" y="2578608"/>
            <a:ext cx="3367735" cy="685800"/>
          </a:xfrm>
          <a:prstGeom prst="rect">
            <a:avLst/>
          </a:prstGeom>
          <a:noFill/>
        </p:spPr>
        <p:txBody>
          <a:bodyPr wrap="square" anchor="t" lIns="0" tIns="0" rIns="0" bIns="0">
            <a:noAutofit/>
          </a:bodyPr>
          <a:lstStyle/>
          <a:p>
            <a:pPr algn="l"/>
            <a:r>
              <a:rPr sz="1300" b="0" i="0">
                <a:solidFill>
                  <a:srgbClr val="0C1A28"/>
                </a:solidFill>
                <a:latin typeface="Arial" panose="020B0604020202020204" pitchFamily="34" charset="0"/>
              </a:rPr>
              <a:t>total |fair-value move| per $1 share over a simulated ATP best-of-3 (161 points): 2.6¢ realised move per point on average (5.7¢ swing between winning and losing it)</a:t>
            </a:r>
          </a:p>
        </p:txBody>
      </p:sp>
      <p:sp>
        <p:nvSpPr>
          <p:cNvPr id="27" name="Venue value"/>
          <p:cNvSpPr txBox="1"/>
          <p:nvPr/>
        </p:nvSpPr>
        <p:spPr>
          <a:xfrm>
            <a:off x="8275320" y="3310128"/>
            <a:ext cx="3367735" cy="777240"/>
          </a:xfrm>
          <a:prstGeom prst="rect">
            <a:avLst/>
          </a:prstGeom>
          <a:noFill/>
        </p:spPr>
        <p:txBody>
          <a:bodyPr wrap="square" anchor="b" lIns="0" tIns="0" rIns="0" bIns="0">
            <a:noAutofit/>
          </a:bodyPr>
          <a:lstStyle/>
          <a:p>
            <a:pPr algn="l"/>
            <a:r>
              <a:rPr sz="5000" b="1" i="0">
                <a:solidFill>
                  <a:srgbClr val="D1432F"/>
                </a:solidFill>
                <a:latin typeface="Arial Narrow" panose="020B0606020202030204" pitchFamily="34" charset="0"/>
              </a:rPr>
              <a:t>1 s · 5%</a:t>
            </a:r>
          </a:p>
        </p:txBody>
      </p:sp>
      <p:sp>
        <p:nvSpPr>
          <p:cNvPr id="28" name="Venue caption"/>
          <p:cNvSpPr txBox="1"/>
          <p:nvPr/>
        </p:nvSpPr>
        <p:spPr>
          <a:xfrm>
            <a:off x="8275320" y="4105655"/>
            <a:ext cx="3367735" cy="685800"/>
          </a:xfrm>
          <a:prstGeom prst="rect">
            <a:avLst/>
          </a:prstGeom>
          <a:noFill/>
        </p:spPr>
        <p:txBody>
          <a:bodyPr wrap="square" anchor="t" lIns="0" tIns="0" rIns="0" bIns="0">
            <a:noAutofit/>
          </a:bodyPr>
          <a:lstStyle/>
          <a:p>
            <a:pPr algn="l"/>
            <a:r>
              <a:rPr sz="1300" b="0" i="0">
                <a:solidFill>
                  <a:srgbClr val="0C1A28"/>
                </a:solidFill>
                <a:latin typeface="Arial" panose="020B0604020202020204" pitchFamily="34" charset="0"/>
              </a:rPr>
              <a:t>Polymarket's order delay on every marketable sports order (so makers can reprice) and its taker fee rate, × p(1−p)</a:t>
            </a:r>
          </a:p>
        </p:txBody>
      </p:sp>
      <p:sp>
        <p:nvSpPr>
          <p:cNvPr id="29" name="Takeaway panel"/>
          <p:cNvSpPr/>
          <p:nvPr/>
        </p:nvSpPr>
        <p:spPr>
          <a:xfrm>
            <a:off x="8275320" y="4846320"/>
            <a:ext cx="3367735" cy="868680"/>
          </a:xfrm>
          <a:prstGeom prst="roundRect">
            <a:avLst>
              <a:gd name="adj" fmla="val 10526"/>
            </a:avLst>
          </a:prstGeom>
          <a:solidFill>
            <a:srgbClr val="0C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akeaway"/>
          <p:cNvSpPr txBox="1"/>
          <p:nvPr/>
        </p:nvSpPr>
        <p:spPr>
          <a:xfrm>
            <a:off x="8476488" y="4846320"/>
            <a:ext cx="2965399" cy="868680"/>
          </a:xfrm>
          <a:prstGeom prst="rect">
            <a:avLst/>
          </a:prstGeom>
          <a:noFill/>
        </p:spPr>
        <p:txBody>
          <a:bodyPr wrap="square" anchor="ctr" lIns="0" tIns="0" rIns="0" bIns="0">
            <a:noAutofit/>
          </a:bodyPr>
          <a:lstStyle/>
          <a:p>
            <a:pPr algn="l"/>
            <a:r>
              <a:rPr sz="1900" b="1" i="0">
                <a:solidFill>
                  <a:srgbClr val="FFFFFF"/>
                </a:solidFill>
                <a:latin typeface="Arial Narrow" panose="020B0606020202030204" pitchFamily="34" charset="0"/>
              </a:rPr>
              <a:t>The gaps are physical, so they persist.</a:t>
            </a:r>
          </a:p>
        </p:txBody>
      </p:sp>
      <p:sp>
        <p:nvSpPr>
          <p:cNvPr id="31"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32"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2</a:t>
            </a:fld>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600" b="1" i="0">
                <a:solidFill>
                  <a:srgbClr val="0C1A28"/>
                </a:solidFill>
                <a:latin typeface="Arial Narrow" panose="020B0606020202030204" pitchFamily="34" charset="0"/>
              </a:rPr>
              <a:t>The fast tier wins every month. 3 s later loses</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02  ·  EVIDENCE</a:t>
            </a:r>
          </a:p>
        </p:txBody>
      </p:sp>
      <p:sp>
        <p:nvSpPr>
          <p:cNvPr id="5" name="Label: 30 S NET ¢/SHARE BY MONT"/>
          <p:cNvSpPr txBox="1"/>
          <p:nvPr/>
        </p:nvSpPr>
        <p:spPr>
          <a:xfrm>
            <a:off x="548640" y="1572768"/>
            <a:ext cx="7086600" cy="274320"/>
          </a:xfrm>
          <a:prstGeom prst="rect">
            <a:avLst/>
          </a:prstGeom>
          <a:noFill/>
        </p:spPr>
        <p:txBody>
          <a:bodyPr wrap="square" anchor="ctr" lIns="0" tIns="0" rIns="0" bIns="0">
            <a:noAutofit/>
          </a:bodyPr>
          <a:lstStyle/>
          <a:p>
            <a:pPr algn="l"/>
            <a:r>
              <a:rPr sz="1200" b="1" i="0" spc="140">
                <a:solidFill>
                  <a:srgbClr val="27598B"/>
                </a:solidFill>
                <a:latin typeface="Arial" panose="020B0604020202020204" pitchFamily="34" charset="0"/>
              </a:rPr>
              <a:t>30 S NET ¢/SHARE BY MONTH, WALK-FORWARD (PALE = OUT OF SAMPLE)</a:t>
            </a:r>
          </a:p>
        </p:txBody>
      </p:sp>
      <p:graphicFrame>
        <p:nvGraphicFramePr>
          <p:cNvPr id="6" name="Chart: walk-forward months"/>
          <p:cNvGraphicFramePr>
            <a:graphicFrameLocks noGrp="1"/>
          </p:cNvGraphicFramePr>
          <p:nvPr/>
        </p:nvGraphicFramePr>
        <p:xfrm>
          <a:off x="502919" y="1847088"/>
          <a:ext cx="7086600" cy="3246120"/>
        </p:xfrm>
        <a:graphic>
          <a:graphicData uri="http://schemas.openxmlformats.org/drawingml/2006/chart">
            <c:chart xmlns:c="http://schemas.openxmlformats.org/drawingml/2006/chart" r:id="rId2"/>
          </a:graphicData>
        </a:graphic>
      </p:graphicFrame>
      <p:sp>
        <p:nvSpPr>
          <p:cNvPr id="7" name="Chart caption"/>
          <p:cNvSpPr txBox="1"/>
          <p:nvPr/>
        </p:nvSpPr>
        <p:spPr>
          <a:xfrm>
            <a:off x="548640" y="5120640"/>
            <a:ext cx="7086600" cy="411480"/>
          </a:xfrm>
          <a:prstGeom prst="rect">
            <a:avLst/>
          </a:prstGeom>
          <a:noFill/>
        </p:spPr>
        <p:txBody>
          <a:bodyPr wrap="square" anchor="t" lIns="0" tIns="0" rIns="0" bIns="0">
            <a:noAutofit/>
          </a:bodyPr>
          <a:lstStyle/>
          <a:p>
            <a:pPr algn="l"/>
            <a:r>
              <a:rPr sz="1050" b="0" i="0">
                <a:solidFill>
                  <a:srgbClr val="566676"/>
                </a:solidFill>
                <a:latin typeface="Arial" panose="020B0604020202020204" pitchFamily="34" charset="0"/>
              </a:rPr>
              <a:t>30 s markout per taker print, net of its fee. Wallets picked each month from earlier months only. Onset-aligned event study; tradable numbers (slide 5) use the causal window.</a:t>
            </a:r>
          </a:p>
        </p:txBody>
      </p:sp>
      <p:sp>
        <p:nvSpPr>
          <p:cNvPr id="8" name="Months value"/>
          <p:cNvSpPr txBox="1"/>
          <p:nvPr/>
        </p:nvSpPr>
        <p:spPr>
          <a:xfrm>
            <a:off x="7955279" y="1481328"/>
            <a:ext cx="3687775" cy="841248"/>
          </a:xfrm>
          <a:prstGeom prst="rect">
            <a:avLst/>
          </a:prstGeom>
          <a:noFill/>
        </p:spPr>
        <p:txBody>
          <a:bodyPr wrap="square" anchor="b" lIns="0" tIns="0" rIns="0" bIns="0">
            <a:noAutofit/>
          </a:bodyPr>
          <a:lstStyle/>
          <a:p>
            <a:pPr algn="l"/>
            <a:r>
              <a:rPr sz="5400" b="1" i="0">
                <a:solidFill>
                  <a:srgbClr val="27598B"/>
                </a:solidFill>
                <a:latin typeface="Arial Narrow" panose="020B0606020202030204" pitchFamily="34" charset="0"/>
              </a:rPr>
              <a:t>11/11</a:t>
            </a:r>
          </a:p>
        </p:txBody>
      </p:sp>
      <p:sp>
        <p:nvSpPr>
          <p:cNvPr id="9" name="Months caption"/>
          <p:cNvSpPr txBox="1"/>
          <p:nvPr/>
        </p:nvSpPr>
        <p:spPr>
          <a:xfrm>
            <a:off x="7955279" y="2340864"/>
            <a:ext cx="3687775" cy="914400"/>
          </a:xfrm>
          <a:prstGeom prst="rect">
            <a:avLst/>
          </a:prstGeom>
          <a:noFill/>
        </p:spPr>
        <p:txBody>
          <a:bodyPr wrap="square" anchor="t" lIns="0" tIns="0" rIns="0" bIns="0">
            <a:noAutofit/>
          </a:bodyPr>
          <a:lstStyle/>
          <a:p>
            <a:pPr algn="l"/>
            <a:r>
              <a:rPr sz="1300" b="0" i="0">
                <a:solidFill>
                  <a:srgbClr val="0C1A28"/>
                </a:solidFill>
                <a:latin typeface="Arial" panose="020B0604020202020204" pitchFamily="34" charset="0"/>
              </a:rPr>
              <a:t>months the fast tier made money: 8 in sample + 3/3 out of sample. H6 came after the in-sample wallet study, so only the out-of-sample months test it</a:t>
            </a:r>
          </a:p>
        </p:txBody>
      </p:sp>
      <p:sp>
        <p:nvSpPr>
          <p:cNvPr id="10" name="Copy value"/>
          <p:cNvSpPr txBox="1"/>
          <p:nvPr/>
        </p:nvSpPr>
        <p:spPr>
          <a:xfrm>
            <a:off x="7955279" y="3291840"/>
            <a:ext cx="3687775" cy="841248"/>
          </a:xfrm>
          <a:prstGeom prst="rect">
            <a:avLst/>
          </a:prstGeom>
          <a:noFill/>
        </p:spPr>
        <p:txBody>
          <a:bodyPr wrap="square" anchor="b" lIns="0" tIns="0" rIns="0" bIns="0">
            <a:noAutofit/>
          </a:bodyPr>
          <a:lstStyle/>
          <a:p>
            <a:pPr algn="l"/>
            <a:r>
              <a:rPr sz="5400" b="1" i="0">
                <a:solidFill>
                  <a:srgbClr val="D1432F"/>
                </a:solidFill>
                <a:latin typeface="Arial Narrow" panose="020B0606020202030204" pitchFamily="34" charset="0"/>
              </a:rPr>
              <a:t>11/11</a:t>
            </a:r>
          </a:p>
        </p:txBody>
      </p:sp>
      <p:sp>
        <p:nvSpPr>
          <p:cNvPr id="11" name="Copy caption"/>
          <p:cNvSpPr txBox="1"/>
          <p:nvPr/>
        </p:nvSpPr>
        <p:spPr>
          <a:xfrm>
            <a:off x="7955279" y="4151376"/>
            <a:ext cx="3687775" cy="566928"/>
          </a:xfrm>
          <a:prstGeom prst="rect">
            <a:avLst/>
          </a:prstGeom>
          <a:noFill/>
        </p:spPr>
        <p:txBody>
          <a:bodyPr wrap="square" anchor="t" lIns="0" tIns="0" rIns="0" bIns="0">
            <a:noAutofit/>
          </a:bodyPr>
          <a:lstStyle/>
          <a:p>
            <a:pPr algn="l"/>
            <a:r>
              <a:rPr sz="1300" b="0" i="0">
                <a:solidFill>
                  <a:srgbClr val="0C1A28"/>
                </a:solidFill>
                <a:latin typeface="Arial" panose="020B0604020202020204" pitchFamily="34" charset="0"/>
              </a:rPr>
              <a:t>months copying their exact trades ~3 s later lost money (everyone else in the window: 11/11 negative)</a:t>
            </a:r>
          </a:p>
        </p:txBody>
      </p:sp>
      <p:sp>
        <p:nvSpPr>
          <p:cNvPr id="12" name="U2 gap"/>
          <p:cNvSpPr txBox="1"/>
          <p:nvPr/>
        </p:nvSpPr>
        <p:spPr>
          <a:xfrm>
            <a:off x="7955279" y="4800600"/>
            <a:ext cx="3687775" cy="731520"/>
          </a:xfrm>
          <a:prstGeom prst="rect">
            <a:avLst/>
          </a:prstGeom>
          <a:noFill/>
        </p:spPr>
        <p:txBody>
          <a:bodyPr wrap="square" anchor="t" lIns="0" tIns="0" rIns="0" bIns="0">
            <a:noAutofit/>
          </a:bodyPr>
          <a:lstStyle/>
          <a:p>
            <a:pPr algn="l"/>
            <a:r>
              <a:rPr sz="1050" b="1" i="0" spc="120">
                <a:solidFill>
                  <a:srgbClr val="27598B"/>
                </a:solidFill>
                <a:latin typeface="Arial" panose="020B0604020202020204" pitchFamily="34" charset="0"/>
              </a:rPr>
              <a:t>BLIND, ON UNSEEN MARKETS</a:t>
            </a:r>
          </a:p>
          <a:p>
            <a:pPr algn="l"/>
            <a:r>
              <a:rPr sz="1200" b="0" i="0">
                <a:solidFill>
                  <a:srgbClr val="0C1A28"/>
                </a:solidFill>
                <a:latin typeface="Arial" panose="020B0604020202020204" pitchFamily="34" charset="0"/>
              </a:rPr>
              <a:t>Fast tier minus everyone else on 11,307 never-examined markets: +3.09¢ in sample, +2.16¢ [1.79, 2.53] out of sample.</a:t>
            </a:r>
          </a:p>
        </p:txBody>
      </p:sp>
      <p:sp>
        <p:nvSpPr>
          <p:cNvPr id="13" name="Takeaway panel"/>
          <p:cNvSpPr/>
          <p:nvPr/>
        </p:nvSpPr>
        <p:spPr>
          <a:xfrm>
            <a:off x="548640" y="5623560"/>
            <a:ext cx="11094415" cy="713232"/>
          </a:xfrm>
          <a:prstGeom prst="roundRect">
            <a:avLst>
              <a:gd name="adj" fmla="val 12820"/>
            </a:avLst>
          </a:prstGeom>
          <a:solidFill>
            <a:srgbClr val="0C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akeaway"/>
          <p:cNvSpPr txBox="1"/>
          <p:nvPr/>
        </p:nvSpPr>
        <p:spPr>
          <a:xfrm>
            <a:off x="822959" y="5623560"/>
            <a:ext cx="10545775" cy="713232"/>
          </a:xfrm>
          <a:prstGeom prst="rect">
            <a:avLst/>
          </a:prstGeom>
          <a:noFill/>
        </p:spPr>
        <p:txBody>
          <a:bodyPr wrap="square" anchor="ctr" lIns="0" tIns="0" rIns="0" bIns="0">
            <a:noAutofit/>
          </a:bodyPr>
          <a:lstStyle/>
          <a:p>
            <a:pPr algn="l"/>
            <a:r>
              <a:rPr sz="2100" b="1" i="0">
                <a:solidFill>
                  <a:srgbClr val="FFFFFF"/>
                </a:solidFill>
                <a:latin typeface="Arial Narrow" panose="020B0606020202030204" pitchFamily="34" charset="0"/>
              </a:rPr>
              <a:t>Same wallets, same trades, 3 s later: negative.  </a:t>
            </a:r>
            <a:r>
              <a:rPr sz="2100" b="1" i="0">
                <a:solidFill>
                  <a:srgbClr val="F07A66"/>
                </a:solidFill>
                <a:latin typeface="Arial Narrow" panose="020B0606020202030204" pitchFamily="34" charset="0"/>
              </a:rPr>
              <a:t>The edge is speed.</a:t>
            </a:r>
          </a:p>
        </p:txBody>
      </p:sp>
      <p:sp>
        <p:nvSpPr>
          <p:cNvPr id="15"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6"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3</a:t>
            </a:fld>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600" b="1" i="0">
                <a:solidFill>
                  <a:srgbClr val="0C1A28"/>
                </a:solidFill>
                <a:latin typeface="Arial Narrow" panose="020B0606020202030204" pitchFamily="34" charset="0"/>
              </a:rPr>
              <a:t>Our CV calls the point before the ball lands</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03  ·  INNOVATION</a:t>
            </a:r>
          </a:p>
        </p:txBody>
      </p:sp>
      <p:sp>
        <p:nvSpPr>
          <p:cNvPr id="5" name="Video frame"/>
          <p:cNvSpPr/>
          <p:nvPr/>
        </p:nvSpPr>
        <p:spPr>
          <a:xfrm>
            <a:off x="512063" y="1655064"/>
            <a:ext cx="6976872" cy="3956494"/>
          </a:xfrm>
          <a:prstGeom prst="roundRect">
            <a:avLst>
              <a:gd name="adj" fmla="val 1386"/>
            </a:avLst>
          </a:prstGeom>
          <a:solidFill>
            <a:srgbClr val="0C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Video: COURTSIDE engine demo">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48640" y="1691640"/>
            <a:ext cx="6903720" cy="3883342"/>
          </a:xfrm>
          <a:prstGeom prst="rect">
            <a:avLst/>
          </a:prstGeom>
        </p:spPr>
      </p:pic>
      <p:sp>
        <p:nvSpPr>
          <p:cNvPr id="8" name="Video caption and credit"/>
          <p:cNvSpPr txBox="1"/>
          <p:nvPr/>
        </p:nvSpPr>
        <p:spPr>
          <a:xfrm>
            <a:off x="548640" y="5666422"/>
            <a:ext cx="6903720" cy="603504"/>
          </a:xfrm>
          <a:prstGeom prst="rect">
            <a:avLst/>
          </a:prstGeom>
          <a:noFill/>
        </p:spPr>
        <p:txBody>
          <a:bodyPr wrap="square" anchor="t" lIns="0" tIns="0" rIns="0" bIns="0">
            <a:noAutofit/>
          </a:bodyPr>
          <a:lstStyle/>
          <a:p>
            <a:pPr algn="l"/>
            <a:r>
              <a:rPr sz="1100" b="1" i="0">
                <a:solidFill>
                  <a:srgbClr val="0C1A28"/>
                </a:solidFill>
                <a:latin typeface="Arial" panose="020B0604020202020204" pitchFamily="34" charset="0"/>
              </a:rPr>
              <a:t>Real 120 fps table-tennis footage: OpenTTGames (lab.osai.ai), adapted (overlays added), CC BY-NC-SA 4.0. </a:t>
            </a:r>
            <a:r>
              <a:rPr sz="1100" b="0" i="0">
                <a:solidFill>
                  <a:srgbClr val="566676"/>
                </a:solidFill>
                <a:latin typeface="Arial" panose="020B0604020202020204" pitchFamily="34" charset="0"/>
              </a:rPr>
              <a:t>COURTSIDE engine demo (results/engine/engine_live_demo.mp4): streaming vision on held-out frames → paper order. Paper only.</a:t>
            </a:r>
          </a:p>
        </p:txBody>
      </p:sp>
      <p:sp>
        <p:nvSpPr>
          <p:cNvPr id="9" name="Calls value"/>
          <p:cNvSpPr txBox="1"/>
          <p:nvPr/>
        </p:nvSpPr>
        <p:spPr>
          <a:xfrm>
            <a:off x="7863840" y="1371600"/>
            <a:ext cx="3779215" cy="731520"/>
          </a:xfrm>
          <a:prstGeom prst="rect">
            <a:avLst/>
          </a:prstGeom>
          <a:noFill/>
        </p:spPr>
        <p:txBody>
          <a:bodyPr wrap="square" anchor="b" lIns="0" tIns="0" rIns="0" bIns="0">
            <a:noAutofit/>
          </a:bodyPr>
          <a:lstStyle/>
          <a:p>
            <a:pPr algn="l"/>
            <a:r>
              <a:rPr sz="4800" b="1" i="0">
                <a:solidFill>
                  <a:srgbClr val="D1432F"/>
                </a:solidFill>
                <a:latin typeface="Arial Narrow" panose="020B0606020202030204" pitchFamily="34" charset="0"/>
              </a:rPr>
              <a:t>4/4</a:t>
            </a:r>
          </a:p>
        </p:txBody>
      </p:sp>
      <p:sp>
        <p:nvSpPr>
          <p:cNvPr id="10" name="Calls caption"/>
          <p:cNvSpPr txBox="1"/>
          <p:nvPr/>
        </p:nvSpPr>
        <p:spPr>
          <a:xfrm>
            <a:off x="7863840" y="2121408"/>
            <a:ext cx="3779215" cy="1051560"/>
          </a:xfrm>
          <a:prstGeom prst="rect">
            <a:avLst/>
          </a:prstGeom>
          <a:noFill/>
        </p:spPr>
        <p:txBody>
          <a:bodyPr wrap="square" anchor="t" lIns="0" tIns="0" rIns="0" bIns="0">
            <a:noAutofit/>
          </a:bodyPr>
          <a:lstStyle/>
          <a:p>
            <a:pPr algn="l"/>
            <a:r>
              <a:rPr sz="1300" b="0" i="0">
                <a:solidFill>
                  <a:srgbClr val="0C1A28"/>
                </a:solidFill>
                <a:latin typeface="Arial" panose="020B0604020202020204" pitchFamily="34" charset="0"/>
              </a:rPr>
              <a:t>live causal engine on held-out games: every miss call it made was right. It called 4 of 41 misses before contact (median lead 162.5 ms); 95% lower bound 51%. The offline 11/11 used a look-ahead feature (engine/README.md)</a:t>
            </a:r>
          </a:p>
        </p:txBody>
      </p:sp>
      <p:sp>
        <p:nvSpPr>
          <p:cNvPr id="11" name="Tracking value"/>
          <p:cNvSpPr txBox="1"/>
          <p:nvPr/>
        </p:nvSpPr>
        <p:spPr>
          <a:xfrm>
            <a:off x="7863840" y="3246120"/>
            <a:ext cx="3779215" cy="713232"/>
          </a:xfrm>
          <a:prstGeom prst="rect">
            <a:avLst/>
          </a:prstGeom>
          <a:noFill/>
        </p:spPr>
        <p:txBody>
          <a:bodyPr wrap="square" anchor="b" lIns="0" tIns="0" rIns="0" bIns="0">
            <a:noAutofit/>
          </a:bodyPr>
          <a:lstStyle/>
          <a:p>
            <a:pPr algn="l"/>
            <a:r>
              <a:rPr sz="4400" b="1" i="0">
                <a:solidFill>
                  <a:srgbClr val="27598B"/>
                </a:solidFill>
                <a:latin typeface="Arial Narrow" panose="020B0606020202030204" pitchFamily="34" charset="0"/>
              </a:rPr>
              <a:t>94.0%</a:t>
            </a:r>
          </a:p>
        </p:txBody>
      </p:sp>
      <p:sp>
        <p:nvSpPr>
          <p:cNvPr id="12" name="Tracking caption"/>
          <p:cNvSpPr txBox="1"/>
          <p:nvPr/>
        </p:nvSpPr>
        <p:spPr>
          <a:xfrm>
            <a:off x="7863840" y="3977639"/>
            <a:ext cx="3779215" cy="502920"/>
          </a:xfrm>
          <a:prstGeom prst="rect">
            <a:avLst/>
          </a:prstGeom>
          <a:noFill/>
        </p:spPr>
        <p:txBody>
          <a:bodyPr wrap="square" anchor="t" lIns="0" tIns="0" rIns="0" bIns="0">
            <a:noAutofit/>
          </a:bodyPr>
          <a:lstStyle/>
          <a:p>
            <a:pPr algn="l"/>
            <a:r>
              <a:rPr sz="1300" b="0" i="0">
                <a:solidFill>
                  <a:srgbClr val="0C1A28"/>
                </a:solidFill>
                <a:latin typeface="Arial" panose="020B0604020202020204" pitchFamily="34" charset="0"/>
              </a:rPr>
              <a:t>of 6,833 labelled held-out test frames within 5 px (ball found in 96.7%)</a:t>
            </a:r>
          </a:p>
        </p:txBody>
      </p:sp>
      <p:sp>
        <p:nvSpPr>
          <p:cNvPr id="13" name="Latency value"/>
          <p:cNvSpPr txBox="1"/>
          <p:nvPr/>
        </p:nvSpPr>
        <p:spPr>
          <a:xfrm>
            <a:off x="7863840" y="4526280"/>
            <a:ext cx="3779215" cy="713232"/>
          </a:xfrm>
          <a:prstGeom prst="rect">
            <a:avLst/>
          </a:prstGeom>
          <a:noFill/>
        </p:spPr>
        <p:txBody>
          <a:bodyPr wrap="square" anchor="b" lIns="0" tIns="0" rIns="0" bIns="0">
            <a:noAutofit/>
          </a:bodyPr>
          <a:lstStyle/>
          <a:p>
            <a:pPr algn="l"/>
            <a:r>
              <a:rPr sz="4400" b="1" i="0">
                <a:solidFill>
                  <a:srgbClr val="0C1A28"/>
                </a:solidFill>
                <a:latin typeface="Arial Narrow" panose="020B0606020202030204" pitchFamily="34" charset="0"/>
              </a:rPr>
              <a:t>4.6 ms</a:t>
            </a:r>
          </a:p>
        </p:txBody>
      </p:sp>
      <p:sp>
        <p:nvSpPr>
          <p:cNvPr id="14" name="Latency caption"/>
          <p:cNvSpPr txBox="1"/>
          <p:nvPr/>
        </p:nvSpPr>
        <p:spPr>
          <a:xfrm>
            <a:off x="7863840" y="5257800"/>
            <a:ext cx="3779215" cy="777240"/>
          </a:xfrm>
          <a:prstGeom prst="rect">
            <a:avLst/>
          </a:prstGeom>
          <a:noFill/>
        </p:spPr>
        <p:txBody>
          <a:bodyPr wrap="square" anchor="t" lIns="0" tIns="0" rIns="0" bIns="0">
            <a:noAutofit/>
          </a:bodyPr>
          <a:lstStyle/>
          <a:p>
            <a:pPr algn="l"/>
            <a:r>
              <a:rPr sz="1300" b="0" i="0">
                <a:solidFill>
                  <a:srgbClr val="0C1A28"/>
                </a:solidFill>
                <a:latin typeface="Arial" panose="020B0604020202020204" pitchFamily="34" charset="0"/>
              </a:rPr>
              <a:t>GPU call-ready, median (p99 12.2 ms), 120 fps on one L4; 0 of 102,120 frames dropped. Laptop: 51 fps</a:t>
            </a:r>
          </a:p>
        </p:txBody>
      </p:sp>
      <p:sp>
        <p:nvSpPr>
          <p:cNvPr id="15"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6"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4</a:t>
            </a:fld>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39933"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6"/>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600" b="1" i="0">
                <a:solidFill>
                  <a:srgbClr val="0C1A28"/>
                </a:solidFill>
                <a:latin typeface="Arial Narrow" panose="020B0606020202030204" pitchFamily="34" charset="0"/>
              </a:rPr>
              <a:t>v2: in sample vs out of sample, and costs doubled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04  ·  PERFORMANCE</a:t>
            </a:r>
          </a:p>
        </p:txBody>
      </p:sp>
      <p:sp>
        <p:nvSpPr>
          <p:cNvPr id="5" name="Fills strip"/>
          <p:cNvSpPr/>
          <p:nvPr/>
        </p:nvSpPr>
        <p:spPr>
          <a:xfrm>
            <a:off x="548640" y="1517904"/>
            <a:ext cx="11094415" cy="347472"/>
          </a:xfrm>
          <a:prstGeom prst="roundRect">
            <a:avLst>
              <a:gd name="adj" fmla="val 15789"/>
            </a:avLst>
          </a:prstGeom>
          <a:solidFill>
            <a:srgbClr val="FBE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ills caveat"/>
          <p:cNvSpPr txBox="1"/>
          <p:nvPr/>
        </p:nvSpPr>
        <p:spPr>
          <a:xfrm>
            <a:off x="713232" y="1517904"/>
            <a:ext cx="10765231" cy="347472"/>
          </a:xfrm>
          <a:prstGeom prst="rect">
            <a:avLst/>
          </a:prstGeom>
          <a:noFill/>
        </p:spPr>
        <p:txBody>
          <a:bodyPr wrap="square" anchor="ctr" lIns="0" tIns="0" rIns="0" bIns="0">
            <a:noAutofit/>
          </a:bodyPr>
          <a:lstStyle/>
          <a:p>
            <a:pPr algn="l"/>
            <a:r>
              <a:rPr sz="1200" b="1" i="0">
                <a:solidFill>
                  <a:srgbClr val="D1432F"/>
                </a:solidFill>
                <a:latin typeface="Arial" panose="020B0604020202020204" pitchFamily="34" charset="0"/>
              </a:rPr>
              <a:t>Paper book on the fast tier's own fills: </a:t>
            </a:r>
            <a:r>
              <a:rPr sz="1200" b="0" i="0">
                <a:solidFill>
                  <a:srgbClr val="0C1A28"/>
                </a:solidFill>
                <a:latin typeface="Arial" panose="020B0604020202020204" pitchFamily="34" charset="0"/>
              </a:rPr>
              <a:t>it prices the opportunity at their speed, not our execution. Out of sample is burned (v2 was designed after v1 failed there) and labelled non-blind.</a:t>
            </a:r>
          </a:p>
        </p:txBody>
      </p:sp>
      <p:sp>
        <p:nvSpPr>
          <p:cNvPr id="7" name="Label: NET ¢/SHARE, HELD TO RES"/>
          <p:cNvSpPr txBox="1"/>
          <p:nvPr/>
        </p:nvSpPr>
        <p:spPr>
          <a:xfrm>
            <a:off x="548640" y="1975104"/>
            <a:ext cx="5120640" cy="274320"/>
          </a:xfrm>
          <a:prstGeom prst="rect">
            <a:avLst/>
          </a:prstGeom>
          <a:noFill/>
        </p:spPr>
        <p:txBody>
          <a:bodyPr wrap="square" anchor="ctr" lIns="0" tIns="0" rIns="0" bIns="0">
            <a:noAutofit/>
          </a:bodyPr>
          <a:lstStyle/>
          <a:p>
            <a:pPr algn="l"/>
            <a:r>
              <a:rPr sz="1200" b="1" i="0" spc="140">
                <a:solidFill>
                  <a:srgbClr val="27598B"/>
                </a:solidFill>
                <a:latin typeface="Arial" panose="020B0604020202020204" pitchFamily="34" charset="0"/>
              </a:rPr>
              <a:t>NET ¢/SHARE, HELD TO RESOLUTION, BY COST CASE</a:t>
            </a:r>
          </a:p>
        </p:txBody>
      </p:sp>
      <p:graphicFrame>
        <p:nvGraphicFramePr>
          <p:cNvPr id="8" name="Chart: v2 by cost case"/>
          <p:cNvGraphicFramePr>
            <a:graphicFrameLocks noGrp="1"/>
          </p:cNvGraphicFramePr>
          <p:nvPr/>
        </p:nvGraphicFramePr>
        <p:xfrm>
          <a:off x="502919" y="2240280"/>
          <a:ext cx="5166360" cy="3429000"/>
        </p:xfrm>
        <a:graphic>
          <a:graphicData uri="http://schemas.openxmlformats.org/drawingml/2006/chart">
            <c:chart xmlns:c="http://schemas.openxmlformats.org/drawingml/2006/chart" r:id="rId2"/>
          </a:graphicData>
        </a:graphic>
      </p:graphicFrame>
      <p:sp>
        <p:nvSpPr>
          <p:cNvPr id="9" name="Chart note"/>
          <p:cNvSpPr txBox="1"/>
          <p:nvPr/>
        </p:nvSpPr>
        <p:spPr>
          <a:xfrm>
            <a:off x="548640" y="5715000"/>
            <a:ext cx="5120640" cy="640080"/>
          </a:xfrm>
          <a:prstGeom prst="rect">
            <a:avLst/>
          </a:prstGeom>
          <a:noFill/>
        </p:spPr>
        <p:txBody>
          <a:bodyPr wrap="square" anchor="t" lIns="0" tIns="0" rIns="0" bIns="0">
            <a:noAutofit/>
          </a:bodyPr>
          <a:lstStyle/>
          <a:p>
            <a:pPr algn="l"/>
            <a:r>
              <a:rPr sz="1050" b="0" i="0">
                <a:solidFill>
                  <a:srgbClr val="566676"/>
                </a:solidFill>
                <a:latin typeface="Arial" panose="020B0604020202020204" pitchFamily="34" charset="0"/>
              </a:rPr>
              <a:t>In sample 206 days, burned OOS 40 days. Fees ×2: each match's own fee rate doubled. All costs ×2: fees doubled plus half a tick of spread. Book held fixed.</a:t>
            </a:r>
          </a:p>
        </p:txBody>
      </p:sp>
      <p:graphicFrame>
        <p:nvGraphicFramePr>
          <p:cNvPr id="10" name="Table: v2 IS vs OOS"/>
          <p:cNvGraphicFramePr>
            <a:graphicFrameLocks noGrp="1"/>
          </p:cNvGraphicFramePr>
          <p:nvPr/>
        </p:nvGraphicFramePr>
        <p:xfrm>
          <a:off x="5897880" y="1975104"/>
          <a:ext cx="5745175" cy="2862072"/>
        </p:xfrm>
        <a:graphic>
          <a:graphicData uri="http://schemas.openxmlformats.org/drawingml/2006/table">
            <a:tbl>
              <a:tblPr>
                <a:tableStyleId>{2D5ABB26-0587-4C30-8999-92F81FD0307C}</a:tableStyleId>
              </a:tblPr>
              <a:tblGrid>
                <a:gridCol w="1371600"/>
                <a:gridCol w="1463040"/>
                <a:gridCol w="1463040"/>
                <a:gridCol w="1447495"/>
              </a:tblGrid>
              <a:tr h="566928">
                <a:tc>
                  <a:txBody>
                    <a:bodyPr wrap="square"/>
                    <a:lstStyle/>
                    <a:p>
                      <a:pPr algn="l"/>
                      <a:r>
                        <a:rPr sz="1250" b="1" i="0">
                          <a:solidFill>
                            <a:srgbClr val="FFFFFF"/>
                          </a:solidFill>
                          <a:latin typeface="Arial" panose="020B0604020202020204" pitchFamily="34" charset="0"/>
                        </a:rPr>
                        <a:t>v2, causal window</a:t>
                      </a:r>
                    </a:p>
                    <a:p>
                      <a:pPr algn="l"/>
                      <a:r>
                        <a:rPr sz="1000" b="0" i="0">
                          <a:solidFill>
                            <a:srgbClr val="9FB3C8"/>
                          </a:solidFill>
                          <a:latin typeface="Arial" panose="020B0604020202020204" pitchFamily="34" charset="0"/>
                        </a:rPr>
                        <a:t>net of fees</a:t>
                      </a:r>
                    </a:p>
                  </a:txBody>
                  <a:tcPr marL="91440" marR="91440" marT="27432" marB="27432" anchor="ctr">
                    <a:lnL w="9525">
                      <a:noFill/>
                    </a:lnL>
                    <a:lnR w="9525">
                      <a:noFill/>
                    </a:lnR>
                    <a:lnT w="9525">
                      <a:noFill/>
                    </a:lnT>
                    <a:lnB w="9525">
                      <a:solidFill>
                        <a:srgbClr val="D3DCE5"/>
                      </a:solidFill>
                    </a:lnB>
                    <a:solidFill>
                      <a:srgbClr val="0C1A28"/>
                    </a:solidFill>
                  </a:tcPr>
                </a:tc>
                <a:tc>
                  <a:txBody>
                    <a:bodyPr wrap="square"/>
                    <a:lstStyle/>
                    <a:p>
                      <a:pPr algn="l"/>
                      <a:r>
                        <a:rPr sz="1250" b="1" i="0">
                          <a:solidFill>
                            <a:srgbClr val="FFFFFF"/>
                          </a:solidFill>
                          <a:latin typeface="Arial" panose="020B0604020202020204" pitchFamily="34" charset="0"/>
                        </a:rPr>
                        <a:t>In sample</a:t>
                      </a:r>
                    </a:p>
                    <a:p>
                      <a:pPr algn="l"/>
                      <a:r>
                        <a:rPr sz="1000" b="0" i="0">
                          <a:solidFill>
                            <a:srgbClr val="9FB3C8"/>
                          </a:solidFill>
                          <a:latin typeface="Arial" panose="020B0604020202020204" pitchFamily="34" charset="0"/>
                        </a:rPr>
                        <a:t>frozen rules</a:t>
                      </a:r>
                    </a:p>
                  </a:txBody>
                  <a:tcPr marL="91440" marR="91440" marT="27432" marB="27432" anchor="ctr">
                    <a:lnL w="9525">
                      <a:noFill/>
                    </a:lnL>
                    <a:lnR w="9525">
                      <a:noFill/>
                    </a:lnR>
                    <a:lnT w="9525">
                      <a:noFill/>
                    </a:lnT>
                    <a:lnB w="9525">
                      <a:solidFill>
                        <a:srgbClr val="D3DCE5"/>
                      </a:solidFill>
                    </a:lnB>
                    <a:solidFill>
                      <a:srgbClr val="0C1A28"/>
                    </a:solidFill>
                  </a:tcPr>
                </a:tc>
                <a:tc>
                  <a:txBody>
                    <a:bodyPr wrap="square"/>
                    <a:lstStyle/>
                    <a:p>
                      <a:pPr algn="l"/>
                      <a:r>
                        <a:rPr sz="1250" b="1" i="0">
                          <a:solidFill>
                            <a:srgbClr val="FFFFFF"/>
                          </a:solidFill>
                          <a:latin typeface="Arial" panose="020B0604020202020204" pitchFamily="34" charset="0"/>
                        </a:rPr>
                        <a:t>Burned OOS</a:t>
                      </a:r>
                    </a:p>
                    <a:p>
                      <a:pPr algn="l"/>
                      <a:r>
                        <a:rPr sz="1000" b="0" i="0">
                          <a:solidFill>
                            <a:srgbClr val="9FB3C8"/>
                          </a:solidFill>
                          <a:latin typeface="Arial" panose="020B0604020202020204" pitchFamily="34" charset="0"/>
                        </a:rPr>
                        <a:t>non-blind</a:t>
                      </a:r>
                    </a:p>
                  </a:txBody>
                  <a:tcPr marL="91440" marR="91440" marT="27432" marB="27432" anchor="ctr">
                    <a:lnL w="9525">
                      <a:noFill/>
                    </a:lnL>
                    <a:lnR w="9525">
                      <a:noFill/>
                    </a:lnR>
                    <a:lnT w="9525">
                      <a:noFill/>
                    </a:lnT>
                    <a:lnB w="9525">
                      <a:solidFill>
                        <a:srgbClr val="D3DCE5"/>
                      </a:solidFill>
                    </a:lnB>
                    <a:solidFill>
                      <a:srgbClr val="0C1A28"/>
                    </a:solidFill>
                  </a:tcPr>
                </a:tc>
                <a:tc>
                  <a:txBody>
                    <a:bodyPr wrap="square"/>
                    <a:lstStyle/>
                    <a:p>
                      <a:pPr algn="l"/>
                      <a:r>
                        <a:rPr sz="1250" b="1" i="0">
                          <a:solidFill>
                            <a:srgbClr val="FFFFFF"/>
                          </a:solidFill>
                          <a:latin typeface="Arial" panose="020B0604020202020204" pitchFamily="34" charset="0"/>
                        </a:rPr>
                        <a:t>Forward</a:t>
                      </a:r>
                    </a:p>
                    <a:p>
                      <a:pPr algn="l"/>
                      <a:r>
                        <a:rPr sz="1000" b="0" i="0">
                          <a:solidFill>
                            <a:srgbClr val="9FB3C8"/>
                          </a:solidFill>
                          <a:latin typeface="Arial" panose="020B0604020202020204" pitchFamily="34" charset="0"/>
                        </a:rPr>
                        <a:t>blind</a:t>
                      </a:r>
                    </a:p>
                  </a:txBody>
                  <a:tcPr marL="91440" marR="91440" marT="27432" marB="27432" anchor="ctr">
                    <a:lnL w="9525">
                      <a:noFill/>
                    </a:lnL>
                    <a:lnR w="9525">
                      <a:noFill/>
                    </a:lnR>
                    <a:lnT w="9525">
                      <a:noFill/>
                    </a:lnT>
                    <a:lnB w="9525">
                      <a:solidFill>
                        <a:srgbClr val="D3DCE5"/>
                      </a:solidFill>
                    </a:lnB>
                    <a:solidFill>
                      <a:srgbClr val="0C1A28"/>
                    </a:solidFill>
                  </a:tcPr>
                </a:tc>
              </a:tr>
              <a:tr h="640080">
                <a:tc>
                  <a:txBody>
                    <a:bodyPr wrap="square"/>
                    <a:lstStyle/>
                    <a:p>
                      <a:pPr algn="l"/>
                      <a:r>
                        <a:rPr sz="1250" b="0" i="0">
                          <a:solidFill>
                            <a:srgbClr val="0C1A28"/>
                          </a:solidFill>
                          <a:latin typeface="Arial" panose="020B0604020202020204" pitchFamily="34" charset="0"/>
                        </a:rPr>
                        <a:t>Net ¢/share</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700" b="1" i="0">
                          <a:solidFill>
                            <a:srgbClr val="27598B"/>
                          </a:solidFill>
                          <a:latin typeface="Arial Narrow" panose="020B0606020202030204" pitchFamily="34" charset="0"/>
                        </a:rPr>
                        <a:t>+1.38¢</a:t>
                      </a:r>
                    </a:p>
                    <a:p>
                      <a:pPr algn="l"/>
                      <a:r>
                        <a:rPr sz="1050" b="0" i="0">
                          <a:solidFill>
                            <a:srgbClr val="566676"/>
                          </a:solidFill>
                          <a:latin typeface="Arial" panose="020B0604020202020204" pitchFamily="34" charset="0"/>
                        </a:rPr>
                        <a:t>[1.17, 1.59]</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700" b="1" i="0">
                          <a:solidFill>
                            <a:srgbClr val="27598B"/>
                          </a:solidFill>
                          <a:latin typeface="Arial Narrow" panose="020B0606020202030204" pitchFamily="34" charset="0"/>
                        </a:rPr>
                        <a:t>+0.60¢</a:t>
                      </a:r>
                    </a:p>
                    <a:p>
                      <a:pPr algn="l"/>
                      <a:r>
                        <a:rPr sz="1050" b="0" i="0">
                          <a:solidFill>
                            <a:srgbClr val="566676"/>
                          </a:solidFill>
                          <a:latin typeface="Arial" panose="020B0604020202020204" pitchFamily="34" charset="0"/>
                        </a:rPr>
                        <a:t>[0.09, 1.13]</a:t>
                      </a:r>
                    </a:p>
                  </a:txBody>
                  <a:tcPr marL="91440" marR="91440" marT="27432" marB="27432" anchor="ctr">
                    <a:lnL w="9525">
                      <a:noFill/>
                    </a:lnL>
                    <a:lnR w="9525">
                      <a:noFill/>
                    </a:lnR>
                    <a:lnT w="9525">
                      <a:noFill/>
                    </a:lnT>
                    <a:lnB w="9525">
                      <a:solidFill>
                        <a:srgbClr val="D3DCE5"/>
                      </a:solidFill>
                    </a:lnB>
                    <a:noFill/>
                  </a:tcPr>
                </a:tc>
                <a:tc rowSpan="5">
                  <a:txBody>
                    <a:bodyPr wrap="square"/>
                    <a:lstStyle/>
                    <a:p>
                      <a:pPr algn="l"/>
                      <a:r>
                        <a:rPr sz="1400" b="1" i="0">
                          <a:solidFill>
                            <a:srgbClr val="D1432F"/>
                          </a:solidFill>
                          <a:latin typeface="Arial" panose="020B0604020202020204" pitchFamily="34" charset="0"/>
                        </a:rPr>
                        <a:t>pending</a:t>
                      </a:r>
                    </a:p>
                    <a:p>
                      <a:pPr algn="l"/>
                      <a:r>
                        <a:rPr sz="1050" b="0" i="0">
                          <a:solidFill>
                            <a:srgbClr val="D1432F"/>
                          </a:solidFill>
                          <a:latin typeface="Arial" panose="020B0604020202020204" pitchFamily="34" charset="0"/>
                        </a:rPr>
                        <a:t>runs once, planned 2026-10-04 11:30 UTC</a:t>
                      </a:r>
                    </a:p>
                    <a:p>
                      <a:pPr algn="l"/>
                      <a:r>
                        <a:rPr sz="1050" b="0" i="0">
                          <a:solidFill>
                            <a:srgbClr val="566676"/>
                          </a:solidFill>
                          <a:latin typeface="Arial" panose="020B0604020202020204" pitchFamily="34" charset="0"/>
                        </a:rPr>
                        <a:t>reported either way</a:t>
                      </a:r>
                    </a:p>
                  </a:txBody>
                  <a:tcPr marL="91440" marR="91440" marT="27432" marB="27432" anchor="ctr">
                    <a:lnL w="9525">
                      <a:noFill/>
                    </a:lnL>
                    <a:lnR w="9525">
                      <a:noFill/>
                    </a:lnR>
                    <a:lnT w="9525">
                      <a:noFill/>
                    </a:lnT>
                    <a:lnB w="9525">
                      <a:solidFill>
                        <a:srgbClr val="D3DCE5"/>
                      </a:solidFill>
                    </a:lnB>
                    <a:solidFill>
                      <a:srgbClr val="FBEAE6"/>
                    </a:solidFill>
                  </a:tcPr>
                </a:tc>
              </a:tr>
              <a:tr h="384048">
                <a:tc>
                  <a:txBody>
                    <a:bodyPr wrap="square"/>
                    <a:lstStyle/>
                    <a:p>
                      <a:pPr algn="l"/>
                      <a:r>
                        <a:rPr sz="1250" b="0" i="0">
                          <a:solidFill>
                            <a:srgbClr val="0C1A28"/>
                          </a:solidFill>
                          <a:latin typeface="Arial" panose="020B0604020202020204" pitchFamily="34" charset="0"/>
                        </a:rPr>
                        <a:t>Sharpe · DD</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350" b="0" i="0">
                          <a:solidFill>
                            <a:srgbClr val="0C1A28"/>
                          </a:solidFill>
                          <a:latin typeface="Arial" panose="020B0604020202020204" pitchFamily="34" charset="0"/>
                        </a:rPr>
                        <a:t>14.5 · −2.0%</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350" b="0" i="0">
                          <a:solidFill>
                            <a:srgbClr val="0C1A28"/>
                          </a:solidFill>
                          <a:latin typeface="Arial" panose="020B0604020202020204" pitchFamily="34" charset="0"/>
                        </a:rPr>
                        <a:t>6.7 · −2.1%</a:t>
                      </a:r>
                    </a:p>
                  </a:txBody>
                  <a:tcPr marL="91440" marR="91440" marT="27432" marB="27432" anchor="ctr">
                    <a:lnL w="9525">
                      <a:noFill/>
                    </a:lnL>
                    <a:lnR w="9525">
                      <a:noFill/>
                    </a:lnR>
                    <a:lnT w="9525">
                      <a:noFill/>
                    </a:lnT>
                    <a:lnB w="9525">
                      <a:solidFill>
                        <a:srgbClr val="D3DCE5"/>
                      </a:solidFill>
                    </a:lnB>
                    <a:noFill/>
                  </a:tcPr>
                </a:tc>
                <a:tc vMerge="1">
                  <a:txBody>
                    <a:bodyPr wrap="square"/>
                    <a:lstStyle/>
                    <a:p/>
                  </a:txBody>
                  <a:tcPr marL="91440" marR="91440" marT="27432" marB="27432" anchor="ctr">
                    <a:lnL w="9525">
                      <a:noFill/>
                    </a:lnL>
                    <a:lnR w="9525">
                      <a:noFill/>
                    </a:lnR>
                    <a:lnT w="9525">
                      <a:noFill/>
                    </a:lnT>
                    <a:lnB w="9525">
                      <a:solidFill>
                        <a:srgbClr val="D3DCE5"/>
                      </a:solidFill>
                    </a:lnB>
                    <a:solidFill>
                      <a:srgbClr val="FBEAE6"/>
                    </a:solidFill>
                  </a:tcPr>
                </a:tc>
              </a:tr>
              <a:tr h="384048">
                <a:tc>
                  <a:txBody>
                    <a:bodyPr wrap="square"/>
                    <a:lstStyle/>
                    <a:p>
                      <a:pPr algn="l"/>
                      <a:r>
                        <a:rPr sz="1250" b="0" i="0">
                          <a:solidFill>
                            <a:srgbClr val="0C1A28"/>
                          </a:solidFill>
                          <a:latin typeface="Arial" panose="020B0604020202020204" pitchFamily="34" charset="0"/>
                        </a:rPr>
                        <a:t>Months &gt; 0</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350" b="0" i="0">
                          <a:solidFill>
                            <a:srgbClr val="0C1A28"/>
                          </a:solidFill>
                          <a:latin typeface="Arial" panose="020B0604020202020204" pitchFamily="34" charset="0"/>
                        </a:rPr>
                        <a:t>7/7</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350" b="0" i="0">
                          <a:solidFill>
                            <a:srgbClr val="0C1A28"/>
                          </a:solidFill>
                          <a:latin typeface="Arial" panose="020B0604020202020204" pitchFamily="34" charset="0"/>
                        </a:rPr>
                        <a:t>2/3</a:t>
                      </a:r>
                    </a:p>
                  </a:txBody>
                  <a:tcPr marL="91440" marR="91440" marT="27432" marB="27432" anchor="ctr">
                    <a:lnL w="9525">
                      <a:noFill/>
                    </a:lnL>
                    <a:lnR w="9525">
                      <a:noFill/>
                    </a:lnR>
                    <a:lnT w="9525">
                      <a:noFill/>
                    </a:lnT>
                    <a:lnB w="9525">
                      <a:solidFill>
                        <a:srgbClr val="D3DCE5"/>
                      </a:solidFill>
                    </a:lnB>
                    <a:noFill/>
                  </a:tcPr>
                </a:tc>
                <a:tc vMerge="1">
                  <a:txBody>
                    <a:bodyPr wrap="square"/>
                    <a:lstStyle/>
                    <a:p/>
                  </a:txBody>
                  <a:tcPr marL="91440" marR="91440" marT="27432" marB="27432" anchor="ctr">
                    <a:lnL w="9525">
                      <a:noFill/>
                    </a:lnL>
                    <a:lnR w="9525">
                      <a:noFill/>
                    </a:lnR>
                    <a:lnT w="9525">
                      <a:noFill/>
                    </a:lnT>
                    <a:lnB w="9525">
                      <a:solidFill>
                        <a:srgbClr val="D3DCE5"/>
                      </a:solidFill>
                    </a:lnB>
                    <a:solidFill>
                      <a:srgbClr val="FBEAE6"/>
                    </a:solidFill>
                  </a:tcPr>
                </a:tc>
              </a:tr>
              <a:tr h="502920">
                <a:tc>
                  <a:txBody>
                    <a:bodyPr wrap="square"/>
                    <a:lstStyle/>
                    <a:p>
                      <a:pPr algn="l"/>
                      <a:r>
                        <a:rPr sz="1250" b="0" i="0">
                          <a:solidFill>
                            <a:srgbClr val="0C1A28"/>
                          </a:solidFill>
                          <a:latin typeface="Arial" panose="020B0604020202020204" pitchFamily="34" charset="0"/>
                        </a:rPr>
                        <a:t>P&amp;L</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350" b="0" i="0">
                          <a:solidFill>
                            <a:srgbClr val="0C1A28"/>
                          </a:solidFill>
                          <a:latin typeface="Arial" panose="020B0604020202020204" pitchFamily="34" charset="0"/>
                        </a:rPr>
                        <a:t>+$40.4k</a:t>
                      </a:r>
                    </a:p>
                    <a:p>
                      <a:pPr algn="l"/>
                      <a:r>
                        <a:rPr sz="1000" b="0" i="0">
                          <a:solidFill>
                            <a:srgbClr val="566676"/>
                          </a:solidFill>
                          <a:latin typeface="Arial" panose="020B0604020202020204" pitchFamily="34" charset="0"/>
                        </a:rPr>
                        <a:t>on $28.3k capital</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350" b="0" i="0">
                          <a:solidFill>
                            <a:srgbClr val="0C1A28"/>
                          </a:solidFill>
                          <a:latin typeface="Arial" panose="020B0604020202020204" pitchFamily="34" charset="0"/>
                        </a:rPr>
                        <a:t>+$3.7k</a:t>
                      </a:r>
                    </a:p>
                    <a:p>
                      <a:pPr algn="l"/>
                      <a:r>
                        <a:rPr sz="1000" b="0" i="0">
                          <a:solidFill>
                            <a:srgbClr val="566676"/>
                          </a:solidFill>
                          <a:latin typeface="Arial" panose="020B0604020202020204" pitchFamily="34" charset="0"/>
                        </a:rPr>
                        <a:t>on $22.8k capital</a:t>
                      </a:r>
                    </a:p>
                  </a:txBody>
                  <a:tcPr marL="91440" marR="91440" marT="27432" marB="27432" anchor="ctr">
                    <a:lnL w="9525">
                      <a:noFill/>
                    </a:lnL>
                    <a:lnR w="9525">
                      <a:noFill/>
                    </a:lnR>
                    <a:lnT w="9525">
                      <a:noFill/>
                    </a:lnT>
                    <a:lnB w="9525">
                      <a:solidFill>
                        <a:srgbClr val="D3DCE5"/>
                      </a:solidFill>
                    </a:lnB>
                    <a:noFill/>
                  </a:tcPr>
                </a:tc>
                <a:tc vMerge="1">
                  <a:txBody>
                    <a:bodyPr wrap="square"/>
                    <a:lstStyle/>
                    <a:p>
                      <a:pPr algn="l"/>
                      <a:r>
                        <a:rPr sz="1000" b="0" i="0">
                          <a:solidFill>
                            <a:srgbClr val="0C1A28"/>
                          </a:solidFill>
                          <a:latin typeface="Arial" panose="020B0604020202020204" pitchFamily="34" charset="0"/>
                        </a:rPr>
                        <a:t/>
                      </a:r>
                    </a:p>
                  </a:txBody>
                  <a:tcPr marL="91440" marR="91440" marT="27432" marB="27432" anchor="ctr">
                    <a:lnL w="9525">
                      <a:noFill/>
                    </a:lnL>
                    <a:lnR w="9525">
                      <a:noFill/>
                    </a:lnR>
                    <a:lnT w="9525">
                      <a:noFill/>
                    </a:lnT>
                    <a:lnB w="9525">
                      <a:solidFill>
                        <a:srgbClr val="D3DCE5"/>
                      </a:solidFill>
                    </a:lnB>
                    <a:solidFill>
                      <a:srgbClr val="FBEAE6"/>
                    </a:solidFill>
                  </a:tcPr>
                </a:tc>
              </a:tr>
              <a:tr h="384048">
                <a:tc>
                  <a:txBody>
                    <a:bodyPr wrap="square"/>
                    <a:lstStyle/>
                    <a:p>
                      <a:pPr algn="l"/>
                      <a:r>
                        <a:rPr sz="1250" b="0" i="0">
                          <a:solidFill>
                            <a:srgbClr val="0C1A28"/>
                          </a:solidFill>
                          <a:latin typeface="Arial" panose="020B0604020202020204" pitchFamily="34" charset="0"/>
                        </a:rPr>
                        <a:t>Fees ×2</a:t>
                      </a:r>
                    </a:p>
                  </a:txBody>
                  <a:tcPr marL="91440" marR="91440" marT="27432" marB="27432" anchor="ctr">
                    <a:lnL w="9525">
                      <a:noFill/>
                    </a:lnL>
                    <a:lnR w="9525">
                      <a:noFill/>
                    </a:lnR>
                    <a:lnT w="9525">
                      <a:noFill/>
                    </a:lnT>
                    <a:lnB w="9525">
                      <a:noFill/>
                    </a:lnB>
                    <a:noFill/>
                  </a:tcPr>
                </a:tc>
                <a:tc>
                  <a:txBody>
                    <a:bodyPr wrap="square"/>
                    <a:lstStyle/>
                    <a:p>
                      <a:pPr algn="l"/>
                      <a:r>
                        <a:rPr sz="1350" b="0" i="0">
                          <a:solidFill>
                            <a:srgbClr val="0C1A28"/>
                          </a:solidFill>
                          <a:latin typeface="Arial" panose="020B0604020202020204" pitchFamily="34" charset="0"/>
                        </a:rPr>
                        <a:t>+0.77¢</a:t>
                      </a:r>
                    </a:p>
                  </a:txBody>
                  <a:tcPr marL="91440" marR="91440" marT="27432" marB="27432" anchor="ctr">
                    <a:lnL w="9525">
                      <a:noFill/>
                    </a:lnL>
                    <a:lnR w="9525">
                      <a:noFill/>
                    </a:lnR>
                    <a:lnT w="9525">
                      <a:noFill/>
                    </a:lnT>
                    <a:lnB w="9525">
                      <a:noFill/>
                    </a:lnB>
                    <a:noFill/>
                  </a:tcPr>
                </a:tc>
                <a:tc>
                  <a:txBody>
                    <a:bodyPr wrap="square"/>
                    <a:lstStyle/>
                    <a:p>
                      <a:pPr algn="l"/>
                      <a:r>
                        <a:rPr sz="1350" b="1" i="0">
                          <a:solidFill>
                            <a:srgbClr val="D1432F"/>
                          </a:solidFill>
                          <a:latin typeface="Arial" panose="020B0604020202020204" pitchFamily="34" charset="0"/>
                        </a:rPr>
                        <a:t>−0.34¢</a:t>
                      </a:r>
                    </a:p>
                  </a:txBody>
                  <a:tcPr marL="91440" marR="91440" marT="27432" marB="27432" anchor="ctr">
                    <a:lnL w="9525">
                      <a:noFill/>
                    </a:lnL>
                    <a:lnR w="9525">
                      <a:noFill/>
                    </a:lnR>
                    <a:lnT w="9525">
                      <a:noFill/>
                    </a:lnT>
                    <a:lnB w="9525">
                      <a:noFill/>
                    </a:lnB>
                    <a:noFill/>
                  </a:tcPr>
                </a:tc>
                <a:tc vMerge="1">
                  <a:txBody>
                    <a:bodyPr wrap="square"/>
                    <a:lstStyle/>
                    <a:p>
                      <a:pPr algn="l"/>
                      <a:r>
                        <a:rPr sz="1000" b="0" i="0">
                          <a:solidFill>
                            <a:srgbClr val="0C1A28"/>
                          </a:solidFill>
                          <a:latin typeface="Arial" panose="020B0604020202020204" pitchFamily="34" charset="0"/>
                        </a:rPr>
                        <a:t/>
                      </a:r>
                    </a:p>
                  </a:txBody>
                  <a:tcPr marL="91440" marR="91440" marT="27432" marB="27432" anchor="ctr">
                    <a:lnL w="9525">
                      <a:noFill/>
                    </a:lnL>
                    <a:lnR w="9525">
                      <a:noFill/>
                    </a:lnR>
                    <a:lnT w="9525">
                      <a:noFill/>
                    </a:lnT>
                    <a:lnB w="9525">
                      <a:noFill/>
                    </a:lnB>
                    <a:solidFill>
                      <a:srgbClr val="FBEAE6"/>
                    </a:solidFill>
                  </a:tcPr>
                </a:tc>
              </a:tr>
            </a:tbl>
          </a:graphicData>
        </a:graphic>
      </p:graphicFrame>
      <p:sp>
        <p:nvSpPr>
          <p:cNvPr id="11" name="v1 card"/>
          <p:cNvSpPr/>
          <p:nvPr/>
        </p:nvSpPr>
        <p:spPr>
          <a:xfrm>
            <a:off x="5897880" y="4937760"/>
            <a:ext cx="5745175" cy="1371600"/>
          </a:xfrm>
          <a:prstGeom prst="roundRect">
            <a:avLst>
              <a:gd name="adj" fmla="val 5333"/>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v1 note"/>
          <p:cNvSpPr txBox="1"/>
          <p:nvPr/>
        </p:nvSpPr>
        <p:spPr>
          <a:xfrm>
            <a:off x="6126480" y="4937760"/>
            <a:ext cx="5287975" cy="1371600"/>
          </a:xfrm>
          <a:prstGeom prst="rect">
            <a:avLst/>
          </a:prstGeom>
          <a:noFill/>
        </p:spPr>
        <p:txBody>
          <a:bodyPr wrap="square" anchor="ctr" lIns="0" tIns="0" rIns="0" bIns="0">
            <a:noAutofit/>
          </a:bodyPr>
          <a:lstStyle/>
          <a:p>
            <a:pPr algn="l"/>
            <a:r>
              <a:rPr sz="1100" b="1" i="0" spc="120">
                <a:solidFill>
                  <a:srgbClr val="27598B"/>
                </a:solidFill>
                <a:latin typeface="Arial" panose="020B0604020202020204" pitchFamily="34" charset="0"/>
              </a:rPr>
              <a:t>WHY v2 EXISTS</a:t>
            </a:r>
          </a:p>
          <a:p>
            <a:pPr algn="l">
              <a:spcBef>
                <a:spcPts val="300"/>
              </a:spcBef>
            </a:pPr>
            <a:r>
              <a:rPr sz="1250" b="0" i="0">
                <a:solidFill>
                  <a:srgbClr val="0C1A28"/>
                </a:solidFill>
                <a:latin typeface="Arial" panose="020B0604020202020204" pitchFamily="34" charset="0"/>
              </a:rPr>
              <a:t>v1 copied the fast tier's tickets and lost $36.1k out of sample (max DD −75%): big tickets on cheap tokens. v2 adds a causal window, fee-beating wallets, risk-parity size, a net cap per match and hold-to-resolution. With fees doubled, out of sample it loses.</a:t>
            </a:r>
          </a:p>
        </p:txBody>
      </p:sp>
      <p:sp>
        <p:nvSpPr>
          <p:cNvPr id="13"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4"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5</a:t>
            </a:fld>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600" b="1" i="0">
                <a:solidFill>
                  <a:srgbClr val="0C1A28"/>
                </a:solidFill>
                <a:latin typeface="Arial Narrow" panose="020B0606020202030204" pitchFamily="34" charset="0"/>
              </a:rPr>
              <a:t>Every test we ran, including the ones we failed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05  ·  RIGOR AND BLIND TESTS</a:t>
            </a:r>
          </a:p>
        </p:txBody>
      </p:sp>
      <p:sp>
        <p:nvSpPr>
          <p:cNvPr id="5" name="Label: RIGOR PACK (results/rigo"/>
          <p:cNvSpPr txBox="1"/>
          <p:nvPr/>
        </p:nvSpPr>
        <p:spPr>
          <a:xfrm>
            <a:off x="548640" y="1572768"/>
            <a:ext cx="4572000" cy="274320"/>
          </a:xfrm>
          <a:prstGeom prst="rect">
            <a:avLst/>
          </a:prstGeom>
          <a:noFill/>
        </p:spPr>
        <p:txBody>
          <a:bodyPr wrap="square" anchor="ctr" lIns="0" tIns="0" rIns="0" bIns="0">
            <a:noAutofit/>
          </a:bodyPr>
          <a:lstStyle/>
          <a:p>
            <a:pPr algn="l"/>
            <a:r>
              <a:rPr sz="1200" b="1" i="0" spc="140">
                <a:solidFill>
                  <a:srgbClr val="27598B"/>
                </a:solidFill>
                <a:latin typeface="Arial" panose="020B0604020202020204" pitchFamily="34" charset="0"/>
              </a:rPr>
              <a:t>RIGOR PACK (results/rigor/rigor.json)</a:t>
            </a:r>
          </a:p>
        </p:txBody>
      </p:sp>
      <p:sp>
        <p:nvSpPr>
          <p:cNvPr id="6" name="Rigor tile 0"/>
          <p:cNvSpPr/>
          <p:nvPr/>
        </p:nvSpPr>
        <p:spPr>
          <a:xfrm>
            <a:off x="548640" y="1901952"/>
            <a:ext cx="2194560" cy="2057400"/>
          </a:xfrm>
          <a:prstGeom prst="roundRect">
            <a:avLst>
              <a:gd name="adj" fmla="val 355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or value 0"/>
          <p:cNvSpPr txBox="1"/>
          <p:nvPr/>
        </p:nvSpPr>
        <p:spPr>
          <a:xfrm>
            <a:off x="713232" y="2011680"/>
            <a:ext cx="1865376" cy="731520"/>
          </a:xfrm>
          <a:prstGeom prst="rect">
            <a:avLst/>
          </a:prstGeom>
          <a:noFill/>
        </p:spPr>
        <p:txBody>
          <a:bodyPr wrap="square" anchor="b" lIns="0" tIns="0" rIns="0" bIns="0">
            <a:noAutofit/>
          </a:bodyPr>
          <a:lstStyle/>
          <a:p>
            <a:pPr algn="l"/>
            <a:r>
              <a:rPr sz="3400" b="1" i="0">
                <a:solidFill>
                  <a:srgbClr val="27598B"/>
                </a:solidFill>
                <a:latin typeface="Arial Narrow" panose="020B0606020202030204" pitchFamily="34" charset="0"/>
              </a:rPr>
              <a:t>0.997</a:t>
            </a:r>
          </a:p>
        </p:txBody>
      </p:sp>
      <p:sp>
        <p:nvSpPr>
          <p:cNvPr id="8" name="Rigor caption 0"/>
          <p:cNvSpPr txBox="1"/>
          <p:nvPr/>
        </p:nvSpPr>
        <p:spPr>
          <a:xfrm>
            <a:off x="713232" y="2798064"/>
            <a:ext cx="1865376" cy="1069848"/>
          </a:xfrm>
          <a:prstGeom prst="rect">
            <a:avLst/>
          </a:prstGeom>
          <a:noFill/>
        </p:spPr>
        <p:txBody>
          <a:bodyPr wrap="square" anchor="t" lIns="0" tIns="0" rIns="0" bIns="0">
            <a:noAutofit/>
          </a:bodyPr>
          <a:lstStyle/>
          <a:p>
            <a:pPr algn="l"/>
            <a:r>
              <a:rPr sz="1200" b="0" i="0">
                <a:solidFill>
                  <a:srgbClr val="0C1A28"/>
                </a:solidFill>
                <a:latin typeface="Arial" panose="020B0604020202020204" pitchFamily="34" charset="0"/>
              </a:rPr>
              <a:t>deflated Sharpe, in sample, N = 3,410 trials</a:t>
            </a:r>
          </a:p>
        </p:txBody>
      </p:sp>
      <p:sp>
        <p:nvSpPr>
          <p:cNvPr id="9" name="Rigor tile 1"/>
          <p:cNvSpPr/>
          <p:nvPr/>
        </p:nvSpPr>
        <p:spPr>
          <a:xfrm>
            <a:off x="2880360" y="1901952"/>
            <a:ext cx="2194560" cy="2057400"/>
          </a:xfrm>
          <a:prstGeom prst="roundRect">
            <a:avLst>
              <a:gd name="adj" fmla="val 355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igor value 1"/>
          <p:cNvSpPr txBox="1"/>
          <p:nvPr/>
        </p:nvSpPr>
        <p:spPr>
          <a:xfrm>
            <a:off x="3044952" y="2011680"/>
            <a:ext cx="1865376" cy="731520"/>
          </a:xfrm>
          <a:prstGeom prst="rect">
            <a:avLst/>
          </a:prstGeom>
          <a:noFill/>
        </p:spPr>
        <p:txBody>
          <a:bodyPr wrap="square" anchor="b" lIns="0" tIns="0" rIns="0" bIns="0">
            <a:noAutofit/>
          </a:bodyPr>
          <a:lstStyle/>
          <a:p>
            <a:pPr algn="l"/>
            <a:r>
              <a:rPr sz="3400" b="1" i="0">
                <a:solidFill>
                  <a:srgbClr val="D1432F"/>
                </a:solidFill>
                <a:latin typeface="Arial Narrow" panose="020B0606020202030204" pitchFamily="34" charset="0"/>
              </a:rPr>
              <a:t>0.075</a:t>
            </a:r>
          </a:p>
        </p:txBody>
      </p:sp>
      <p:sp>
        <p:nvSpPr>
          <p:cNvPr id="11" name="Rigor caption 1"/>
          <p:cNvSpPr txBox="1"/>
          <p:nvPr/>
        </p:nvSpPr>
        <p:spPr>
          <a:xfrm>
            <a:off x="3044952" y="2798064"/>
            <a:ext cx="1865376" cy="1069848"/>
          </a:xfrm>
          <a:prstGeom prst="rect">
            <a:avLst/>
          </a:prstGeom>
          <a:noFill/>
        </p:spPr>
        <p:txBody>
          <a:bodyPr wrap="square" anchor="t" lIns="0" tIns="0" rIns="0" bIns="0">
            <a:noAutofit/>
          </a:bodyPr>
          <a:lstStyle/>
          <a:p>
            <a:pPr algn="l"/>
            <a:r>
              <a:rPr sz="1200" b="0" i="0">
                <a:solidFill>
                  <a:srgbClr val="0C1A28"/>
                </a:solidFill>
                <a:latin typeface="Arial" panose="020B0604020202020204" pitchFamily="34" charset="0"/>
              </a:rPr>
              <a:t>deflated Sharpe, burned OOS at N = 3,410 (0.481 at N = 44): 40 days can't rule out luck</a:t>
            </a:r>
          </a:p>
        </p:txBody>
      </p:sp>
      <p:sp>
        <p:nvSpPr>
          <p:cNvPr id="12" name="Rigor tile 2"/>
          <p:cNvSpPr/>
          <p:nvPr/>
        </p:nvSpPr>
        <p:spPr>
          <a:xfrm>
            <a:off x="548640" y="4096512"/>
            <a:ext cx="2194560" cy="2057400"/>
          </a:xfrm>
          <a:prstGeom prst="roundRect">
            <a:avLst>
              <a:gd name="adj" fmla="val 355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igor value 2"/>
          <p:cNvSpPr txBox="1"/>
          <p:nvPr/>
        </p:nvSpPr>
        <p:spPr>
          <a:xfrm>
            <a:off x="713232" y="4206240"/>
            <a:ext cx="1865376" cy="731520"/>
          </a:xfrm>
          <a:prstGeom prst="rect">
            <a:avLst/>
          </a:prstGeom>
          <a:noFill/>
        </p:spPr>
        <p:txBody>
          <a:bodyPr wrap="square" anchor="b" lIns="0" tIns="0" rIns="0" bIns="0">
            <a:noAutofit/>
          </a:bodyPr>
          <a:lstStyle/>
          <a:p>
            <a:pPr algn="l"/>
            <a:r>
              <a:rPr sz="3400" b="1" i="0">
                <a:solidFill>
                  <a:srgbClr val="27598B"/>
                </a:solidFill>
                <a:latin typeface="Arial Narrow" panose="020B0606020202030204" pitchFamily="34" charset="0"/>
              </a:rPr>
              <a:t>15.4%</a:t>
            </a:r>
          </a:p>
        </p:txBody>
      </p:sp>
      <p:sp>
        <p:nvSpPr>
          <p:cNvPr id="14" name="Rigor caption 2"/>
          <p:cNvSpPr txBox="1"/>
          <p:nvPr/>
        </p:nvSpPr>
        <p:spPr>
          <a:xfrm>
            <a:off x="713232" y="4992624"/>
            <a:ext cx="1865376" cy="1069848"/>
          </a:xfrm>
          <a:prstGeom prst="rect">
            <a:avLst/>
          </a:prstGeom>
          <a:noFill/>
        </p:spPr>
        <p:txBody>
          <a:bodyPr wrap="square" anchor="t" lIns="0" tIns="0" rIns="0" bIns="0">
            <a:noAutofit/>
          </a:bodyPr>
          <a:lstStyle/>
          <a:p>
            <a:pPr algn="l"/>
            <a:r>
              <a:rPr sz="1200" b="0" i="0">
                <a:solidFill>
                  <a:srgbClr val="0C1A28"/>
                </a:solidFill>
                <a:latin typeface="Arial" panose="020B0604020202020204" pitchFamily="34" charset="0"/>
              </a:rPr>
              <a:t>probability of backtest overfitting, v2-safe grid (0.0% on the sizing grid)</a:t>
            </a:r>
          </a:p>
        </p:txBody>
      </p:sp>
      <p:sp>
        <p:nvSpPr>
          <p:cNvPr id="15" name="Rigor tile 3"/>
          <p:cNvSpPr/>
          <p:nvPr/>
        </p:nvSpPr>
        <p:spPr>
          <a:xfrm>
            <a:off x="2880360" y="4096512"/>
            <a:ext cx="2194560" cy="2057400"/>
          </a:xfrm>
          <a:prstGeom prst="roundRect">
            <a:avLst>
              <a:gd name="adj" fmla="val 355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igor value 3"/>
          <p:cNvSpPr txBox="1"/>
          <p:nvPr/>
        </p:nvSpPr>
        <p:spPr>
          <a:xfrm>
            <a:off x="3044952" y="4206240"/>
            <a:ext cx="1865376" cy="731520"/>
          </a:xfrm>
          <a:prstGeom prst="rect">
            <a:avLst/>
          </a:prstGeom>
          <a:noFill/>
        </p:spPr>
        <p:txBody>
          <a:bodyPr wrap="square" anchor="b" lIns="0" tIns="0" rIns="0" bIns="0">
            <a:noAutofit/>
          </a:bodyPr>
          <a:lstStyle/>
          <a:p>
            <a:pPr algn="l"/>
            <a:r>
              <a:rPr sz="2400" b="1" i="0">
                <a:solidFill>
                  <a:srgbClr val="0C1A28"/>
                </a:solidFill>
                <a:latin typeface="Arial Narrow" panose="020B0606020202030204" pitchFamily="34" charset="0"/>
              </a:rPr>
              <a:t>[1.9, 12.3]</a:t>
            </a:r>
          </a:p>
        </p:txBody>
      </p:sp>
      <p:sp>
        <p:nvSpPr>
          <p:cNvPr id="17" name="Rigor caption 3"/>
          <p:cNvSpPr txBox="1"/>
          <p:nvPr/>
        </p:nvSpPr>
        <p:spPr>
          <a:xfrm>
            <a:off x="3044952" y="4992624"/>
            <a:ext cx="1865376" cy="1069848"/>
          </a:xfrm>
          <a:prstGeom prst="rect">
            <a:avLst/>
          </a:prstGeom>
          <a:noFill/>
        </p:spPr>
        <p:txBody>
          <a:bodyPr wrap="square" anchor="t" lIns="0" tIns="0" rIns="0" bIns="0">
            <a:noAutofit/>
          </a:bodyPr>
          <a:lstStyle/>
          <a:p>
            <a:pPr algn="l"/>
            <a:r>
              <a:rPr sz="1200" b="0" i="0">
                <a:solidFill>
                  <a:srgbClr val="0C1A28"/>
                </a:solidFill>
                <a:latin typeface="Arial" panose="020B0604020202020204" pitchFamily="34" charset="0"/>
              </a:rPr>
              <a:t>block-bootstrap 95% CI of the burned-OOS Sharpe</a:t>
            </a:r>
          </a:p>
        </p:txBody>
      </p:sp>
      <p:sp>
        <p:nvSpPr>
          <p:cNvPr id="18" name="Label: TESTS, IN THE ORDER WE R"/>
          <p:cNvSpPr txBox="1"/>
          <p:nvPr/>
        </p:nvSpPr>
        <p:spPr>
          <a:xfrm>
            <a:off x="5440680" y="1572768"/>
            <a:ext cx="6202375" cy="274320"/>
          </a:xfrm>
          <a:prstGeom prst="rect">
            <a:avLst/>
          </a:prstGeom>
          <a:noFill/>
        </p:spPr>
        <p:txBody>
          <a:bodyPr wrap="square" anchor="ctr" lIns="0" tIns="0" rIns="0" bIns="0">
            <a:noAutofit/>
          </a:bodyPr>
          <a:lstStyle/>
          <a:p>
            <a:pPr algn="l"/>
            <a:r>
              <a:rPr sz="1200" b="1" i="0" spc="140">
                <a:solidFill>
                  <a:srgbClr val="27598B"/>
                </a:solidFill>
                <a:latin typeface="Arial" panose="020B0604020202020204" pitchFamily="34" charset="0"/>
              </a:rPr>
              <a:t>TESTS, IN THE ORDER WE RAN THEM</a:t>
            </a:r>
          </a:p>
        </p:txBody>
      </p:sp>
      <p:graphicFrame>
        <p:nvGraphicFramePr>
          <p:cNvPr id="19" name="Table: tests"/>
          <p:cNvGraphicFramePr>
            <a:graphicFrameLocks noGrp="1"/>
          </p:cNvGraphicFramePr>
          <p:nvPr/>
        </p:nvGraphicFramePr>
        <p:xfrm>
          <a:off x="5440680" y="1828800"/>
          <a:ext cx="6202375" cy="3867912"/>
        </p:xfrm>
        <a:graphic>
          <a:graphicData uri="http://schemas.openxmlformats.org/drawingml/2006/table">
            <a:tbl>
              <a:tblPr>
                <a:tableStyleId>{2D5ABB26-0587-4C30-8999-92F81FD0307C}</a:tableStyleId>
              </a:tblPr>
              <a:tblGrid>
                <a:gridCol w="2681935"/>
                <a:gridCol w="2377440"/>
                <a:gridCol w="1143000"/>
              </a:tblGrid>
              <a:tr h="329184">
                <a:tc>
                  <a:txBody>
                    <a:bodyPr wrap="square"/>
                    <a:lstStyle/>
                    <a:p>
                      <a:pPr algn="l"/>
                      <a:r>
                        <a:rPr sz="1200" b="1" i="0">
                          <a:solidFill>
                            <a:srgbClr val="FFFFFF"/>
                          </a:solidFill>
                          <a:latin typeface="Arial" panose="020B0604020202020204" pitchFamily="34" charset="0"/>
                        </a:rPr>
                        <a:t>Test</a:t>
                      </a:r>
                    </a:p>
                  </a:txBody>
                  <a:tcPr marL="91440" marR="91440" marT="27432" marB="27432" anchor="ctr">
                    <a:lnL w="9525">
                      <a:noFill/>
                    </a:lnL>
                    <a:lnR w="9525">
                      <a:noFill/>
                    </a:lnR>
                    <a:lnT w="9525">
                      <a:noFill/>
                    </a:lnT>
                    <a:lnB w="9525">
                      <a:solidFill>
                        <a:srgbClr val="D3DCE5"/>
                      </a:solidFill>
                    </a:lnB>
                    <a:solidFill>
                      <a:srgbClr val="0C1A28"/>
                    </a:solidFill>
                  </a:tcPr>
                </a:tc>
                <a:tc>
                  <a:txBody>
                    <a:bodyPr wrap="square"/>
                    <a:lstStyle/>
                    <a:p>
                      <a:pPr algn="l"/>
                      <a:r>
                        <a:rPr sz="1200" b="1" i="0">
                          <a:solidFill>
                            <a:srgbClr val="FFFFFF"/>
                          </a:solidFill>
                          <a:latin typeface="Arial" panose="020B0604020202020204" pitchFamily="34" charset="0"/>
                        </a:rPr>
                        <a:t>Result (¢/share, 95% CI)</a:t>
                      </a:r>
                    </a:p>
                  </a:txBody>
                  <a:tcPr marL="91440" marR="91440" marT="27432" marB="27432" anchor="ctr">
                    <a:lnL w="9525">
                      <a:noFill/>
                    </a:lnL>
                    <a:lnR w="9525">
                      <a:noFill/>
                    </a:lnR>
                    <a:lnT w="9525">
                      <a:noFill/>
                    </a:lnT>
                    <a:lnB w="9525">
                      <a:solidFill>
                        <a:srgbClr val="D3DCE5"/>
                      </a:solidFill>
                    </a:lnB>
                    <a:solidFill>
                      <a:srgbClr val="0C1A28"/>
                    </a:solidFill>
                  </a:tcPr>
                </a:tc>
                <a:tc>
                  <a:txBody>
                    <a:bodyPr wrap="square"/>
                    <a:lstStyle/>
                    <a:p>
                      <a:pPr algn="l"/>
                      <a:r>
                        <a:rPr sz="1200" b="1" i="0">
                          <a:solidFill>
                            <a:srgbClr val="FFFFFF"/>
                          </a:solidFill>
                          <a:latin typeface="Arial" panose="020B0604020202020204" pitchFamily="34" charset="0"/>
                        </a:rPr>
                        <a:t>Verdict</a:t>
                      </a:r>
                    </a:p>
                  </a:txBody>
                  <a:tcPr marL="91440" marR="91440" marT="27432" marB="27432" anchor="ctr">
                    <a:lnL w="9525">
                      <a:noFill/>
                    </a:lnL>
                    <a:lnR w="9525">
                      <a:noFill/>
                    </a:lnR>
                    <a:lnT w="9525">
                      <a:noFill/>
                    </a:lnT>
                    <a:lnB w="9525">
                      <a:solidFill>
                        <a:srgbClr val="D3DCE5"/>
                      </a:solidFill>
                    </a:lnB>
                    <a:solidFill>
                      <a:srgbClr val="0C1A28"/>
                    </a:solidFill>
                  </a:tcPr>
                </a:tc>
              </a:tr>
              <a:tr h="393192">
                <a:tc>
                  <a:txBody>
                    <a:bodyPr wrap="square"/>
                    <a:lstStyle/>
                    <a:p>
                      <a:pPr algn="l"/>
                      <a:r>
                        <a:rPr sz="1100" b="0" i="0">
                          <a:solidFill>
                            <a:srgbClr val="0C1A28"/>
                          </a:solidFill>
                          <a:latin typeface="Arial" panose="020B0604020202020204" pitchFamily="34" charset="0"/>
                        </a:rPr>
                        <a:t>Fast tier, walk-forward, OOS months</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0" i="0">
                          <a:solidFill>
                            <a:srgbClr val="0C1A28"/>
                          </a:solidFill>
                          <a:latin typeface="Arial" panose="020B0604020202020204" pitchFamily="34" charset="0"/>
                        </a:rPr>
                        <a:t>3/3 months &gt; 0</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1" i="0">
                          <a:solidFill>
                            <a:srgbClr val="27598B"/>
                          </a:solidFill>
                          <a:latin typeface="Arial" panose="020B0604020202020204" pitchFamily="34" charset="0"/>
                        </a:rPr>
                        <a:t>PASS</a:t>
                      </a:r>
                    </a:p>
                  </a:txBody>
                  <a:tcPr marL="91440" marR="91440" marT="27432" marB="27432" anchor="ctr">
                    <a:lnL w="9525">
                      <a:noFill/>
                    </a:lnL>
                    <a:lnR w="9525">
                      <a:noFill/>
                    </a:lnR>
                    <a:lnT w="9525">
                      <a:noFill/>
                    </a:lnT>
                    <a:lnB w="9525">
                      <a:solidFill>
                        <a:srgbClr val="D3DCE5"/>
                      </a:solidFill>
                    </a:lnB>
                    <a:solidFill>
                      <a:srgbClr val="E4ECF4"/>
                    </a:solidFill>
                  </a:tcPr>
                </a:tc>
              </a:tr>
              <a:tr h="393192">
                <a:tc>
                  <a:txBody>
                    <a:bodyPr wrap="square"/>
                    <a:lstStyle/>
                    <a:p>
                      <a:pPr algn="l"/>
                      <a:r>
                        <a:rPr sz="1100" b="0" i="0">
                          <a:solidFill>
                            <a:srgbClr val="0C1A28"/>
                          </a:solidFill>
                          <a:latin typeface="Arial" panose="020B0604020202020204" pitchFamily="34" charset="0"/>
                        </a:rPr>
                        <a:t>v2, burned OOS (non-blind)</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0" i="0">
                          <a:solidFill>
                            <a:srgbClr val="0C1A28"/>
                          </a:solidFill>
                          <a:latin typeface="Arial" panose="020B0604020202020204" pitchFamily="34" charset="0"/>
                        </a:rPr>
                        <a:t>+0.60¢ [0.09, 1.13]</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1" i="0">
                          <a:solidFill>
                            <a:srgbClr val="566676"/>
                          </a:solidFill>
                          <a:latin typeface="Arial" panose="020B0604020202020204" pitchFamily="34" charset="0"/>
                        </a:rPr>
                        <a:t>POSITIVE</a:t>
                      </a:r>
                    </a:p>
                  </a:txBody>
                  <a:tcPr marL="91440" marR="91440" marT="27432" marB="27432" anchor="ctr">
                    <a:lnL w="9525">
                      <a:noFill/>
                    </a:lnL>
                    <a:lnR w="9525">
                      <a:noFill/>
                    </a:lnR>
                    <a:lnT w="9525">
                      <a:noFill/>
                    </a:lnT>
                    <a:lnB w="9525">
                      <a:solidFill>
                        <a:srgbClr val="D3DCE5"/>
                      </a:solidFill>
                    </a:lnB>
                    <a:noFill/>
                  </a:tcPr>
                </a:tc>
              </a:tr>
              <a:tr h="393192">
                <a:tc>
                  <a:txBody>
                    <a:bodyPr wrap="square"/>
                    <a:lstStyle/>
                    <a:p>
                      <a:pPr algn="l"/>
                      <a:r>
                        <a:rPr sz="1100" b="0" i="0">
                          <a:solidFill>
                            <a:srgbClr val="0C1A28"/>
                          </a:solidFill>
                          <a:latin typeface="Arial" panose="020B0604020202020204" pitchFamily="34" charset="0"/>
                        </a:rPr>
                        <a:t>v2, burned OOS, fees ×2</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0" i="0">
                          <a:solidFill>
                            <a:srgbClr val="0C1A28"/>
                          </a:solidFill>
                          <a:latin typeface="Arial" panose="020B0604020202020204" pitchFamily="34" charset="0"/>
                        </a:rPr>
                        <a:t>−0.34¢ [−0.86, 0.19]</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1" i="0">
                          <a:solidFill>
                            <a:srgbClr val="D1432F"/>
                          </a:solidFill>
                          <a:latin typeface="Arial" panose="020B0604020202020204" pitchFamily="34" charset="0"/>
                        </a:rPr>
                        <a:t>NEGATIVE</a:t>
                      </a:r>
                    </a:p>
                  </a:txBody>
                  <a:tcPr marL="91440" marR="91440" marT="27432" marB="27432" anchor="ctr">
                    <a:lnL w="9525">
                      <a:noFill/>
                    </a:lnL>
                    <a:lnR w="9525">
                      <a:noFill/>
                    </a:lnR>
                    <a:lnT w="9525">
                      <a:noFill/>
                    </a:lnT>
                    <a:lnB w="9525">
                      <a:solidFill>
                        <a:srgbClr val="D3DCE5"/>
                      </a:solidFill>
                    </a:lnB>
                    <a:solidFill>
                      <a:srgbClr val="FBEAE6"/>
                    </a:solidFill>
                  </a:tcPr>
                </a:tc>
              </a:tr>
              <a:tr h="393192">
                <a:tc>
                  <a:txBody>
                    <a:bodyPr wrap="square"/>
                    <a:lstStyle/>
                    <a:p>
                      <a:pPr algn="l"/>
                      <a:r>
                        <a:rPr sz="1100" b="0" i="0">
                          <a:solidFill>
                            <a:srgbClr val="0C1A28"/>
                          </a:solidFill>
                          <a:latin typeface="Arial" panose="020B0604020202020204" pitchFamily="34" charset="0"/>
                        </a:rPr>
                        <a:t>Blind: v2 on unseen markets, IS period</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0" i="0">
                          <a:solidFill>
                            <a:srgbClr val="0C1A28"/>
                          </a:solidFill>
                          <a:latin typeface="Arial" panose="020B0604020202020204" pitchFamily="34" charset="0"/>
                        </a:rPr>
                        <a:t>+2.02¢ [1.14, 2.93]</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1" i="0">
                          <a:solidFill>
                            <a:srgbClr val="27598B"/>
                          </a:solidFill>
                          <a:latin typeface="Arial" panose="020B0604020202020204" pitchFamily="34" charset="0"/>
                        </a:rPr>
                        <a:t>PASS</a:t>
                      </a:r>
                    </a:p>
                  </a:txBody>
                  <a:tcPr marL="91440" marR="91440" marT="27432" marB="27432" anchor="ctr">
                    <a:lnL w="9525">
                      <a:noFill/>
                    </a:lnL>
                    <a:lnR w="9525">
                      <a:noFill/>
                    </a:lnR>
                    <a:lnT w="9525">
                      <a:noFill/>
                    </a:lnT>
                    <a:lnB w="9525">
                      <a:solidFill>
                        <a:srgbClr val="D3DCE5"/>
                      </a:solidFill>
                    </a:lnB>
                    <a:solidFill>
                      <a:srgbClr val="E4ECF4"/>
                    </a:solidFill>
                  </a:tcPr>
                </a:tc>
              </a:tr>
              <a:tr h="393192">
                <a:tc>
                  <a:txBody>
                    <a:bodyPr wrap="square"/>
                    <a:lstStyle/>
                    <a:p>
                      <a:pPr algn="l"/>
                      <a:r>
                        <a:rPr sz="1100" b="0" i="0">
                          <a:solidFill>
                            <a:srgbClr val="0C1A28"/>
                          </a:solidFill>
                          <a:latin typeface="Arial" panose="020B0604020202020204" pitchFamily="34" charset="0"/>
                        </a:rPr>
                        <a:t>Blind: v2 on unseen markets, OOS period</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0" i="0">
                          <a:solidFill>
                            <a:srgbClr val="0C1A28"/>
                          </a:solidFill>
                          <a:latin typeface="Arial" panose="020B0604020202020204" pitchFamily="34" charset="0"/>
                        </a:rPr>
                        <a:t>+1.22¢ [−0.19, 2.65]</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1" i="0">
                          <a:solidFill>
                            <a:srgbClr val="D1432F"/>
                          </a:solidFill>
                          <a:latin typeface="Arial" panose="020B0604020202020204" pitchFamily="34" charset="0"/>
                        </a:rPr>
                        <a:t>FAIL</a:t>
                      </a:r>
                    </a:p>
                  </a:txBody>
                  <a:tcPr marL="91440" marR="91440" marT="27432" marB="27432" anchor="ctr">
                    <a:lnL w="9525">
                      <a:noFill/>
                    </a:lnL>
                    <a:lnR w="9525">
                      <a:noFill/>
                    </a:lnR>
                    <a:lnT w="9525">
                      <a:noFill/>
                    </a:lnT>
                    <a:lnB w="9525">
                      <a:solidFill>
                        <a:srgbClr val="D3DCE5"/>
                      </a:solidFill>
                    </a:lnB>
                    <a:solidFill>
                      <a:srgbClr val="FBEAE6"/>
                    </a:solidFill>
                  </a:tcPr>
                </a:tc>
              </a:tr>
              <a:tr h="393192">
                <a:tc>
                  <a:txBody>
                    <a:bodyPr wrap="square"/>
                    <a:lstStyle/>
                    <a:p>
                      <a:pPr algn="l"/>
                      <a:r>
                        <a:rPr sz="1100" b="0" i="0">
                          <a:solidFill>
                            <a:srgbClr val="0C1A28"/>
                          </a:solidFill>
                          <a:latin typeface="Arial" panose="020B0604020202020204" pitchFamily="34" charset="0"/>
                        </a:rPr>
                        <a:t>Blind: maker v1, side markets, OOS</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0" i="0">
                          <a:solidFill>
                            <a:srgbClr val="0C1A28"/>
                          </a:solidFill>
                          <a:latin typeface="Arial" panose="020B0604020202020204" pitchFamily="34" charset="0"/>
                        </a:rPr>
                        <a:t>+1.87¢ [−0.14, 3.86], −$379</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1" i="0">
                          <a:solidFill>
                            <a:srgbClr val="D1432F"/>
                          </a:solidFill>
                          <a:latin typeface="Arial" panose="020B0604020202020204" pitchFamily="34" charset="0"/>
                        </a:rPr>
                        <a:t>FAIL</a:t>
                      </a:r>
                    </a:p>
                  </a:txBody>
                  <a:tcPr marL="91440" marR="91440" marT="27432" marB="27432" anchor="ctr">
                    <a:lnL w="9525">
                      <a:noFill/>
                    </a:lnL>
                    <a:lnR w="9525">
                      <a:noFill/>
                    </a:lnR>
                    <a:lnT w="9525">
                      <a:noFill/>
                    </a:lnT>
                    <a:lnB w="9525">
                      <a:solidFill>
                        <a:srgbClr val="D3DCE5"/>
                      </a:solidFill>
                    </a:lnB>
                    <a:solidFill>
                      <a:srgbClr val="FBEAE6"/>
                    </a:solidFill>
                  </a:tcPr>
                </a:tc>
              </a:tr>
              <a:tr h="393192">
                <a:tc>
                  <a:txBody>
                    <a:bodyPr wrap="square"/>
                    <a:lstStyle/>
                    <a:p>
                      <a:pPr algn="l"/>
                      <a:r>
                        <a:rPr sz="1100" b="0" i="0">
                          <a:solidFill>
                            <a:srgbClr val="0C1A28"/>
                          </a:solidFill>
                          <a:latin typeface="Arial" panose="020B0604020202020204" pitchFamily="34" charset="0"/>
                        </a:rPr>
                        <a:t>Tier-0 v3, frozen (counterfactual*): unseen markets IS / OOS; burned OOS</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0" i="0">
                          <a:solidFill>
                            <a:srgbClr val="0C1A28"/>
                          </a:solidFill>
                          <a:latin typeface="Arial" panose="020B0604020202020204" pitchFamily="34" charset="0"/>
                        </a:rPr>
                        <a:t>−0.22¢ / −0.52¢; burned +0.68¢ [−0.44, 1.74]</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1" i="0">
                          <a:solidFill>
                            <a:srgbClr val="D1432F"/>
                          </a:solidFill>
                          <a:latin typeface="Arial" panose="020B0604020202020204" pitchFamily="34" charset="0"/>
                        </a:rPr>
                        <a:t>FAIL</a:t>
                      </a:r>
                    </a:p>
                  </a:txBody>
                  <a:tcPr marL="91440" marR="91440" marT="27432" marB="27432" anchor="ctr">
                    <a:lnL w="9525">
                      <a:noFill/>
                    </a:lnL>
                    <a:lnR w="9525">
                      <a:noFill/>
                    </a:lnR>
                    <a:lnT w="9525">
                      <a:noFill/>
                    </a:lnT>
                    <a:lnB w="9525">
                      <a:solidFill>
                        <a:srgbClr val="D3DCE5"/>
                      </a:solidFill>
                    </a:lnB>
                    <a:solidFill>
                      <a:srgbClr val="FBEAE6"/>
                    </a:solidFill>
                  </a:tcPr>
                </a:tc>
              </a:tr>
              <a:tr h="393192">
                <a:tc>
                  <a:txBody>
                    <a:bodyPr wrap="square"/>
                    <a:lstStyle/>
                    <a:p>
                      <a:pPr algn="l"/>
                      <a:r>
                        <a:rPr sz="1100" b="0" i="0">
                          <a:solidFill>
                            <a:srgbClr val="0C1A28"/>
                          </a:solidFill>
                          <a:latin typeface="Arial" panose="020B0604020202020204" pitchFamily="34" charset="0"/>
                        </a:rPr>
                        <a:t>Table tennis, same mechanism (TT1–TT3)</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0" i="0">
                          <a:solidFill>
                            <a:srgbClr val="0C1A28"/>
                          </a:solidFill>
                          <a:latin typeface="Arial" panose="020B0604020202020204" pitchFamily="34" charset="0"/>
                        </a:rPr>
                        <a:t>no fast tier, no trades</a:t>
                      </a:r>
                    </a:p>
                  </a:txBody>
                  <a:tcPr marL="91440" marR="91440" marT="27432" marB="27432" anchor="ctr">
                    <a:lnL w="9525">
                      <a:noFill/>
                    </a:lnL>
                    <a:lnR w="9525">
                      <a:noFill/>
                    </a:lnR>
                    <a:lnT w="9525">
                      <a:noFill/>
                    </a:lnT>
                    <a:lnB w="9525">
                      <a:solidFill>
                        <a:srgbClr val="D3DCE5"/>
                      </a:solidFill>
                    </a:lnB>
                    <a:noFill/>
                  </a:tcPr>
                </a:tc>
                <a:tc>
                  <a:txBody>
                    <a:bodyPr wrap="square"/>
                    <a:lstStyle/>
                    <a:p>
                      <a:pPr algn="l"/>
                      <a:r>
                        <a:rPr sz="1100" b="1" i="0">
                          <a:solidFill>
                            <a:srgbClr val="D1432F"/>
                          </a:solidFill>
                          <a:latin typeface="Arial" panose="020B0604020202020204" pitchFamily="34" charset="0"/>
                        </a:rPr>
                        <a:t>FAIL</a:t>
                      </a:r>
                    </a:p>
                  </a:txBody>
                  <a:tcPr marL="91440" marR="91440" marT="27432" marB="27432" anchor="ctr">
                    <a:lnL w="9525">
                      <a:noFill/>
                    </a:lnL>
                    <a:lnR w="9525">
                      <a:noFill/>
                    </a:lnR>
                    <a:lnT w="9525">
                      <a:noFill/>
                    </a:lnT>
                    <a:lnB w="9525">
                      <a:solidFill>
                        <a:srgbClr val="D3DCE5"/>
                      </a:solidFill>
                    </a:lnB>
                    <a:solidFill>
                      <a:srgbClr val="FBEAE6"/>
                    </a:solidFill>
                  </a:tcPr>
                </a:tc>
              </a:tr>
              <a:tr h="393192">
                <a:tc>
                  <a:txBody>
                    <a:bodyPr wrap="square"/>
                    <a:lstStyle/>
                    <a:p>
                      <a:pPr algn="l"/>
                      <a:r>
                        <a:rPr sz="1100" b="0" i="0">
                          <a:solidFill>
                            <a:srgbClr val="0C1A28"/>
                          </a:solidFill>
                          <a:latin typeface="Arial" panose="020B0604020202020204" pitchFamily="34" charset="0"/>
                        </a:rPr>
                        <a:t>Blind forward test (run once)</a:t>
                      </a:r>
                    </a:p>
                  </a:txBody>
                  <a:tcPr marL="91440" marR="91440" marT="27432" marB="27432" anchor="ctr">
                    <a:lnL w="9525">
                      <a:noFill/>
                    </a:lnL>
                    <a:lnR w="9525">
                      <a:noFill/>
                    </a:lnR>
                    <a:lnT w="9525">
                      <a:noFill/>
                    </a:lnT>
                    <a:lnB w="9525">
                      <a:noFill/>
                    </a:lnB>
                    <a:noFill/>
                  </a:tcPr>
                </a:tc>
                <a:tc>
                  <a:txBody>
                    <a:bodyPr wrap="square"/>
                    <a:lstStyle/>
                    <a:p>
                      <a:pPr algn="l"/>
                      <a:r>
                        <a:rPr sz="1100" b="0" i="0">
                          <a:solidFill>
                            <a:srgbClr val="0C1A28"/>
                          </a:solidFill>
                          <a:latin typeface="Arial" panose="020B0604020202020204" pitchFamily="34" charset="0"/>
                        </a:rPr>
                        <a:t>planned 2026-10-04 11:30 UTC</a:t>
                      </a:r>
                    </a:p>
                  </a:txBody>
                  <a:tcPr marL="91440" marR="91440" marT="27432" marB="27432" anchor="ctr">
                    <a:lnL w="9525">
                      <a:noFill/>
                    </a:lnL>
                    <a:lnR w="9525">
                      <a:noFill/>
                    </a:lnR>
                    <a:lnT w="9525">
                      <a:noFill/>
                    </a:lnT>
                    <a:lnB w="9525">
                      <a:noFill/>
                    </a:lnB>
                    <a:noFill/>
                  </a:tcPr>
                </a:tc>
                <a:tc>
                  <a:txBody>
                    <a:bodyPr wrap="square"/>
                    <a:lstStyle/>
                    <a:p>
                      <a:pPr algn="l"/>
                      <a:r>
                        <a:rPr sz="1100" b="1" i="0">
                          <a:solidFill>
                            <a:srgbClr val="566676"/>
                          </a:solidFill>
                          <a:latin typeface="Arial" panose="020B0604020202020204" pitchFamily="34" charset="0"/>
                        </a:rPr>
                        <a:t>pending</a:t>
                      </a:r>
                    </a:p>
                  </a:txBody>
                  <a:tcPr marL="91440" marR="91440" marT="27432" marB="27432" anchor="ctr">
                    <a:lnL w="9525">
                      <a:noFill/>
                    </a:lnL>
                    <a:lnR w="9525">
                      <a:noFill/>
                    </a:lnR>
                    <a:lnT w="9525">
                      <a:noFill/>
                    </a:lnT>
                    <a:lnB w="9525">
                      <a:noFill/>
                    </a:lnB>
                    <a:noFill/>
                  </a:tcPr>
                </a:tc>
              </a:tr>
            </a:tbl>
          </a:graphicData>
        </a:graphic>
      </p:graphicFrame>
      <p:sp>
        <p:nvSpPr>
          <p:cNvPr id="20" name="Peeks note"/>
          <p:cNvSpPr txBox="1"/>
          <p:nvPr/>
        </p:nvSpPr>
        <p:spPr>
          <a:xfrm>
            <a:off x="5440680" y="5815584"/>
            <a:ext cx="6202375" cy="566928"/>
          </a:xfrm>
          <a:prstGeom prst="rect">
            <a:avLst/>
          </a:prstGeom>
          <a:noFill/>
        </p:spPr>
        <p:txBody>
          <a:bodyPr wrap="square" anchor="t" lIns="0" tIns="0" rIns="0" bIns="0">
            <a:noAutofit/>
          </a:bodyPr>
          <a:lstStyle/>
          <a:p>
            <a:pPr algn="l"/>
            <a:r>
              <a:rPr sz="1050" b="0" i="0">
                <a:solidFill>
                  <a:srgbClr val="566676"/>
                </a:solidFill>
                <a:latin typeface="Arial" panose="020B0604020202020204" pitchFamily="34" charset="0"/>
              </a:rPr>
              <a:t>Every look at held-out data is logged (77 lines at build time). Failures stay in the record.</a:t>
            </a:r>
          </a:p>
          <a:p>
            <a:pPr algn="l"/>
            <a:r>
              <a:rPr sz="950" b="0" i="0">
                <a:solidFill>
                  <a:srgbClr val="D1432F"/>
                </a:solidFill>
                <a:latin typeface="Arial" panose="020B0604020202020204" pitchFamily="34" charset="0"/>
              </a:rPr>
              <a:t>* SIMULATED: assumed 1 s licensed feed (not purchased); parameters measured; trade set = points that later moved ≥ 4¢ (selected on outcomes, not ex ante)</a:t>
            </a:r>
          </a:p>
        </p:txBody>
      </p:sp>
      <p:sp>
        <p:nvSpPr>
          <p:cNvPr id="21"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22"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6</a:t>
            </a:fld>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600" b="1" i="0">
                <a:solidFill>
                  <a:srgbClr val="0C1A28"/>
                </a:solidFill>
                <a:latin typeface="Arial Narrow" panose="020B0606020202030204" pitchFamily="34" charset="0"/>
              </a:rPr>
              <a:t>The 1 s baseline: break-even, and one unmeasured number</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06  ·  WHAT SPEED IS WORTH (SIMULATED)</a:t>
            </a:r>
          </a:p>
        </p:txBody>
      </p:sp>
      <p:sp>
        <p:nvSpPr>
          <p:cNvPr id="5" name="Simulated banner"/>
          <p:cNvSpPr/>
          <p:nvPr/>
        </p:nvSpPr>
        <p:spPr>
          <a:xfrm>
            <a:off x="548640" y="1481328"/>
            <a:ext cx="11094415" cy="457200"/>
          </a:xfrm>
          <a:prstGeom prst="roundRect">
            <a:avLst>
              <a:gd name="adj" fmla="val 12000"/>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imulated label"/>
          <p:cNvSpPr txBox="1"/>
          <p:nvPr/>
        </p:nvSpPr>
        <p:spPr>
          <a:xfrm>
            <a:off x="731520" y="1481328"/>
            <a:ext cx="10728655" cy="457200"/>
          </a:xfrm>
          <a:prstGeom prst="rect">
            <a:avLst/>
          </a:prstGeom>
          <a:noFill/>
        </p:spPr>
        <p:txBody>
          <a:bodyPr wrap="square" anchor="ctr" lIns="0" tIns="0" rIns="0" bIns="0">
            <a:noAutofit/>
          </a:bodyPr>
          <a:lstStyle/>
          <a:p>
            <a:pPr algn="l"/>
            <a:r>
              <a:rPr sz="1150" b="1" i="0">
                <a:solidFill>
                  <a:srgbClr val="FFFFFF"/>
                </a:solidFill>
                <a:latin typeface="Arial" panose="020B0604020202020204" pitchFamily="34" charset="0"/>
              </a:rPr>
              <a:t>SIMULATED: assumed 1 s licensed feed (not purchased); parameters measured; trade set = points that later moved ≥ 4¢ (selected on outcomes, not ex ante)</a:t>
            </a:r>
          </a:p>
        </p:txBody>
      </p:sp>
      <p:sp>
        <p:nvSpPr>
          <p:cNvPr id="7" name="Reading card 0"/>
          <p:cNvSpPr/>
          <p:nvPr/>
        </p:nvSpPr>
        <p:spPr>
          <a:xfrm>
            <a:off x="548640" y="2075688"/>
            <a:ext cx="4160520" cy="1024128"/>
          </a:xfrm>
          <a:prstGeom prst="roundRect">
            <a:avLst>
              <a:gd name="adj" fmla="val 7142"/>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ading text 0"/>
          <p:cNvSpPr txBox="1"/>
          <p:nvPr/>
        </p:nvSpPr>
        <p:spPr>
          <a:xfrm>
            <a:off x="731520" y="2121408"/>
            <a:ext cx="3840480" cy="932688"/>
          </a:xfrm>
          <a:prstGeom prst="rect">
            <a:avLst/>
          </a:prstGeom>
          <a:noFill/>
        </p:spPr>
        <p:txBody>
          <a:bodyPr wrap="square" anchor="ctr" lIns="0" tIns="0" rIns="0" bIns="0">
            <a:noAutofit/>
          </a:bodyPr>
          <a:lstStyle/>
          <a:p>
            <a:pPr algn="l"/>
            <a:r>
              <a:rPr sz="950" b="1" i="0" spc="100">
                <a:solidFill>
                  <a:srgbClr val="27598B"/>
                </a:solidFill>
                <a:latin typeface="Arial" panose="020B0604020202020204" pitchFamily="34" charset="0"/>
              </a:rPr>
              <a:t>1  PRE-REGISTERED · STAMP LAG 2.0 s</a:t>
            </a:r>
          </a:p>
          <a:p>
            <a:pPr algn="l">
              <a:lnSpc>
                <a:spcPct val="95000"/>
              </a:lnSpc>
            </a:pPr>
            <a:r>
              <a:rPr sz="2200" b="1" i="0">
                <a:solidFill>
                  <a:srgbClr val="27598B"/>
                </a:solidFill>
                <a:latin typeface="Arial Narrow" panose="020B0606020202030204" pitchFamily="34" charset="0"/>
              </a:rPr>
              <a:t>+$4/day</a:t>
            </a:r>
            <a:r>
              <a:rPr sz="1100" b="0" i="0">
                <a:solidFill>
                  <a:srgbClr val="0C1A28"/>
                </a:solidFill>
                <a:latin typeface="Arial" panose="020B0604020202020204" pitchFamily="34" charset="0"/>
              </a:rPr>
              <a:t>  held out</a:t>
            </a:r>
          </a:p>
          <a:p>
            <a:pPr algn="l">
              <a:spcBef>
                <a:spcPts val="100"/>
              </a:spcBef>
            </a:pPr>
            <a:r>
              <a:rPr sz="1000" b="0" i="0">
                <a:solidFill>
                  <a:srgbClr val="566676"/>
                </a:solidFill>
                <a:latin typeface="Arial" panose="020B0604020202020204" pitchFamily="34" charset="0"/>
              </a:rPr>
              <a:t>−0.38¢ a share [−2.08, 1.21]; +$15/day in sample. Break-even feed delay 1.01 s–1.09 s</a:t>
            </a:r>
          </a:p>
        </p:txBody>
      </p:sp>
      <p:sp>
        <p:nvSpPr>
          <p:cNvPr id="9" name="Reading card 1"/>
          <p:cNvSpPr/>
          <p:nvPr/>
        </p:nvSpPr>
        <p:spPr>
          <a:xfrm>
            <a:off x="548640" y="3154680"/>
            <a:ext cx="4160520" cy="1024128"/>
          </a:xfrm>
          <a:prstGeom prst="roundRect">
            <a:avLst>
              <a:gd name="adj" fmla="val 7142"/>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ading text 1"/>
          <p:cNvSpPr txBox="1"/>
          <p:nvPr/>
        </p:nvSpPr>
        <p:spPr>
          <a:xfrm>
            <a:off x="731520" y="3200400"/>
            <a:ext cx="3840480" cy="932688"/>
          </a:xfrm>
          <a:prstGeom prst="rect">
            <a:avLst/>
          </a:prstGeom>
          <a:noFill/>
        </p:spPr>
        <p:txBody>
          <a:bodyPr wrap="square" anchor="ctr" lIns="0" tIns="0" rIns="0" bIns="0">
            <a:noAutofit/>
          </a:bodyPr>
          <a:lstStyle/>
          <a:p>
            <a:pPr algn="l"/>
            <a:r>
              <a:rPr sz="950" b="1" i="0" spc="100">
                <a:solidFill>
                  <a:srgbClr val="3F6E9C"/>
                </a:solidFill>
                <a:latin typeface="Arial" panose="020B0604020202020204" pitchFamily="34" charset="0"/>
              </a:rPr>
              <a:t>2  POST HOC · LAG 3.14 s, ASSUMES COURTSIDE HUMANS</a:t>
            </a:r>
          </a:p>
          <a:p>
            <a:pPr algn="l">
              <a:lnSpc>
                <a:spcPct val="95000"/>
              </a:lnSpc>
            </a:pPr>
            <a:r>
              <a:rPr sz="2200" b="1" i="0">
                <a:solidFill>
                  <a:srgbClr val="3F6E9C"/>
                </a:solidFill>
                <a:latin typeface="Arial Narrow" panose="020B0606020202030204" pitchFamily="34" charset="0"/>
              </a:rPr>
              <a:t>+$57/day</a:t>
            </a:r>
            <a:r>
              <a:rPr sz="1100" b="0" i="0">
                <a:solidFill>
                  <a:srgbClr val="0C1A28"/>
                </a:solidFill>
                <a:latin typeface="Arial" panose="020B0604020202020204" pitchFamily="34" charset="0"/>
              </a:rPr>
              <a:t>  held out</a:t>
            </a:r>
          </a:p>
          <a:p>
            <a:pPr algn="l">
              <a:spcBef>
                <a:spcPts val="100"/>
              </a:spcBef>
            </a:pPr>
            <a:r>
              <a:rPr sz="1000" b="0" i="0">
                <a:solidFill>
                  <a:srgbClr val="566676"/>
                </a:solidFill>
                <a:latin typeface="Arial" panose="020B0604020202020204" pitchFamily="34" charset="0"/>
              </a:rPr>
              <a:t>+$94/day in sample. The lag's own bootstrap CI: [2.23, 3.22] s</a:t>
            </a:r>
          </a:p>
        </p:txBody>
      </p:sp>
      <p:sp>
        <p:nvSpPr>
          <p:cNvPr id="11" name="Reading card 2"/>
          <p:cNvSpPr/>
          <p:nvPr/>
        </p:nvSpPr>
        <p:spPr>
          <a:xfrm>
            <a:off x="548640" y="4233672"/>
            <a:ext cx="4160520" cy="1024128"/>
          </a:xfrm>
          <a:prstGeom prst="roundRect">
            <a:avLst>
              <a:gd name="adj" fmla="val 7142"/>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ading text 2"/>
          <p:cNvSpPr txBox="1"/>
          <p:nvPr/>
        </p:nvSpPr>
        <p:spPr>
          <a:xfrm>
            <a:off x="731520" y="4279392"/>
            <a:ext cx="3840480" cy="932688"/>
          </a:xfrm>
          <a:prstGeom prst="rect">
            <a:avLst/>
          </a:prstGeom>
          <a:noFill/>
        </p:spPr>
        <p:txBody>
          <a:bodyPr wrap="square" anchor="ctr" lIns="0" tIns="0" rIns="0" bIns="0">
            <a:noAutofit/>
          </a:bodyPr>
          <a:lstStyle/>
          <a:p>
            <a:pPr algn="l"/>
            <a:r>
              <a:rPr sz="950" b="1" i="0" spc="100">
                <a:solidFill>
                  <a:srgbClr val="566676"/>
                </a:solidFill>
                <a:latin typeface="Arial" panose="020B0604020202020204" pitchFamily="34" charset="0"/>
              </a:rPr>
              <a:t>3  SAME INFERENCE, READ PER POINT</a:t>
            </a:r>
          </a:p>
          <a:p>
            <a:pPr algn="l">
              <a:lnSpc>
                <a:spcPct val="95000"/>
              </a:lnSpc>
            </a:pPr>
            <a:r>
              <a:rPr sz="2200" b="1" i="0">
                <a:solidFill>
                  <a:srgbClr val="D1432F"/>
                </a:solidFill>
                <a:latin typeface="Arial Narrow" panose="020B0606020202030204" pitchFamily="34" charset="0"/>
              </a:rPr>
              <a:t>−$17/day</a:t>
            </a:r>
            <a:r>
              <a:rPr sz="1100" b="0" i="0">
                <a:solidFill>
                  <a:srgbClr val="0C1A28"/>
                </a:solidFill>
                <a:latin typeface="Arial" panose="020B0604020202020204" pitchFamily="34" charset="0"/>
              </a:rPr>
              <a:t>  held out</a:t>
            </a:r>
          </a:p>
          <a:p>
            <a:pPr algn="l">
              <a:spcBef>
                <a:spcPts val="100"/>
              </a:spcBef>
            </a:pPr>
            <a:r>
              <a:rPr sz="1000" b="0" i="0">
                <a:solidFill>
                  <a:srgbClr val="566676"/>
                </a:solidFill>
                <a:latin typeface="Arial" panose="020B0604020202020204" pitchFamily="34" charset="0"/>
              </a:rPr>
              <a:t>−$17/day in sample. Break-even feed delay 0.29 s–0.34 s</a:t>
            </a:r>
          </a:p>
        </p:txBody>
      </p:sp>
      <p:sp>
        <p:nvSpPr>
          <p:cNvPr id="13" name="Reading card 3"/>
          <p:cNvSpPr/>
          <p:nvPr/>
        </p:nvSpPr>
        <p:spPr>
          <a:xfrm>
            <a:off x="548640" y="5312664"/>
            <a:ext cx="4160520" cy="1024128"/>
          </a:xfrm>
          <a:prstGeom prst="roundRect">
            <a:avLst>
              <a:gd name="adj" fmla="val 7142"/>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ading text 3"/>
          <p:cNvSpPr txBox="1"/>
          <p:nvPr/>
        </p:nvSpPr>
        <p:spPr>
          <a:xfrm>
            <a:off x="731520" y="5358384"/>
            <a:ext cx="3840480" cy="932688"/>
          </a:xfrm>
          <a:prstGeom prst="rect">
            <a:avLst/>
          </a:prstGeom>
          <a:noFill/>
        </p:spPr>
        <p:txBody>
          <a:bodyPr wrap="square" anchor="ctr" lIns="0" tIns="0" rIns="0" bIns="0">
            <a:noAutofit/>
          </a:bodyPr>
          <a:lstStyle/>
          <a:p>
            <a:pPr algn="l"/>
            <a:r>
              <a:rPr sz="950" b="1" i="0" spc="100">
                <a:solidFill>
                  <a:srgbClr val="566676"/>
                </a:solidFill>
                <a:latin typeface="Arial" panose="020B0604020202020204" pitchFamily="34" charset="0"/>
              </a:rPr>
              <a:t>4  REPLAY · 9 REAL BOOKS · EVERY POINT, EX ANTE</a:t>
            </a:r>
          </a:p>
          <a:p>
            <a:pPr algn="l">
              <a:lnSpc>
                <a:spcPct val="95000"/>
              </a:lnSpc>
            </a:pPr>
            <a:r>
              <a:rPr sz="2200" b="1" i="0">
                <a:solidFill>
                  <a:srgbClr val="D1432F"/>
                </a:solidFill>
                <a:latin typeface="Arial Narrow" panose="020B0606020202030204" pitchFamily="34" charset="0"/>
              </a:rPr>
              <a:t>−0.94¢</a:t>
            </a:r>
            <a:r>
              <a:rPr sz="1100" b="0" i="0">
                <a:solidFill>
                  <a:srgbClr val="0C1A28"/>
                </a:solidFill>
                <a:latin typeface="Arial" panose="020B0604020202020204" pitchFamily="34" charset="0"/>
              </a:rPr>
              <a:t>  a share</a:t>
            </a:r>
          </a:p>
          <a:p>
            <a:pPr algn="l">
              <a:spcBef>
                <a:spcPts val="100"/>
              </a:spcBef>
            </a:pPr>
            <a:r>
              <a:rPr sz="1000" b="0" i="0">
                <a:solidFill>
                  <a:srgbClr val="566676"/>
                </a:solidFill>
                <a:latin typeface="Arial" panose="020B0604020202020204" pitchFamily="34" charset="0"/>
              </a:rPr>
              <a:t>[−1.28, −0.58] at V = 1 s, lag 2 s; 36/36 delay × lag cells lose</a:t>
            </a:r>
          </a:p>
        </p:txBody>
      </p:sp>
      <p:sp>
        <p:nvSpPr>
          <p:cNvPr id="15" name="Label: $/DAY HELD OUT (BURNED O"/>
          <p:cNvSpPr txBox="1"/>
          <p:nvPr/>
        </p:nvSpPr>
        <p:spPr>
          <a:xfrm>
            <a:off x="4983479" y="2075688"/>
            <a:ext cx="6659575" cy="274320"/>
          </a:xfrm>
          <a:prstGeom prst="rect">
            <a:avLst/>
          </a:prstGeom>
          <a:noFill/>
        </p:spPr>
        <p:txBody>
          <a:bodyPr wrap="square" anchor="ctr" lIns="0" tIns="0" rIns="0" bIns="0">
            <a:noAutofit/>
          </a:bodyPr>
          <a:lstStyle/>
          <a:p>
            <a:pPr algn="l"/>
            <a:r>
              <a:rPr sz="1200" b="1" i="0" spc="140">
                <a:solidFill>
                  <a:srgbClr val="27598B"/>
                </a:solidFill>
                <a:latin typeface="Arial" panose="020B0604020202020204" pitchFamily="34" charset="0"/>
              </a:rPr>
              <a:t>$/DAY HELD OUT (BURNED OOS) VS ASSUMED FEED DELAY V, 20-SEED MEANS</a:t>
            </a:r>
          </a:p>
        </p:txBody>
      </p:sp>
      <p:graphicFrame>
        <p:nvGraphicFramePr>
          <p:cNvPr id="16" name="Chart: $/day vs feed delay"/>
          <p:cNvGraphicFramePr>
            <a:graphicFrameLocks noGrp="1"/>
          </p:cNvGraphicFramePr>
          <p:nvPr/>
        </p:nvGraphicFramePr>
        <p:xfrm>
          <a:off x="4937759" y="2304288"/>
          <a:ext cx="6705295" cy="2697480"/>
        </p:xfrm>
        <a:graphic>
          <a:graphicData uri="http://schemas.openxmlformats.org/drawingml/2006/chart">
            <c:chart xmlns:c="http://schemas.openxmlformats.org/drawingml/2006/chart" r:id="rId2"/>
          </a:graphicData>
        </a:graphic>
      </p:graphicFrame>
      <p:sp>
        <p:nvSpPr>
          <p:cNvPr id="17" name="Reading"/>
          <p:cNvSpPr txBox="1"/>
          <p:nvPr/>
        </p:nvSpPr>
        <p:spPr>
          <a:xfrm>
            <a:off x="4983479" y="5074920"/>
            <a:ext cx="6659575" cy="1280160"/>
          </a:xfrm>
          <a:prstGeom prst="rect">
            <a:avLst/>
          </a:prstGeom>
          <a:noFill/>
        </p:spPr>
        <p:txBody>
          <a:bodyPr wrap="square" anchor="t" lIns="0" tIns="0" rIns="0" bIns="0">
            <a:noAutofit/>
          </a:bodyPr>
          <a:lstStyle/>
          <a:p>
            <a:pPr algn="l"/>
            <a:r>
              <a:rPr sz="1200" b="1" i="0">
                <a:solidFill>
                  <a:srgbClr val="0C1A28"/>
                </a:solidFill>
                <a:latin typeface="Arial" panose="020B0604020202020204" pitchFamily="34" charset="0"/>
              </a:rPr>
              <a:t>The sign turns on the unmeasured stamp lag L: </a:t>
            </a:r>
            <a:r>
              <a:rPr sz="1200" b="0" i="0">
                <a:solidFill>
                  <a:srgbClr val="0C1A28"/>
                </a:solidFill>
                <a:latin typeface="Arial" panose="020B0604020202020204" pitchFamily="34" charset="0"/>
              </a:rPr>
              <a:t>at 1 s the book breaks even only if L ≥ 1.99 s, and covers the cheapest data quote only if L ≥ 2.98 s. It can pay at most $1,644/month for data (post hoc) or $55 (pre-registered); quotes run $1,250–$10,000/month (ASSUMPTION).</a:t>
            </a:r>
          </a:p>
          <a:p>
            <a:pPr algn="l">
              <a:spcBef>
                <a:spcPts val="300"/>
              </a:spcBef>
            </a:pPr>
            <a:r>
              <a:rPr sz="1100" b="0" i="0">
                <a:solidFill>
                  <a:srgbClr val="D1432F"/>
                </a:solidFill>
                <a:latin typeface="Arial" panose="020B0604020202020204" pitchFamily="34" charset="0"/>
              </a:rPr>
              <a:t>A frozen tier-0 v3 rule failed its blind tests on unseen markets (−0.22¢, −0.52¢: FAIL).</a:t>
            </a:r>
          </a:p>
        </p:txBody>
      </p:sp>
      <p:sp>
        <p:nvSpPr>
          <p:cNvPr id="18"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9"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7</a:t>
            </a:fld>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600" b="1" i="0">
                <a:solidFill>
                  <a:srgbClr val="0C1A28"/>
                </a:solidFill>
                <a:latin typeface="Arial Narrow" panose="020B0606020202030204" pitchFamily="34" charset="0"/>
              </a:rPr>
              <a:t>Live books, paper orders; full chain on a recorded book</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07  ·  THE ENGINE (PAPER ONLY)</a:t>
            </a:r>
          </a:p>
        </p:txBody>
      </p:sp>
      <p:sp>
        <p:nvSpPr>
          <p:cNvPr id="5" name="Label: LIVE BOOKS, READ-ONLY RU"/>
          <p:cNvSpPr txBox="1"/>
          <p:nvPr/>
        </p:nvSpPr>
        <p:spPr>
          <a:xfrm>
            <a:off x="548640" y="1572768"/>
            <a:ext cx="3886200" cy="274320"/>
          </a:xfrm>
          <a:prstGeom prst="rect">
            <a:avLst/>
          </a:prstGeom>
          <a:noFill/>
        </p:spPr>
        <p:txBody>
          <a:bodyPr wrap="square" anchor="ctr" lIns="0" tIns="0" rIns="0" bIns="0">
            <a:noAutofit/>
          </a:bodyPr>
          <a:lstStyle/>
          <a:p>
            <a:pPr algn="l"/>
            <a:r>
              <a:rPr sz="1200" b="1" i="0" spc="140">
                <a:solidFill>
                  <a:srgbClr val="27598B"/>
                </a:solidFill>
                <a:latin typeface="Arial" panose="020B0604020202020204" pitchFamily="34" charset="0"/>
              </a:rPr>
              <a:t>LIVE BOOKS, READ-ONLY RUN</a:t>
            </a:r>
          </a:p>
        </p:txBody>
      </p:sp>
      <p:graphicFrame>
        <p:nvGraphicFramePr>
          <p:cNvPr id="6" name="Table: live engine"/>
          <p:cNvGraphicFramePr>
            <a:graphicFrameLocks noGrp="1"/>
          </p:cNvGraphicFramePr>
          <p:nvPr/>
        </p:nvGraphicFramePr>
        <p:xfrm>
          <a:off x="548640" y="1874519"/>
          <a:ext cx="3886200" cy="3035808"/>
        </p:xfrm>
        <a:graphic>
          <a:graphicData uri="http://schemas.openxmlformats.org/drawingml/2006/table">
            <a:tbl>
              <a:tblPr>
                <a:tableStyleId>{2D5ABB26-0587-4C30-8999-92F81FD0307C}</a:tableStyleId>
              </a:tblPr>
              <a:tblGrid>
                <a:gridCol w="2286000"/>
                <a:gridCol w="1600200"/>
              </a:tblGrid>
              <a:tr h="347472">
                <a:tc>
                  <a:txBody>
                    <a:bodyPr wrap="square"/>
                    <a:lstStyle/>
                    <a:p>
                      <a:pPr algn="l"/>
                      <a:r>
                        <a:rPr sz="1200" b="1" i="0">
                          <a:solidFill>
                            <a:srgbClr val="FFFFFF"/>
                          </a:solidFill>
                          <a:latin typeface="Arial" panose="020B0604020202020204" pitchFamily="34" charset="0"/>
                        </a:rPr>
                        <a:t>60 s live window</a:t>
                      </a:r>
                    </a:p>
                  </a:txBody>
                  <a:tcPr marL="91440" marR="91440" marT="27432" marB="27432" anchor="ctr">
                    <a:lnL w="9525">
                      <a:noFill/>
                    </a:lnL>
                    <a:lnR w="9525">
                      <a:noFill/>
                    </a:lnR>
                    <a:lnT w="9525">
                      <a:noFill/>
                    </a:lnT>
                    <a:lnB w="9525">
                      <a:solidFill>
                        <a:srgbClr val="D3DCE5"/>
                      </a:solidFill>
                    </a:lnB>
                    <a:solidFill>
                      <a:srgbClr val="0C1A28"/>
                    </a:solidFill>
                  </a:tcPr>
                </a:tc>
                <a:tc>
                  <a:txBody>
                    <a:bodyPr wrap="square"/>
                    <a:lstStyle/>
                    <a:p>
                      <a:pPr algn="l"/>
                      <a:r>
                        <a:rPr sz="1200" b="0" i="0">
                          <a:solidFill>
                            <a:srgbClr val="FFFFFF"/>
                          </a:solidFill>
                          <a:latin typeface="Arial" panose="020B0604020202020204" pitchFamily="34" charset="0"/>
                        </a:rPr>
                        <a:t/>
                      </a:r>
                    </a:p>
                  </a:txBody>
                  <a:tcPr marL="91440" marR="91440" marT="27432" marB="27432" anchor="ctr">
                    <a:lnL w="9525">
                      <a:noFill/>
                    </a:lnL>
                    <a:lnR w="9525">
                      <a:noFill/>
                    </a:lnR>
                    <a:lnT w="9525">
                      <a:noFill/>
                    </a:lnT>
                    <a:lnB w="9525">
                      <a:solidFill>
                        <a:srgbClr val="D3DCE5"/>
                      </a:solidFill>
                    </a:lnB>
                    <a:solidFill>
                      <a:srgbClr val="0C1A28"/>
                    </a:solidFill>
                  </a:tcPr>
                </a:tc>
              </a:tr>
              <a:tr h="384048">
                <a:tc>
                  <a:txBody>
                    <a:bodyPr wrap="square"/>
                    <a:lstStyle/>
                    <a:p>
                      <a:pPr algn="l"/>
                      <a:r>
                        <a:rPr sz="1150" b="0" i="0">
                          <a:solidFill>
                            <a:srgbClr val="0C1A28"/>
                          </a:solidFill>
                          <a:latin typeface="Arial" panose="020B0604020202020204" pitchFamily="34" charset="0"/>
                        </a:rPr>
                        <a:t>Messages · assets</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150" b="1" i="0">
                          <a:solidFill>
                            <a:srgbClr val="0C1A28"/>
                          </a:solidFill>
                          <a:latin typeface="Arial" panose="020B0604020202020204" pitchFamily="34" charset="0"/>
                        </a:rPr>
                        <a:t>7,785 · 54</a:t>
                      </a:r>
                    </a:p>
                  </a:txBody>
                  <a:tcPr marL="91440" marR="91440" marT="27432" marB="27432" anchor="ctr">
                    <a:lnL w="9525">
                      <a:noFill/>
                    </a:lnL>
                    <a:lnR w="9525">
                      <a:noFill/>
                    </a:lnR>
                    <a:lnT w="9525">
                      <a:noFill/>
                    </a:lnT>
                    <a:lnB w="9525">
                      <a:solidFill>
                        <a:srgbClr val="D3DCE5"/>
                      </a:solidFill>
                    </a:lnB>
                    <a:noFill/>
                  </a:tcPr>
                </a:tc>
              </a:tr>
              <a:tr h="384048">
                <a:tc>
                  <a:txBody>
                    <a:bodyPr wrap="square"/>
                    <a:lstStyle/>
                    <a:p>
                      <a:pPr algn="l"/>
                      <a:r>
                        <a:rPr sz="1150" b="0" i="0">
                          <a:solidFill>
                            <a:srgbClr val="0C1A28"/>
                          </a:solidFill>
                          <a:latin typeface="Arial" panose="020B0604020202020204" pitchFamily="34" charset="0"/>
                        </a:rPr>
                        <a:t>Markets discovered</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150" b="1" i="0">
                          <a:solidFill>
                            <a:srgbClr val="0C1A28"/>
                          </a:solidFill>
                          <a:latin typeface="Arial" panose="020B0604020202020204" pitchFamily="34" charset="0"/>
                        </a:rPr>
                        <a:t>27</a:t>
                      </a:r>
                    </a:p>
                  </a:txBody>
                  <a:tcPr marL="91440" marR="91440" marT="27432" marB="27432" anchor="ctr">
                    <a:lnL w="9525">
                      <a:noFill/>
                    </a:lnL>
                    <a:lnR w="9525">
                      <a:noFill/>
                    </a:lnR>
                    <a:lnT w="9525">
                      <a:noFill/>
                    </a:lnT>
                    <a:lnB w="9525">
                      <a:solidFill>
                        <a:srgbClr val="D3DCE5"/>
                      </a:solidFill>
                    </a:lnB>
                    <a:noFill/>
                  </a:tcPr>
                </a:tc>
              </a:tr>
              <a:tr h="384048">
                <a:tc>
                  <a:txBody>
                    <a:bodyPr wrap="square"/>
                    <a:lstStyle/>
                    <a:p>
                      <a:pPr algn="l"/>
                      <a:r>
                        <a:rPr sz="1150" b="0" i="0">
                          <a:solidFill>
                            <a:srgbClr val="0C1A28"/>
                          </a:solidFill>
                          <a:latin typeface="Arial" panose="020B0604020202020204" pitchFamily="34" charset="0"/>
                        </a:rPr>
                        <a:t>Feed delay p50/95/99</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150" b="1" i="0">
                          <a:solidFill>
                            <a:srgbClr val="0C1A28"/>
                          </a:solidFill>
                          <a:latin typeface="Arial" panose="020B0604020202020204" pitchFamily="34" charset="0"/>
                        </a:rPr>
                        <a:t>65 / 84 / 123 ms</a:t>
                      </a:r>
                    </a:p>
                  </a:txBody>
                  <a:tcPr marL="91440" marR="91440" marT="27432" marB="27432" anchor="ctr">
                    <a:lnL w="9525">
                      <a:noFill/>
                    </a:lnL>
                    <a:lnR w="9525">
                      <a:noFill/>
                    </a:lnR>
                    <a:lnT w="9525">
                      <a:noFill/>
                    </a:lnT>
                    <a:lnB w="9525">
                      <a:solidFill>
                        <a:srgbClr val="D3DCE5"/>
                      </a:solidFill>
                    </a:lnB>
                    <a:noFill/>
                  </a:tcPr>
                </a:tc>
              </a:tr>
              <a:tr h="384048">
                <a:tc>
                  <a:txBody>
                    <a:bodyPr wrap="square"/>
                    <a:lstStyle/>
                    <a:p>
                      <a:pPr algn="l"/>
                      <a:r>
                        <a:rPr sz="1150" b="0" i="0">
                          <a:solidFill>
                            <a:srgbClr val="0C1A28"/>
                          </a:solidFill>
                          <a:latin typeface="Arial" panose="020B0604020202020204" pitchFamily="34" charset="0"/>
                        </a:rPr>
                        <a:t>Snapshots mismatched</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150" b="1" i="0">
                          <a:solidFill>
                            <a:srgbClr val="0C1A28"/>
                          </a:solidFill>
                          <a:latin typeface="Arial" panose="020B0604020202020204" pitchFamily="34" charset="0"/>
                        </a:rPr>
                        <a:t>0 of 8</a:t>
                      </a:r>
                    </a:p>
                  </a:txBody>
                  <a:tcPr marL="91440" marR="91440" marT="27432" marB="27432" anchor="ctr">
                    <a:lnL w="9525">
                      <a:noFill/>
                    </a:lnL>
                    <a:lnR w="9525">
                      <a:noFill/>
                    </a:lnR>
                    <a:lnT w="9525">
                      <a:noFill/>
                    </a:lnT>
                    <a:lnB w="9525">
                      <a:solidFill>
                        <a:srgbClr val="D3DCE5"/>
                      </a:solidFill>
                    </a:lnB>
                    <a:noFill/>
                  </a:tcPr>
                </a:tc>
              </a:tr>
              <a:tr h="384048">
                <a:tc>
                  <a:txBody>
                    <a:bodyPr wrap="square"/>
                    <a:lstStyle/>
                    <a:p>
                      <a:pPr algn="l"/>
                      <a:r>
                        <a:rPr sz="1150" b="0" i="0">
                          <a:solidFill>
                            <a:srgbClr val="0C1A28"/>
                          </a:solidFill>
                          <a:latin typeface="Arial" panose="020B0604020202020204" pitchFamily="34" charset="0"/>
                        </a:rPr>
                        <a:t>Gaps · reconnects</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150" b="1" i="0">
                          <a:solidFill>
                            <a:srgbClr val="0C1A28"/>
                          </a:solidFill>
                          <a:latin typeface="Arial" panose="020B0604020202020204" pitchFamily="34" charset="0"/>
                        </a:rPr>
                        <a:t>0 · 0</a:t>
                      </a:r>
                    </a:p>
                  </a:txBody>
                  <a:tcPr marL="91440" marR="91440" marT="27432" marB="27432" anchor="ctr">
                    <a:lnL w="9525">
                      <a:noFill/>
                    </a:lnL>
                    <a:lnR w="9525">
                      <a:noFill/>
                    </a:lnR>
                    <a:lnT w="9525">
                      <a:noFill/>
                    </a:lnT>
                    <a:lnB w="9525">
                      <a:solidFill>
                        <a:srgbClr val="D3DCE5"/>
                      </a:solidFill>
                    </a:lnB>
                    <a:noFill/>
                  </a:tcPr>
                </a:tc>
              </a:tr>
              <a:tr h="384048">
                <a:tc>
                  <a:txBody>
                    <a:bodyPr wrap="square"/>
                    <a:lstStyle/>
                    <a:p>
                      <a:pPr algn="l"/>
                      <a:r>
                        <a:rPr sz="1150" b="0" i="0">
                          <a:solidFill>
                            <a:srgbClr val="0C1A28"/>
                          </a:solidFill>
                          <a:latin typeface="Arial" panose="020B0604020202020204" pitchFamily="34" charset="0"/>
                        </a:rPr>
                        <a:t>What-if: send / skip</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150" b="1" i="0">
                          <a:solidFill>
                            <a:srgbClr val="0C1A28"/>
                          </a:solidFill>
                          <a:latin typeface="Arial" panose="020B0604020202020204" pitchFamily="34" charset="0"/>
                        </a:rPr>
                        <a:t>2 / 34</a:t>
                      </a:r>
                    </a:p>
                  </a:txBody>
                  <a:tcPr marL="91440" marR="91440" marT="27432" marB="27432" anchor="ctr">
                    <a:lnL w="9525">
                      <a:noFill/>
                    </a:lnL>
                    <a:lnR w="9525">
                      <a:noFill/>
                    </a:lnR>
                    <a:lnT w="9525">
                      <a:noFill/>
                    </a:lnT>
                    <a:lnB w="9525">
                      <a:solidFill>
                        <a:srgbClr val="D3DCE5"/>
                      </a:solidFill>
                    </a:lnB>
                    <a:noFill/>
                  </a:tcPr>
                </a:tc>
              </a:tr>
              <a:tr h="384048">
                <a:tc>
                  <a:txBody>
                    <a:bodyPr wrap="square"/>
                    <a:lstStyle/>
                    <a:p>
                      <a:pPr algn="l"/>
                      <a:r>
                        <a:rPr sz="1150" b="0" i="0">
                          <a:solidFill>
                            <a:srgbClr val="0C1A28"/>
                          </a:solidFill>
                          <a:latin typeface="Arial" panose="020B0604020202020204" pitchFamily="34" charset="0"/>
                        </a:rPr>
                        <a:t>Orders sent</a:t>
                      </a:r>
                    </a:p>
                  </a:txBody>
                  <a:tcPr marL="91440" marR="91440" marT="27432" marB="27432" anchor="ctr">
                    <a:lnL w="9525">
                      <a:noFill/>
                    </a:lnL>
                    <a:lnR w="9525">
                      <a:noFill/>
                    </a:lnR>
                    <a:lnT w="9525">
                      <a:noFill/>
                    </a:lnT>
                    <a:lnB w="9525">
                      <a:noFill/>
                    </a:lnB>
                    <a:noFill/>
                  </a:tcPr>
                </a:tc>
                <a:tc>
                  <a:txBody>
                    <a:bodyPr wrap="square"/>
                    <a:lstStyle/>
                    <a:p>
                      <a:pPr algn="r"/>
                      <a:r>
                        <a:rPr sz="1150" b="1" i="0">
                          <a:solidFill>
                            <a:srgbClr val="0C1A28"/>
                          </a:solidFill>
                          <a:latin typeface="Arial" panose="020B0604020202020204" pitchFamily="34" charset="0"/>
                        </a:rPr>
                        <a:t>0</a:t>
                      </a:r>
                    </a:p>
                  </a:txBody>
                  <a:tcPr marL="91440" marR="91440" marT="27432" marB="27432" anchor="ctr">
                    <a:lnL w="9525">
                      <a:noFill/>
                    </a:lnL>
                    <a:lnR w="9525">
                      <a:noFill/>
                    </a:lnR>
                    <a:lnT w="9525">
                      <a:noFill/>
                    </a:lnT>
                    <a:lnB w="9525">
                      <a:noFill/>
                    </a:lnB>
                    <a:noFill/>
                  </a:tcPr>
                </a:tc>
              </a:tr>
            </a:tbl>
          </a:graphicData>
        </a:graphic>
      </p:graphicFrame>
      <p:sp>
        <p:nvSpPr>
          <p:cNvPr id="7" name="Label: LIVE PAPER SESSION (2026"/>
          <p:cNvSpPr txBox="1"/>
          <p:nvPr/>
        </p:nvSpPr>
        <p:spPr>
          <a:xfrm>
            <a:off x="4709159" y="1572768"/>
            <a:ext cx="3291840" cy="274320"/>
          </a:xfrm>
          <a:prstGeom prst="rect">
            <a:avLst/>
          </a:prstGeom>
          <a:noFill/>
        </p:spPr>
        <p:txBody>
          <a:bodyPr wrap="square" anchor="ctr" lIns="0" tIns="0" rIns="0" bIns="0">
            <a:noAutofit/>
          </a:bodyPr>
          <a:lstStyle/>
          <a:p>
            <a:pPr algn="l"/>
            <a:r>
              <a:rPr sz="1200" b="1" i="0" spc="140">
                <a:solidFill>
                  <a:srgbClr val="27598B"/>
                </a:solidFill>
                <a:latin typeface="Arial" panose="020B0604020202020204" pitchFamily="34" charset="0"/>
              </a:rPr>
              <a:t>LIVE PAPER SESSION (2026-10-03)</a:t>
            </a:r>
          </a:p>
        </p:txBody>
      </p:sp>
      <p:sp>
        <p:nvSpPr>
          <p:cNvPr id="8" name="Session card"/>
          <p:cNvSpPr/>
          <p:nvPr/>
        </p:nvSpPr>
        <p:spPr>
          <a:xfrm>
            <a:off x="4709159" y="1874519"/>
            <a:ext cx="3291840" cy="3429000"/>
          </a:xfrm>
          <a:prstGeom prst="roundRect">
            <a:avLst>
              <a:gd name="adj" fmla="val 2777"/>
            </a:avLst>
          </a:prstGeom>
          <a:solidFill>
            <a:srgbClr val="0C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Session text"/>
          <p:cNvSpPr txBox="1"/>
          <p:nvPr/>
        </p:nvSpPr>
        <p:spPr>
          <a:xfrm>
            <a:off x="4910327" y="1938528"/>
            <a:ext cx="2889504" cy="3310128"/>
          </a:xfrm>
          <a:prstGeom prst="rect">
            <a:avLst/>
          </a:prstGeom>
          <a:noFill/>
        </p:spPr>
        <p:txBody>
          <a:bodyPr wrap="square" anchor="t" lIns="0" tIns="0" rIns="0" bIns="0">
            <a:noAutofit/>
          </a:bodyPr>
          <a:lstStyle/>
          <a:p>
            <a:pPr algn="l"/>
            <a:r>
              <a:rPr sz="1100" b="1" i="0">
                <a:solidFill>
                  <a:srgbClr val="F07A66"/>
                </a:solidFill>
                <a:latin typeface="Arial" panose="020B0604020202020204" pitchFamily="34" charset="0"/>
              </a:rPr>
              <a:t>PAPER TRADING - LIVE MARKET DATA (public Polymarket feeds; no orders sent)</a:t>
            </a:r>
          </a:p>
          <a:p>
            <a:pPr algn="l">
              <a:spcBef>
                <a:spcPts val="600"/>
              </a:spcBef>
            </a:pPr>
            <a:r>
              <a:rPr sz="1150" b="0" i="0">
                <a:solidFill>
                  <a:srgbClr val="FFFFFF"/>
                </a:solidFill>
                <a:latin typeface="Arial" panose="020B0604020202020204" pitchFamily="34" charset="0"/>
              </a:rPr>
              <a:t>Strategy: maker v1 (frozen, pre-registered) + taker control</a:t>
            </a:r>
          </a:p>
          <a:p>
            <a:pPr algn="l">
              <a:spcBef>
                <a:spcPts val="800"/>
              </a:spcBef>
            </a:pPr>
            <a:r>
              <a:rPr sz="2000" b="1" i="0">
                <a:solidFill>
                  <a:srgbClr val="8FB0D1"/>
                </a:solidFill>
                <a:latin typeface="Arial Narrow" panose="020B0606020202030204" pitchFamily="34" charset="0"/>
              </a:rPr>
              <a:t>FINISHED</a:t>
            </a:r>
          </a:p>
          <a:p>
            <a:pPr algn="l">
              <a:spcBef>
                <a:spcPts val="200"/>
              </a:spcBef>
            </a:pPr>
            <a:r>
              <a:rPr sz="1050" b="0" i="0">
                <a:solidFill>
                  <a:srgbClr val="9FB3C8"/>
                </a:solidFill>
                <a:latin typeface="Arial" panose="020B0604020202020204" pitchFamily="34" charset="0"/>
              </a:rPr>
              <a:t>Run 20261003T204812Z  ·  started 2026-10-03 20:48 UTC  ·  as of 2026-10-04 02:18 UTC</a:t>
            </a:r>
          </a:p>
          <a:p>
            <a:pPr algn="l">
              <a:spcBef>
                <a:spcPts val="600"/>
              </a:spcBef>
            </a:pPr>
            <a:r>
              <a:rPr sz="1150" b="0" i="0">
                <a:solidFill>
                  <a:srgbClr val="9FB3C8"/>
                </a:solidFill>
                <a:latin typeface="Arial" panose="020B0604020202020204" pitchFamily="34" charset="0"/>
              </a:rPr>
              <a:t>Status: </a:t>
            </a:r>
            <a:r>
              <a:rPr sz="1150" b="0" i="0">
                <a:solidFill>
                  <a:srgbClr val="FFFFFF"/>
                </a:solidFill>
                <a:latin typeface="Arial" panose="020B0604020202020204" pitchFamily="34" charset="0"/>
              </a:rPr>
              <a:t>final</a:t>
            </a:r>
          </a:p>
          <a:p>
            <a:pPr algn="l">
              <a:spcBef>
                <a:spcPts val="800"/>
              </a:spcBef>
            </a:pPr>
            <a:r>
              <a:rPr sz="1250" b="1" i="0">
                <a:solidFill>
                  <a:srgbClr val="FFFFFF"/>
                </a:solidFill>
                <a:latin typeface="Arial" panose="020B0604020202020204" pitchFamily="34" charset="0"/>
              </a:rPr>
              <a:t>Primary book: 0 fills, P&amp;L +$0.00 on $10,000 paper capital</a:t>
            </a:r>
          </a:p>
          <a:p>
            <a:pPr algn="l">
              <a:spcBef>
                <a:spcPts val="300"/>
              </a:spcBef>
            </a:pPr>
            <a:r>
              <a:rPr sz="1150" b="0" i="0">
                <a:solidFill>
                  <a:srgbClr val="FFFFFF"/>
                </a:solidFill>
                <a:latin typeface="Arial" panose="020B0604020202020204" pitchFamily="34" charset="0"/>
              </a:rPr>
              <a:t>Taker control: 0 fills</a:t>
            </a:r>
          </a:p>
          <a:p>
            <a:pPr algn="l">
              <a:spcBef>
                <a:spcPts val="600"/>
              </a:spcBef>
            </a:pPr>
            <a:r>
              <a:rPr sz="1100" b="0" i="0">
                <a:solidFill>
                  <a:srgbClr val="9FB3C8"/>
                </a:solidFill>
                <a:latin typeface="Arial" panose="020B0604020202020204" pitchFamily="34" charset="0"/>
              </a:rPr>
              <a:t>133,717 book messages · 4 match(es) in play</a:t>
            </a:r>
          </a:p>
          <a:p>
            <a:pPr algn="l">
              <a:spcBef>
                <a:spcPts val="800"/>
              </a:spcBef>
            </a:pPr>
            <a:r>
              <a:rPr sz="1050" b="0" i="0">
                <a:solidFill>
                  <a:srgbClr val="9FB3C8"/>
                </a:solidFill>
                <a:latin typeface="Arial" panose="020B0604020202020204" pitchFamily="34" charset="0"/>
              </a:rPr>
              <a:t>Plumbing check, not evidence of edge: maker v1 already failed its blind OOS.</a:t>
            </a:r>
          </a:p>
        </p:txBody>
      </p:sp>
      <p:sp>
        <p:nvSpPr>
          <p:cNvPr id="10" name="Card: Engine demo timeline"/>
          <p:cNvSpPr/>
          <p:nvPr/>
        </p:nvSpPr>
        <p:spPr>
          <a:xfrm>
            <a:off x="8275320" y="1572768"/>
            <a:ext cx="3367735" cy="3730752"/>
          </a:xfrm>
          <a:prstGeom prst="roundRect">
            <a:avLst>
              <a:gd name="adj" fmla="val 2172"/>
            </a:avLst>
          </a:prstGeom>
          <a:solidFill>
            <a:srgbClr val="FCFCFB"/>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Engine demo timeline" descr="demo_timeline.png"/>
          <p:cNvPicPr>
            <a:picLocks noChangeAspect="1"/>
          </p:cNvPicPr>
          <p:nvPr/>
        </p:nvPicPr>
        <p:blipFill>
          <a:blip r:embed="rId2"/>
          <a:stretch>
            <a:fillRect/>
          </a:stretch>
        </p:blipFill>
        <p:spPr>
          <a:xfrm>
            <a:off x="8385048" y="2141866"/>
            <a:ext cx="3148279" cy="2135354"/>
          </a:xfrm>
          <a:prstGeom prst="rect">
            <a:avLst/>
          </a:prstGeom>
        </p:spPr>
      </p:pic>
      <p:sp>
        <p:nvSpPr>
          <p:cNvPr id="12" name="Caption: Engine demo timeline"/>
          <p:cNvSpPr txBox="1"/>
          <p:nvPr/>
        </p:nvSpPr>
        <p:spPr>
          <a:xfrm>
            <a:off x="8458200" y="4736592"/>
            <a:ext cx="3001975" cy="457200"/>
          </a:xfrm>
          <a:prstGeom prst="rect">
            <a:avLst/>
          </a:prstGeom>
          <a:noFill/>
        </p:spPr>
        <p:txBody>
          <a:bodyPr wrap="square" anchor="ctr" lIns="0" tIns="0" rIns="0" bIns="0">
            <a:noAutofit/>
          </a:bodyPr>
          <a:lstStyle/>
          <a:p>
            <a:pPr algn="l"/>
            <a:r>
              <a:rPr sz="1100" b="0" i="0">
                <a:solidFill>
                  <a:srgbClr val="566676"/>
                </a:solidFill>
                <a:latin typeface="Arial" panose="020B0604020202020204" pitchFamily="34" charset="0"/>
              </a:rPr>
              <a:t>Illustrative: table-tennis calls on a recorded WTA book. Timing only.</a:t>
            </a:r>
          </a:p>
        </p:txBody>
      </p:sp>
      <p:sp>
        <p:nvSpPr>
          <p:cNvPr id="13" name="Label: CAN WE TRADE INSIDE 3 s?"/>
          <p:cNvSpPr txBox="1"/>
          <p:nvPr/>
        </p:nvSpPr>
        <p:spPr>
          <a:xfrm>
            <a:off x="548640" y="5376672"/>
            <a:ext cx="11094415" cy="274320"/>
          </a:xfrm>
          <a:prstGeom prst="rect">
            <a:avLst/>
          </a:prstGeom>
          <a:noFill/>
        </p:spPr>
        <p:txBody>
          <a:bodyPr wrap="square" anchor="ctr" lIns="0" tIns="0" rIns="0" bIns="0">
            <a:noAutofit/>
          </a:bodyPr>
          <a:lstStyle/>
          <a:p>
            <a:pPr algn="l"/>
            <a:r>
              <a:rPr sz="1200" b="1" i="0" spc="140">
                <a:solidFill>
                  <a:srgbClr val="27598B"/>
                </a:solidFill>
                <a:latin typeface="Arial" panose="020B0604020202020204" pitchFamily="34" charset="0"/>
              </a:rPr>
              <a:t>CAN WE TRADE INSIDE 3 s? FRAME → EXECUTABLE PAPER ORDER, MEASURED END TO END (24 TIMING PROBES; ORDER NOT SENT)</a:t>
            </a:r>
          </a:p>
        </p:txBody>
      </p:sp>
      <p:sp>
        <p:nvSpPr>
          <p:cNvPr id="14" name="Latency seg 0"/>
          <p:cNvSpPr/>
          <p:nvPr/>
        </p:nvSpPr>
        <p:spPr>
          <a:xfrm>
            <a:off x="548640" y="5669280"/>
            <a:ext cx="3698138" cy="384048"/>
          </a:xfrm>
          <a:prstGeom prst="rect">
            <a:avLst/>
          </a:prstGeom>
          <a:solidFill>
            <a:srgbClr val="B8C4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tency seg label 0"/>
          <p:cNvSpPr txBox="1"/>
          <p:nvPr/>
        </p:nvSpPr>
        <p:spPr>
          <a:xfrm>
            <a:off x="621792" y="5669280"/>
            <a:ext cx="3551834" cy="384048"/>
          </a:xfrm>
          <a:prstGeom prst="rect">
            <a:avLst/>
          </a:prstGeom>
          <a:noFill/>
        </p:spPr>
        <p:txBody>
          <a:bodyPr wrap="square" anchor="ctr" lIns="0" tIns="0" rIns="0" bIns="0">
            <a:noAutofit/>
          </a:bodyPr>
          <a:lstStyle/>
          <a:p>
            <a:pPr algn="l"/>
            <a:r>
              <a:rPr sz="1100" b="1" i="0">
                <a:solidFill>
                  <a:srgbClr val="0C1A28"/>
                </a:solidFill>
                <a:latin typeface="Arial" panose="020B0604020202020204" pitchFamily="34" charset="0"/>
              </a:rPr>
              <a:t>simulated 1 s licensed feed: 1,000 ms</a:t>
            </a:r>
          </a:p>
        </p:txBody>
      </p:sp>
      <p:sp>
        <p:nvSpPr>
          <p:cNvPr id="16" name="Latency seg 1"/>
          <p:cNvSpPr/>
          <p:nvPr/>
        </p:nvSpPr>
        <p:spPr>
          <a:xfrm>
            <a:off x="4246778" y="5669280"/>
            <a:ext cx="200180" cy="384048"/>
          </a:xfrm>
          <a:prstGeom prst="rect">
            <a:avLst/>
          </a:prstGeom>
          <a:solidFill>
            <a:srgbClr val="2759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tency seg 2"/>
          <p:cNvSpPr/>
          <p:nvPr/>
        </p:nvSpPr>
        <p:spPr>
          <a:xfrm>
            <a:off x="4446958" y="5669280"/>
            <a:ext cx="238552" cy="384048"/>
          </a:xfrm>
          <a:prstGeom prst="rect">
            <a:avLst/>
          </a:prstGeom>
          <a:solidFill>
            <a:srgbClr val="3F6E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tency seg 3"/>
          <p:cNvSpPr/>
          <p:nvPr/>
        </p:nvSpPr>
        <p:spPr>
          <a:xfrm>
            <a:off x="4685510" y="5669280"/>
            <a:ext cx="3698138" cy="384048"/>
          </a:xfrm>
          <a:prstGeom prst="rect">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tency seg label 3"/>
          <p:cNvSpPr txBox="1"/>
          <p:nvPr/>
        </p:nvSpPr>
        <p:spPr>
          <a:xfrm>
            <a:off x="4758662" y="5669280"/>
            <a:ext cx="3551834" cy="384048"/>
          </a:xfrm>
          <a:prstGeom prst="rect">
            <a:avLst/>
          </a:prstGeom>
          <a:noFill/>
        </p:spPr>
        <p:txBody>
          <a:bodyPr wrap="square" anchor="ctr" lIns="0" tIns="0" rIns="0" bIns="0">
            <a:noAutofit/>
          </a:bodyPr>
          <a:lstStyle/>
          <a:p>
            <a:pPr algn="l"/>
            <a:r>
              <a:rPr sz="1100" b="1" i="0">
                <a:solidFill>
                  <a:srgbClr val="FFFFFF"/>
                </a:solidFill>
                <a:latin typeface="Arial" panose="020B0604020202020204" pitchFamily="34" charset="0"/>
              </a:rPr>
              <a:t>venue holds every order 1 s: 1,000 ms</a:t>
            </a:r>
          </a:p>
        </p:txBody>
      </p:sp>
      <p:sp>
        <p:nvSpPr>
          <p:cNvPr id="20" name="Latency margin"/>
          <p:cNvSpPr/>
          <p:nvPr/>
        </p:nvSpPr>
        <p:spPr>
          <a:xfrm>
            <a:off x="8383649" y="5669280"/>
            <a:ext cx="3259406" cy="384048"/>
          </a:xfrm>
          <a:prstGeom prst="rect">
            <a:avLst/>
          </a:prstGeom>
          <a:solidFill>
            <a:srgbClr val="FFFFFF"/>
          </a:solidFill>
          <a:ln w="9525">
            <a:solidFill>
              <a:srgbClr val="D3DC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tency margin label"/>
          <p:cNvSpPr txBox="1"/>
          <p:nvPr/>
        </p:nvSpPr>
        <p:spPr>
          <a:xfrm>
            <a:off x="8456801" y="5669280"/>
            <a:ext cx="3113102" cy="384048"/>
          </a:xfrm>
          <a:prstGeom prst="rect">
            <a:avLst/>
          </a:prstGeom>
          <a:noFill/>
        </p:spPr>
        <p:txBody>
          <a:bodyPr wrap="square" anchor="ctr" lIns="0" tIns="0" rIns="0" bIns="0">
            <a:noAutofit/>
          </a:bodyPr>
          <a:lstStyle/>
          <a:p>
            <a:pPr algn="l"/>
            <a:r>
              <a:rPr sz="1100" b="1" i="0">
                <a:solidFill>
                  <a:srgbClr val="27598B"/>
                </a:solidFill>
                <a:latin typeface="Arial" panose="020B0604020202020204" pitchFamily="34" charset="0"/>
              </a:rPr>
              <a:t>margin to 3 s: 881 ms</a:t>
            </a:r>
          </a:p>
        </p:txBody>
      </p:sp>
      <p:sp>
        <p:nvSpPr>
          <p:cNvPr id="22" name="Latency caption"/>
          <p:cNvSpPr txBox="1"/>
          <p:nvPr/>
        </p:nvSpPr>
        <p:spPr>
          <a:xfrm>
            <a:off x="548640" y="6071616"/>
            <a:ext cx="11094415" cy="384048"/>
          </a:xfrm>
          <a:prstGeom prst="rect">
            <a:avLst/>
          </a:prstGeom>
          <a:noFill/>
        </p:spPr>
        <p:txBody>
          <a:bodyPr wrap="square" anchor="t" lIns="0" tIns="0" rIns="0" bIns="0">
            <a:noAutofit/>
          </a:bodyPr>
          <a:lstStyle/>
          <a:p>
            <a:pPr algn="l"/>
            <a:r>
              <a:rPr sz="950" b="0" i="0">
                <a:solidFill>
                  <a:srgbClr val="566676"/>
                </a:solidFill>
                <a:latin typeface="Arial" panose="020B0604020202020204" pitchFamily="34" charset="0"/>
              </a:rPr>
              <a:t>Ours, video in → paper order ready: 54 ms (laptop) · network to the venue 65 ms · total 2,119 ms. CV fed at 10 frames/s, every frame (12x slow motion; the laptop cannot run 120 fps in real time); all 24 orders were timing probes: the rule and the risk check declined every call on pre-match books. GPU vision call-ready 4.6 ms. Timing margin is not trading margin: the call must beat the umpire's stamp by ~0.9 s (slide 7).</a:t>
            </a:r>
          </a:p>
        </p:txBody>
      </p:sp>
      <p:sp>
        <p:nvSpPr>
          <p:cNvPr id="23"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24"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8</a:t>
            </a:fld>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600" b="1" i="0">
                <a:solidFill>
                  <a:srgbClr val="0C1A28"/>
                </a:solidFill>
                <a:latin typeface="Arial Narrow" panose="020B0606020202030204" pitchFamily="34" charset="0"/>
              </a:rPr>
              <a:t>Small, hard-limited, and it barely pays its costs</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08  ·  RISK  ·  LIQUIDITY &amp; CAPITAL  ·  FINANCIALS</a:t>
            </a:r>
          </a:p>
        </p:txBody>
      </p:sp>
      <p:sp>
        <p:nvSpPr>
          <p:cNvPr id="5" name="Label: HARD LIMITS (ENGINE Risk"/>
          <p:cNvSpPr txBox="1"/>
          <p:nvPr/>
        </p:nvSpPr>
        <p:spPr>
          <a:xfrm>
            <a:off x="548640" y="1572768"/>
            <a:ext cx="3566160" cy="274320"/>
          </a:xfrm>
          <a:prstGeom prst="rect">
            <a:avLst/>
          </a:prstGeom>
          <a:noFill/>
        </p:spPr>
        <p:txBody>
          <a:bodyPr wrap="square" anchor="ctr" lIns="0" tIns="0" rIns="0" bIns="0">
            <a:noAutofit/>
          </a:bodyPr>
          <a:lstStyle/>
          <a:p>
            <a:pPr algn="l"/>
            <a:r>
              <a:rPr sz="1200" b="1" i="0" spc="140">
                <a:solidFill>
                  <a:srgbClr val="27598B"/>
                </a:solidFill>
                <a:latin typeface="Arial" panose="020B0604020202020204" pitchFamily="34" charset="0"/>
              </a:rPr>
              <a:t>HARD LIMITS (ENGINE RiskConfig)</a:t>
            </a:r>
          </a:p>
        </p:txBody>
      </p:sp>
      <p:sp>
        <p:nvSpPr>
          <p:cNvPr id="6" name="Limit tile 0"/>
          <p:cNvSpPr/>
          <p:nvPr/>
        </p:nvSpPr>
        <p:spPr>
          <a:xfrm>
            <a:off x="548640" y="1874519"/>
            <a:ext cx="1714500" cy="1188720"/>
          </a:xfrm>
          <a:prstGeom prst="roundRect">
            <a:avLst>
              <a:gd name="adj" fmla="val 6153"/>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imit value 0"/>
          <p:cNvSpPr txBox="1"/>
          <p:nvPr/>
        </p:nvSpPr>
        <p:spPr>
          <a:xfrm>
            <a:off x="685800" y="1965960"/>
            <a:ext cx="1440180" cy="658368"/>
          </a:xfrm>
          <a:prstGeom prst="rect">
            <a:avLst/>
          </a:prstGeom>
          <a:noFill/>
        </p:spPr>
        <p:txBody>
          <a:bodyPr wrap="square" anchor="b" lIns="0" tIns="0" rIns="0" bIns="0">
            <a:noAutofit/>
          </a:bodyPr>
          <a:lstStyle/>
          <a:p>
            <a:pPr algn="l"/>
            <a:r>
              <a:rPr sz="2800" b="1" i="0">
                <a:solidFill>
                  <a:srgbClr val="27598B"/>
                </a:solidFill>
                <a:latin typeface="Arial Narrow" panose="020B0606020202030204" pitchFamily="34" charset="0"/>
              </a:rPr>
              <a:t>$1,000</a:t>
            </a:r>
          </a:p>
        </p:txBody>
      </p:sp>
      <p:sp>
        <p:nvSpPr>
          <p:cNvPr id="8" name="Limit caption 0"/>
          <p:cNvSpPr txBox="1"/>
          <p:nvPr/>
        </p:nvSpPr>
        <p:spPr>
          <a:xfrm>
            <a:off x="685800" y="2606039"/>
            <a:ext cx="1440180" cy="411480"/>
          </a:xfrm>
          <a:prstGeom prst="rect">
            <a:avLst/>
          </a:prstGeom>
          <a:noFill/>
        </p:spPr>
        <p:txBody>
          <a:bodyPr wrap="square" anchor="t" lIns="0" tIns="0" rIns="0" bIns="0">
            <a:noAutofit/>
          </a:bodyPr>
          <a:lstStyle/>
          <a:p>
            <a:pPr algn="l"/>
            <a:r>
              <a:rPr sz="1150" b="0" i="0">
                <a:solidFill>
                  <a:srgbClr val="0C1A28"/>
                </a:solidFill>
                <a:latin typeface="Arial" panose="020B0604020202020204" pitchFamily="34" charset="0"/>
              </a:rPr>
              <a:t>per order</a:t>
            </a:r>
          </a:p>
        </p:txBody>
      </p:sp>
      <p:sp>
        <p:nvSpPr>
          <p:cNvPr id="9" name="Limit tile 1"/>
          <p:cNvSpPr/>
          <p:nvPr/>
        </p:nvSpPr>
        <p:spPr>
          <a:xfrm>
            <a:off x="2400300" y="1874519"/>
            <a:ext cx="1714500" cy="1188720"/>
          </a:xfrm>
          <a:prstGeom prst="roundRect">
            <a:avLst>
              <a:gd name="adj" fmla="val 6153"/>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imit value 1"/>
          <p:cNvSpPr txBox="1"/>
          <p:nvPr/>
        </p:nvSpPr>
        <p:spPr>
          <a:xfrm>
            <a:off x="2537460" y="1965960"/>
            <a:ext cx="1440180" cy="658368"/>
          </a:xfrm>
          <a:prstGeom prst="rect">
            <a:avLst/>
          </a:prstGeom>
          <a:noFill/>
        </p:spPr>
        <p:txBody>
          <a:bodyPr wrap="square" anchor="b" lIns="0" tIns="0" rIns="0" bIns="0">
            <a:noAutofit/>
          </a:bodyPr>
          <a:lstStyle/>
          <a:p>
            <a:pPr algn="l"/>
            <a:r>
              <a:rPr sz="2800" b="1" i="0">
                <a:solidFill>
                  <a:srgbClr val="27598B"/>
                </a:solidFill>
                <a:latin typeface="Arial Narrow" panose="020B0606020202030204" pitchFamily="34" charset="0"/>
              </a:rPr>
              <a:t>100</a:t>
            </a:r>
          </a:p>
        </p:txBody>
      </p:sp>
      <p:sp>
        <p:nvSpPr>
          <p:cNvPr id="11" name="Limit caption 1"/>
          <p:cNvSpPr txBox="1"/>
          <p:nvPr/>
        </p:nvSpPr>
        <p:spPr>
          <a:xfrm>
            <a:off x="2537460" y="2606039"/>
            <a:ext cx="1440180" cy="411480"/>
          </a:xfrm>
          <a:prstGeom prst="rect">
            <a:avLst/>
          </a:prstGeom>
          <a:noFill/>
        </p:spPr>
        <p:txBody>
          <a:bodyPr wrap="square" anchor="t" lIns="0" tIns="0" rIns="0" bIns="0">
            <a:noAutofit/>
          </a:bodyPr>
          <a:lstStyle/>
          <a:p>
            <a:pPr algn="l"/>
            <a:r>
              <a:rPr sz="1150" b="0" i="0">
                <a:solidFill>
                  <a:srgbClr val="0C1A28"/>
                </a:solidFill>
                <a:latin typeface="Arial" panose="020B0604020202020204" pitchFamily="34" charset="0"/>
              </a:rPr>
              <a:t>shares net per match</a:t>
            </a:r>
          </a:p>
        </p:txBody>
      </p:sp>
      <p:sp>
        <p:nvSpPr>
          <p:cNvPr id="12" name="Limit tile 2"/>
          <p:cNvSpPr/>
          <p:nvPr/>
        </p:nvSpPr>
        <p:spPr>
          <a:xfrm>
            <a:off x="548640" y="3172968"/>
            <a:ext cx="1714500" cy="1188720"/>
          </a:xfrm>
          <a:prstGeom prst="roundRect">
            <a:avLst>
              <a:gd name="adj" fmla="val 6153"/>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imit value 2"/>
          <p:cNvSpPr txBox="1"/>
          <p:nvPr/>
        </p:nvSpPr>
        <p:spPr>
          <a:xfrm>
            <a:off x="685800" y="3264408"/>
            <a:ext cx="1440180" cy="658368"/>
          </a:xfrm>
          <a:prstGeom prst="rect">
            <a:avLst/>
          </a:prstGeom>
          <a:noFill/>
        </p:spPr>
        <p:txBody>
          <a:bodyPr wrap="square" anchor="b" lIns="0" tIns="0" rIns="0" bIns="0">
            <a:noAutofit/>
          </a:bodyPr>
          <a:lstStyle/>
          <a:p>
            <a:pPr algn="l"/>
            <a:r>
              <a:rPr sz="2200" b="1" i="0">
                <a:solidFill>
                  <a:srgbClr val="27598B"/>
                </a:solidFill>
                <a:latin typeface="Arial Narrow" panose="020B0606020202030204" pitchFamily="34" charset="0"/>
              </a:rPr>
              <a:t>0.05–0.95</a:t>
            </a:r>
          </a:p>
        </p:txBody>
      </p:sp>
      <p:sp>
        <p:nvSpPr>
          <p:cNvPr id="14" name="Limit caption 2"/>
          <p:cNvSpPr txBox="1"/>
          <p:nvPr/>
        </p:nvSpPr>
        <p:spPr>
          <a:xfrm>
            <a:off x="685800" y="3904487"/>
            <a:ext cx="1440180" cy="411480"/>
          </a:xfrm>
          <a:prstGeom prst="rect">
            <a:avLst/>
          </a:prstGeom>
          <a:noFill/>
        </p:spPr>
        <p:txBody>
          <a:bodyPr wrap="square" anchor="t" lIns="0" tIns="0" rIns="0" bIns="0">
            <a:noAutofit/>
          </a:bodyPr>
          <a:lstStyle/>
          <a:p>
            <a:pPr algn="l"/>
            <a:r>
              <a:rPr sz="1150" b="0" i="0">
                <a:solidFill>
                  <a:srgbClr val="0C1A28"/>
                </a:solidFill>
                <a:latin typeface="Arial" panose="020B0604020202020204" pitchFamily="34" charset="0"/>
              </a:rPr>
              <a:t>price zone only</a:t>
            </a:r>
          </a:p>
        </p:txBody>
      </p:sp>
      <p:sp>
        <p:nvSpPr>
          <p:cNvPr id="15" name="Limit tile 3"/>
          <p:cNvSpPr/>
          <p:nvPr/>
        </p:nvSpPr>
        <p:spPr>
          <a:xfrm>
            <a:off x="2400300" y="3172968"/>
            <a:ext cx="1714500" cy="1188720"/>
          </a:xfrm>
          <a:prstGeom prst="roundRect">
            <a:avLst>
              <a:gd name="adj" fmla="val 6153"/>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imit value 3"/>
          <p:cNvSpPr txBox="1"/>
          <p:nvPr/>
        </p:nvSpPr>
        <p:spPr>
          <a:xfrm>
            <a:off x="2537460" y="3264408"/>
            <a:ext cx="1440180" cy="658368"/>
          </a:xfrm>
          <a:prstGeom prst="rect">
            <a:avLst/>
          </a:prstGeom>
          <a:noFill/>
        </p:spPr>
        <p:txBody>
          <a:bodyPr wrap="square" anchor="b" lIns="0" tIns="0" rIns="0" bIns="0">
            <a:noAutofit/>
          </a:bodyPr>
          <a:lstStyle/>
          <a:p>
            <a:pPr algn="l"/>
            <a:r>
              <a:rPr sz="2800" b="1" i="0">
                <a:solidFill>
                  <a:srgbClr val="D1432F"/>
                </a:solidFill>
                <a:latin typeface="Arial Narrow" panose="020B0606020202030204" pitchFamily="34" charset="0"/>
              </a:rPr>
              <a:t>$1,000</a:t>
            </a:r>
          </a:p>
        </p:txBody>
      </p:sp>
      <p:sp>
        <p:nvSpPr>
          <p:cNvPr id="17" name="Limit caption 3"/>
          <p:cNvSpPr txBox="1"/>
          <p:nvPr/>
        </p:nvSpPr>
        <p:spPr>
          <a:xfrm>
            <a:off x="2537460" y="3904487"/>
            <a:ext cx="1440180" cy="411480"/>
          </a:xfrm>
          <a:prstGeom prst="rect">
            <a:avLst/>
          </a:prstGeom>
          <a:noFill/>
        </p:spPr>
        <p:txBody>
          <a:bodyPr wrap="square" anchor="t" lIns="0" tIns="0" rIns="0" bIns="0">
            <a:noAutofit/>
          </a:bodyPr>
          <a:lstStyle/>
          <a:p>
            <a:pPr algn="l"/>
            <a:r>
              <a:rPr sz="1150" b="0" i="0">
                <a:solidFill>
                  <a:srgbClr val="0C1A28"/>
                </a:solidFill>
                <a:latin typeface="Arial" panose="020B0604020202020204" pitchFamily="34" charset="0"/>
              </a:rPr>
              <a:t>daily stop (latches)</a:t>
            </a:r>
          </a:p>
        </p:txBody>
      </p:sp>
      <p:sp>
        <p:nvSpPr>
          <p:cNvPr id="18" name="Limit tile 4"/>
          <p:cNvSpPr/>
          <p:nvPr/>
        </p:nvSpPr>
        <p:spPr>
          <a:xfrm>
            <a:off x="548640" y="4471416"/>
            <a:ext cx="1714500" cy="1188720"/>
          </a:xfrm>
          <a:prstGeom prst="roundRect">
            <a:avLst>
              <a:gd name="adj" fmla="val 6153"/>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imit value 4"/>
          <p:cNvSpPr txBox="1"/>
          <p:nvPr/>
        </p:nvSpPr>
        <p:spPr>
          <a:xfrm>
            <a:off x="685800" y="4562855"/>
            <a:ext cx="1440180" cy="658368"/>
          </a:xfrm>
          <a:prstGeom prst="rect">
            <a:avLst/>
          </a:prstGeom>
          <a:noFill/>
        </p:spPr>
        <p:txBody>
          <a:bodyPr wrap="square" anchor="b" lIns="0" tIns="0" rIns="0" bIns="0">
            <a:noAutofit/>
          </a:bodyPr>
          <a:lstStyle/>
          <a:p>
            <a:pPr algn="l"/>
            <a:r>
              <a:rPr sz="2800" b="1" i="0">
                <a:solidFill>
                  <a:srgbClr val="D1432F"/>
                </a:solidFill>
                <a:latin typeface="Arial Narrow" panose="020B0606020202030204" pitchFamily="34" charset="0"/>
              </a:rPr>
              <a:t>2 s</a:t>
            </a:r>
          </a:p>
        </p:txBody>
      </p:sp>
      <p:sp>
        <p:nvSpPr>
          <p:cNvPr id="20" name="Limit caption 4"/>
          <p:cNvSpPr txBox="1"/>
          <p:nvPr/>
        </p:nvSpPr>
        <p:spPr>
          <a:xfrm>
            <a:off x="685800" y="5202936"/>
            <a:ext cx="1440180" cy="411480"/>
          </a:xfrm>
          <a:prstGeom prst="rect">
            <a:avLst/>
          </a:prstGeom>
          <a:noFill/>
        </p:spPr>
        <p:txBody>
          <a:bodyPr wrap="square" anchor="t" lIns="0" tIns="0" rIns="0" bIns="0">
            <a:noAutofit/>
          </a:bodyPr>
          <a:lstStyle/>
          <a:p>
            <a:pPr algn="l"/>
            <a:r>
              <a:rPr sz="1150" b="0" i="0">
                <a:solidFill>
                  <a:srgbClr val="0C1A28"/>
                </a:solidFill>
                <a:latin typeface="Arial" panose="020B0604020202020204" pitchFamily="34" charset="0"/>
              </a:rPr>
              <a:t>no data → reduce only</a:t>
            </a:r>
          </a:p>
        </p:txBody>
      </p:sp>
      <p:sp>
        <p:nvSpPr>
          <p:cNvPr id="21" name="Limit tile 5"/>
          <p:cNvSpPr/>
          <p:nvPr/>
        </p:nvSpPr>
        <p:spPr>
          <a:xfrm>
            <a:off x="2400300" y="4471416"/>
            <a:ext cx="1714500" cy="1188720"/>
          </a:xfrm>
          <a:prstGeom prst="roundRect">
            <a:avLst>
              <a:gd name="adj" fmla="val 6153"/>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imit value 5"/>
          <p:cNvSpPr txBox="1"/>
          <p:nvPr/>
        </p:nvSpPr>
        <p:spPr>
          <a:xfrm>
            <a:off x="2537460" y="4562855"/>
            <a:ext cx="1440180" cy="658368"/>
          </a:xfrm>
          <a:prstGeom prst="rect">
            <a:avLst/>
          </a:prstGeom>
          <a:noFill/>
        </p:spPr>
        <p:txBody>
          <a:bodyPr wrap="square" anchor="b" lIns="0" tIns="0" rIns="0" bIns="0">
            <a:noAutofit/>
          </a:bodyPr>
          <a:lstStyle/>
          <a:p>
            <a:pPr algn="l"/>
            <a:r>
              <a:rPr sz="2800" b="1" i="0">
                <a:solidFill>
                  <a:srgbClr val="D1432F"/>
                </a:solidFill>
                <a:latin typeface="Arial Narrow" panose="020B0606020202030204" pitchFamily="34" charset="0"/>
              </a:rPr>
              <a:t>1 s</a:t>
            </a:r>
          </a:p>
        </p:txBody>
      </p:sp>
      <p:sp>
        <p:nvSpPr>
          <p:cNvPr id="23" name="Limit caption 5"/>
          <p:cNvSpPr txBox="1"/>
          <p:nvPr/>
        </p:nvSpPr>
        <p:spPr>
          <a:xfrm>
            <a:off x="2537460" y="5202936"/>
            <a:ext cx="1440180" cy="411480"/>
          </a:xfrm>
          <a:prstGeom prst="rect">
            <a:avLst/>
          </a:prstGeom>
          <a:noFill/>
        </p:spPr>
        <p:txBody>
          <a:bodyPr wrap="square" anchor="t" lIns="0" tIns="0" rIns="0" bIns="0">
            <a:noAutofit/>
          </a:bodyPr>
          <a:lstStyle/>
          <a:p>
            <a:pPr algn="l"/>
            <a:r>
              <a:rPr sz="1150" b="0" i="0">
                <a:solidFill>
                  <a:srgbClr val="0C1A28"/>
                </a:solidFill>
                <a:latin typeface="Arial" panose="020B0604020202020204" pitchFamily="34" charset="0"/>
              </a:rPr>
              <a:t>no vision → reduce only</a:t>
            </a:r>
          </a:p>
        </p:txBody>
      </p:sp>
      <p:sp>
        <p:nvSpPr>
          <p:cNvPr id="24" name="Label: LIQUIDITY &amp; CAPITAL"/>
          <p:cNvSpPr txBox="1"/>
          <p:nvPr/>
        </p:nvSpPr>
        <p:spPr>
          <a:xfrm>
            <a:off x="4389120" y="1572768"/>
            <a:ext cx="3154680" cy="274320"/>
          </a:xfrm>
          <a:prstGeom prst="rect">
            <a:avLst/>
          </a:prstGeom>
          <a:noFill/>
        </p:spPr>
        <p:txBody>
          <a:bodyPr wrap="square" anchor="ctr" lIns="0" tIns="0" rIns="0" bIns="0">
            <a:noAutofit/>
          </a:bodyPr>
          <a:lstStyle/>
          <a:p>
            <a:pPr algn="l"/>
            <a:r>
              <a:rPr sz="1200" b="1" i="0" spc="140">
                <a:solidFill>
                  <a:srgbClr val="27598B"/>
                </a:solidFill>
                <a:latin typeface="Arial" panose="020B0604020202020204" pitchFamily="34" charset="0"/>
              </a:rPr>
              <a:t>LIQUIDITY &amp; CAPITAL</a:t>
            </a:r>
          </a:p>
        </p:txBody>
      </p:sp>
      <p:sp>
        <p:nvSpPr>
          <p:cNvPr id="25" name="Liquidity list"/>
          <p:cNvSpPr txBox="1"/>
          <p:nvPr/>
        </p:nvSpPr>
        <p:spPr>
          <a:xfrm>
            <a:off x="4389120" y="1874519"/>
            <a:ext cx="3154680" cy="4023360"/>
          </a:xfrm>
          <a:prstGeom prst="rect">
            <a:avLst/>
          </a:prstGeom>
          <a:noFill/>
        </p:spPr>
        <p:txBody>
          <a:bodyPr wrap="square" anchor="t" lIns="0" tIns="0" rIns="0" bIns="0">
            <a:noAutofit/>
          </a:bodyPr>
          <a:lstStyle/>
          <a:p>
            <a:pPr algn="l">
              <a:spcAft>
                <a:spcPts val="500"/>
              </a:spcAft>
            </a:pPr>
            <a:r>
              <a:rPr sz="1700" b="1" i="0">
                <a:solidFill>
                  <a:srgbClr val="27598B"/>
                </a:solidFill>
                <a:latin typeface="Arial Narrow" panose="020B0606020202030204" pitchFamily="34" charset="0"/>
              </a:rPr>
              <a:t>$11.17  </a:t>
            </a:r>
            <a:r>
              <a:rPr sz="1100" b="0" i="0">
                <a:solidFill>
                  <a:srgbClr val="0C1A28"/>
                </a:solidFill>
                <a:latin typeface="Arial" panose="020B0604020202020204" pitchFamily="34" charset="0"/>
              </a:rPr>
              <a:t>median v2 trade</a:t>
            </a:r>
          </a:p>
          <a:p>
            <a:pPr algn="l">
              <a:spcAft>
                <a:spcPts val="500"/>
              </a:spcAft>
            </a:pPr>
            <a:r>
              <a:rPr sz="1700" b="1" i="0">
                <a:solidFill>
                  <a:srgbClr val="27598B"/>
                </a:solidFill>
                <a:latin typeface="Arial Narrow" panose="020B0606020202030204" pitchFamily="34" charset="0"/>
              </a:rPr>
              <a:t>$7.2k/day  </a:t>
            </a:r>
            <a:r>
              <a:rPr sz="1100" b="0" i="0">
                <a:solidFill>
                  <a:srgbClr val="0C1A28"/>
                </a:solidFill>
                <a:latin typeface="Arial" panose="020B0604020202020204" pitchFamily="34" charset="0"/>
              </a:rPr>
              <a:t>v2 notional on $28.3k capital (3× peak locked $9.4k)</a:t>
            </a:r>
          </a:p>
          <a:p>
            <a:pPr algn="l">
              <a:spcAft>
                <a:spcPts val="500"/>
              </a:spcAft>
            </a:pPr>
            <a:r>
              <a:rPr sz="1700" b="1" i="0">
                <a:solidFill>
                  <a:srgbClr val="27598B"/>
                </a:solidFill>
                <a:latin typeface="Arial Narrow" panose="020B0606020202030204" pitchFamily="34" charset="0"/>
              </a:rPr>
              <a:t>≤ 18.1%  </a:t>
            </a:r>
            <a:r>
              <a:rPr sz="1100" b="0" i="0">
                <a:solidFill>
                  <a:srgbClr val="0C1A28"/>
                </a:solidFill>
                <a:latin typeface="Arial" panose="020B0604020202020204" pitchFamily="34" charset="0"/>
              </a:rPr>
              <a:t>of the fast tier's own 0–3 s volume in any month</a:t>
            </a:r>
          </a:p>
          <a:p>
            <a:pPr algn="l">
              <a:spcAft>
                <a:spcPts val="500"/>
              </a:spcAft>
            </a:pPr>
            <a:r>
              <a:rPr sz="1700" b="1" i="0">
                <a:solidFill>
                  <a:srgbClr val="27598B"/>
                </a:solidFill>
                <a:latin typeface="Arial Narrow" panose="020B0606020202030204" pitchFamily="34" charset="0"/>
              </a:rPr>
              <a:t>$22.8k–$33.9k  </a:t>
            </a:r>
            <a:r>
              <a:rPr sz="1100" b="0" i="0">
                <a:solidFill>
                  <a:srgbClr val="0C1A28"/>
                </a:solidFill>
                <a:latin typeface="Arial" panose="020B0604020202020204" pitchFamily="34" charset="0"/>
              </a:rPr>
              <a:t>capital where v2's held-out edge still holds (1–2× its frozen size); 5× loses</a:t>
            </a:r>
          </a:p>
          <a:p>
            <a:pPr algn="l">
              <a:spcAft>
                <a:spcPts val="500"/>
              </a:spcAft>
            </a:pPr>
            <a:r>
              <a:rPr sz="1700" b="1" i="0">
                <a:solidFill>
                  <a:srgbClr val="27598B"/>
                </a:solidFill>
                <a:latin typeface="Arial Narrow" panose="020B0606020202030204" pitchFamily="34" charset="0"/>
              </a:rPr>
              <a:t>$13.8k–$22.6k  </a:t>
            </a:r>
            <a:r>
              <a:rPr sz="1100" b="0" i="0">
                <a:solidFill>
                  <a:srgbClr val="0C1A28"/>
                </a:solidFill>
                <a:latin typeface="Arial" panose="020B0604020202020204" pitchFamily="34" charset="0"/>
              </a:rPr>
              <a:t>capital the CV book uses at 1 s (100-share cap, 10 matches a day; results/capacity has the grid)</a:t>
            </a:r>
          </a:p>
          <a:p>
            <a:pPr algn="l">
              <a:spcAft>
                <a:spcPts val="500"/>
              </a:spcAft>
            </a:pPr>
            <a:r>
              <a:rPr sz="1700" b="1" i="0">
                <a:solidFill>
                  <a:srgbClr val="27598B"/>
                </a:solidFill>
                <a:latin typeface="Arial Narrow" panose="020B0606020202030204" pitchFamily="34" charset="0"/>
              </a:rPr>
              <a:t>41.7%  </a:t>
            </a:r>
            <a:r>
              <a:rPr sz="1100" b="0" i="0">
                <a:solidFill>
                  <a:srgbClr val="0C1A28"/>
                </a:solidFill>
                <a:latin typeface="Arial" panose="020B0604020202020204" pitchFamily="34" charset="0"/>
              </a:rPr>
              <a:t>of in-sample P&amp;L from the top wallet: concentration risk</a:t>
            </a:r>
          </a:p>
        </p:txBody>
      </p:sp>
      <p:sp>
        <p:nvSpPr>
          <p:cNvPr id="26" name="Label: $/DAY AFTER CENTRAL FIXE"/>
          <p:cNvSpPr txBox="1"/>
          <p:nvPr/>
        </p:nvSpPr>
        <p:spPr>
          <a:xfrm>
            <a:off x="7818120" y="1572768"/>
            <a:ext cx="3824935" cy="274320"/>
          </a:xfrm>
          <a:prstGeom prst="rect">
            <a:avLst/>
          </a:prstGeom>
          <a:noFill/>
        </p:spPr>
        <p:txBody>
          <a:bodyPr wrap="square" anchor="ctr" lIns="0" tIns="0" rIns="0" bIns="0">
            <a:noAutofit/>
          </a:bodyPr>
          <a:lstStyle/>
          <a:p>
            <a:pPr algn="l"/>
            <a:r>
              <a:rPr sz="1200" b="1" i="0" spc="140">
                <a:solidFill>
                  <a:srgbClr val="27598B"/>
                </a:solidFill>
                <a:latin typeface="Arial" panose="020B0604020202020204" pitchFamily="34" charset="0"/>
              </a:rPr>
              <a:t>$/DAY AFTER CENTRAL FIXED COSTS</a:t>
            </a:r>
          </a:p>
        </p:txBody>
      </p:sp>
      <p:graphicFrame>
        <p:nvGraphicFramePr>
          <p:cNvPr id="27" name="Table: financials"/>
          <p:cNvGraphicFramePr>
            <a:graphicFrameLocks noGrp="1"/>
          </p:cNvGraphicFramePr>
          <p:nvPr/>
        </p:nvGraphicFramePr>
        <p:xfrm>
          <a:off x="7818120" y="1874519"/>
          <a:ext cx="3824935" cy="2633472"/>
        </p:xfrm>
        <a:graphic>
          <a:graphicData uri="http://schemas.openxmlformats.org/drawingml/2006/table">
            <a:tbl>
              <a:tblPr>
                <a:tableStyleId>{2D5ABB26-0587-4C30-8999-92F81FD0307C}</a:tableStyleId>
              </a:tblPr>
              <a:tblGrid>
                <a:gridCol w="1493215"/>
                <a:gridCol w="777240"/>
                <a:gridCol w="685800"/>
                <a:gridCol w="868680"/>
              </a:tblGrid>
              <a:tr h="347472">
                <a:tc>
                  <a:txBody>
                    <a:bodyPr wrap="square"/>
                    <a:lstStyle/>
                    <a:p>
                      <a:pPr algn="l"/>
                      <a:r>
                        <a:rPr sz="1100" b="1" i="0">
                          <a:solidFill>
                            <a:srgbClr val="FFFFFF"/>
                          </a:solidFill>
                          <a:latin typeface="Arial" panose="020B0604020202020204" pitchFamily="34" charset="0"/>
                        </a:rPr>
                        <a:t>Book</a:t>
                      </a:r>
                    </a:p>
                  </a:txBody>
                  <a:tcPr marL="91440" marR="91440" marT="27432" marB="27432" anchor="ctr">
                    <a:lnL w="9525">
                      <a:noFill/>
                    </a:lnL>
                    <a:lnR w="9525">
                      <a:noFill/>
                    </a:lnR>
                    <a:lnT w="9525">
                      <a:noFill/>
                    </a:lnT>
                    <a:lnB w="9525">
                      <a:solidFill>
                        <a:srgbClr val="D3DCE5"/>
                      </a:solidFill>
                    </a:lnB>
                    <a:solidFill>
                      <a:srgbClr val="0C1A28"/>
                    </a:solidFill>
                  </a:tcPr>
                </a:tc>
                <a:tc>
                  <a:txBody>
                    <a:bodyPr wrap="square"/>
                    <a:lstStyle/>
                    <a:p>
                      <a:pPr algn="r"/>
                      <a:r>
                        <a:rPr sz="1100" b="1" i="0">
                          <a:solidFill>
                            <a:srgbClr val="FFFFFF"/>
                          </a:solidFill>
                          <a:latin typeface="Arial" panose="020B0604020202020204" pitchFamily="34" charset="0"/>
                        </a:rPr>
                        <a:t>Trading</a:t>
                      </a:r>
                    </a:p>
                  </a:txBody>
                  <a:tcPr marL="91440" marR="91440" marT="27432" marB="27432" anchor="ctr">
                    <a:lnL w="9525">
                      <a:noFill/>
                    </a:lnL>
                    <a:lnR w="9525">
                      <a:noFill/>
                    </a:lnR>
                    <a:lnT w="9525">
                      <a:noFill/>
                    </a:lnT>
                    <a:lnB w="9525">
                      <a:solidFill>
                        <a:srgbClr val="D3DCE5"/>
                      </a:solidFill>
                    </a:lnB>
                    <a:solidFill>
                      <a:srgbClr val="0C1A28"/>
                    </a:solidFill>
                  </a:tcPr>
                </a:tc>
                <a:tc>
                  <a:txBody>
                    <a:bodyPr wrap="square"/>
                    <a:lstStyle/>
                    <a:p>
                      <a:pPr algn="r"/>
                      <a:r>
                        <a:rPr sz="1100" b="1" i="0">
                          <a:solidFill>
                            <a:srgbClr val="FFFFFF"/>
                          </a:solidFill>
                          <a:latin typeface="Arial" panose="020B0604020202020204" pitchFamily="34" charset="0"/>
                        </a:rPr>
                        <a:t>Fixed</a:t>
                      </a:r>
                    </a:p>
                  </a:txBody>
                  <a:tcPr marL="91440" marR="91440" marT="27432" marB="27432" anchor="ctr">
                    <a:lnL w="9525">
                      <a:noFill/>
                    </a:lnL>
                    <a:lnR w="9525">
                      <a:noFill/>
                    </a:lnR>
                    <a:lnT w="9525">
                      <a:noFill/>
                    </a:lnT>
                    <a:lnB w="9525">
                      <a:solidFill>
                        <a:srgbClr val="D3DCE5"/>
                      </a:solidFill>
                    </a:lnB>
                    <a:solidFill>
                      <a:srgbClr val="0C1A28"/>
                    </a:solidFill>
                  </a:tcPr>
                </a:tc>
                <a:tc>
                  <a:txBody>
                    <a:bodyPr wrap="square"/>
                    <a:lstStyle/>
                    <a:p>
                      <a:pPr algn="r"/>
                      <a:r>
                        <a:rPr sz="1100" b="1" i="0">
                          <a:solidFill>
                            <a:srgbClr val="FFFFFF"/>
                          </a:solidFill>
                          <a:latin typeface="Arial" panose="020B0604020202020204" pitchFamily="34" charset="0"/>
                        </a:rPr>
                        <a:t>Net</a:t>
                      </a:r>
                    </a:p>
                  </a:txBody>
                  <a:tcPr marL="91440" marR="91440" marT="27432" marB="27432" anchor="ctr">
                    <a:lnL w="9525">
                      <a:noFill/>
                    </a:lnL>
                    <a:lnR w="9525">
                      <a:noFill/>
                    </a:lnR>
                    <a:lnT w="9525">
                      <a:noFill/>
                    </a:lnT>
                    <a:lnB w="9525">
                      <a:solidFill>
                        <a:srgbClr val="D3DCE5"/>
                      </a:solidFill>
                    </a:lnB>
                    <a:solidFill>
                      <a:srgbClr val="0C1A28"/>
                    </a:solidFill>
                  </a:tcPr>
                </a:tc>
              </a:tr>
              <a:tr h="457200">
                <a:tc>
                  <a:txBody>
                    <a:bodyPr wrap="square"/>
                    <a:lstStyle/>
                    <a:p>
                      <a:pPr algn="l"/>
                      <a:r>
                        <a:rPr sz="1100" b="0" i="0">
                          <a:solidFill>
                            <a:srgbClr val="0C1A28"/>
                          </a:solidFill>
                          <a:latin typeface="Arial" panose="020B0604020202020204" pitchFamily="34" charset="0"/>
                        </a:rPr>
                        <a:t>v2, IS</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150" b="0" i="0">
                          <a:solidFill>
                            <a:srgbClr val="0C1A28"/>
                          </a:solidFill>
                          <a:latin typeface="Arial" panose="020B0604020202020204" pitchFamily="34" charset="0"/>
                        </a:rPr>
                        <a:t>+$196</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150" b="0" i="0">
                          <a:solidFill>
                            <a:srgbClr val="566676"/>
                          </a:solidFill>
                          <a:latin typeface="Arial" panose="020B0604020202020204" pitchFamily="34" charset="0"/>
                        </a:rPr>
                        <a:t>$167</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200" b="1" i="0">
                          <a:solidFill>
                            <a:srgbClr val="27598B"/>
                          </a:solidFill>
                          <a:latin typeface="Arial" panose="020B0604020202020204" pitchFamily="34" charset="0"/>
                        </a:rPr>
                        <a:t>+$29</a:t>
                      </a:r>
                    </a:p>
                  </a:txBody>
                  <a:tcPr marL="91440" marR="91440" marT="27432" marB="27432" anchor="ctr">
                    <a:lnL w="9525">
                      <a:noFill/>
                    </a:lnL>
                    <a:lnR w="9525">
                      <a:noFill/>
                    </a:lnR>
                    <a:lnT w="9525">
                      <a:noFill/>
                    </a:lnT>
                    <a:lnB w="9525">
                      <a:solidFill>
                        <a:srgbClr val="D3DCE5"/>
                      </a:solidFill>
                    </a:lnB>
                    <a:noFill/>
                  </a:tcPr>
                </a:tc>
              </a:tr>
              <a:tr h="457200">
                <a:tc>
                  <a:txBody>
                    <a:bodyPr wrap="square"/>
                    <a:lstStyle/>
                    <a:p>
                      <a:pPr algn="l"/>
                      <a:r>
                        <a:rPr sz="1100" b="0" i="0">
                          <a:solidFill>
                            <a:srgbClr val="0C1A28"/>
                          </a:solidFill>
                          <a:latin typeface="Arial" panose="020B0604020202020204" pitchFamily="34" charset="0"/>
                        </a:rPr>
                        <a:t>v2, IS, today's fees</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150" b="0" i="0">
                          <a:solidFill>
                            <a:srgbClr val="0C1A28"/>
                          </a:solidFill>
                          <a:latin typeface="Arial" panose="020B0604020202020204" pitchFamily="34" charset="0"/>
                        </a:rPr>
                        <a:t>+$179</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150" b="0" i="0">
                          <a:solidFill>
                            <a:srgbClr val="566676"/>
                          </a:solidFill>
                          <a:latin typeface="Arial" panose="020B0604020202020204" pitchFamily="34" charset="0"/>
                        </a:rPr>
                        <a:t>$167</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200" b="1" i="0">
                          <a:solidFill>
                            <a:srgbClr val="27598B"/>
                          </a:solidFill>
                          <a:latin typeface="Arial" panose="020B0604020202020204" pitchFamily="34" charset="0"/>
                        </a:rPr>
                        <a:t>+$12</a:t>
                      </a:r>
                    </a:p>
                  </a:txBody>
                  <a:tcPr marL="91440" marR="91440" marT="27432" marB="27432" anchor="ctr">
                    <a:lnL w="9525">
                      <a:noFill/>
                    </a:lnL>
                    <a:lnR w="9525">
                      <a:noFill/>
                    </a:lnR>
                    <a:lnT w="9525">
                      <a:noFill/>
                    </a:lnT>
                    <a:lnB w="9525">
                      <a:solidFill>
                        <a:srgbClr val="D3DCE5"/>
                      </a:solidFill>
                    </a:lnB>
                    <a:noFill/>
                  </a:tcPr>
                </a:tc>
              </a:tr>
              <a:tr h="457200">
                <a:tc>
                  <a:txBody>
                    <a:bodyPr wrap="square"/>
                    <a:lstStyle/>
                    <a:p>
                      <a:pPr algn="l"/>
                      <a:r>
                        <a:rPr sz="1100" b="0" i="0">
                          <a:solidFill>
                            <a:srgbClr val="0C1A28"/>
                          </a:solidFill>
                          <a:latin typeface="Arial" panose="020B0604020202020204" pitchFamily="34" charset="0"/>
                        </a:rPr>
                        <a:t>v2, burned OOS</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150" b="0" i="0">
                          <a:solidFill>
                            <a:srgbClr val="0C1A28"/>
                          </a:solidFill>
                          <a:latin typeface="Arial" panose="020B0604020202020204" pitchFamily="34" charset="0"/>
                        </a:rPr>
                        <a:t>+$92</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150" b="0" i="0">
                          <a:solidFill>
                            <a:srgbClr val="566676"/>
                          </a:solidFill>
                          <a:latin typeface="Arial" panose="020B0604020202020204" pitchFamily="34" charset="0"/>
                        </a:rPr>
                        <a:t>$167</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200" b="1" i="0">
                          <a:solidFill>
                            <a:srgbClr val="D1432F"/>
                          </a:solidFill>
                          <a:latin typeface="Arial" panose="020B0604020202020204" pitchFamily="34" charset="0"/>
                        </a:rPr>
                        <a:t>−$75</a:t>
                      </a:r>
                    </a:p>
                  </a:txBody>
                  <a:tcPr marL="91440" marR="91440" marT="27432" marB="27432" anchor="ctr">
                    <a:lnL w="9525">
                      <a:noFill/>
                    </a:lnL>
                    <a:lnR w="9525">
                      <a:noFill/>
                    </a:lnR>
                    <a:lnT w="9525">
                      <a:noFill/>
                    </a:lnT>
                    <a:lnB w="9525">
                      <a:solidFill>
                        <a:srgbClr val="D3DCE5"/>
                      </a:solidFill>
                    </a:lnB>
                    <a:noFill/>
                  </a:tcPr>
                </a:tc>
              </a:tr>
              <a:tr h="457200">
                <a:tc>
                  <a:txBody>
                    <a:bodyPr wrap="square"/>
                    <a:lstStyle/>
                    <a:p>
                      <a:pPr algn="l"/>
                      <a:r>
                        <a:rPr sz="1100" b="0" i="0">
                          <a:solidFill>
                            <a:srgbClr val="0C1A28"/>
                          </a:solidFill>
                          <a:latin typeface="Arial" panose="020B0604020202020204" pitchFamily="34" charset="0"/>
                        </a:rPr>
                        <a:t>Maker, blind OOS</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150" b="0" i="0">
                          <a:solidFill>
                            <a:srgbClr val="0C1A28"/>
                          </a:solidFill>
                          <a:latin typeface="Arial" panose="020B0604020202020204" pitchFamily="34" charset="0"/>
                        </a:rPr>
                        <a:t>−$9</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150" b="0" i="0">
                          <a:solidFill>
                            <a:srgbClr val="566676"/>
                          </a:solidFill>
                          <a:latin typeface="Arial" panose="020B0604020202020204" pitchFamily="34" charset="0"/>
                        </a:rPr>
                        <a:t>$3</a:t>
                      </a:r>
                    </a:p>
                  </a:txBody>
                  <a:tcPr marL="91440" marR="91440" marT="27432" marB="27432" anchor="ctr">
                    <a:lnL w="9525">
                      <a:noFill/>
                    </a:lnL>
                    <a:lnR w="9525">
                      <a:noFill/>
                    </a:lnR>
                    <a:lnT w="9525">
                      <a:noFill/>
                    </a:lnT>
                    <a:lnB w="9525">
                      <a:solidFill>
                        <a:srgbClr val="D3DCE5"/>
                      </a:solidFill>
                    </a:lnB>
                    <a:noFill/>
                  </a:tcPr>
                </a:tc>
                <a:tc>
                  <a:txBody>
                    <a:bodyPr wrap="square"/>
                    <a:lstStyle/>
                    <a:p>
                      <a:pPr algn="r"/>
                      <a:r>
                        <a:rPr sz="1200" b="1" i="0">
                          <a:solidFill>
                            <a:srgbClr val="D1432F"/>
                          </a:solidFill>
                          <a:latin typeface="Arial" panose="020B0604020202020204" pitchFamily="34" charset="0"/>
                        </a:rPr>
                        <a:t>−$12</a:t>
                      </a:r>
                    </a:p>
                  </a:txBody>
                  <a:tcPr marL="91440" marR="91440" marT="27432" marB="27432" anchor="ctr">
                    <a:lnL w="9525">
                      <a:noFill/>
                    </a:lnL>
                    <a:lnR w="9525">
                      <a:noFill/>
                    </a:lnR>
                    <a:lnT w="9525">
                      <a:noFill/>
                    </a:lnT>
                    <a:lnB w="9525">
                      <a:solidFill>
                        <a:srgbClr val="D3DCE5"/>
                      </a:solidFill>
                    </a:lnB>
                    <a:noFill/>
                  </a:tcPr>
                </a:tc>
              </a:tr>
              <a:tr h="457200">
                <a:tc>
                  <a:txBody>
                    <a:bodyPr wrap="square"/>
                    <a:lstStyle/>
                    <a:p>
                      <a:pPr algn="l"/>
                      <a:r>
                        <a:rPr sz="1000" b="0" i="0">
                          <a:solidFill>
                            <a:srgbClr val="0C1A28"/>
                          </a:solidFill>
                          <a:latin typeface="Arial" panose="020B0604020202020204" pitchFamily="34" charset="0"/>
                        </a:rPr>
                        <a:t>CV @ 1 s, OOS: pre-reg / post hoc</a:t>
                      </a:r>
                    </a:p>
                  </a:txBody>
                  <a:tcPr marL="91440" marR="91440" marT="27432" marB="27432" anchor="ctr">
                    <a:lnL w="9525">
                      <a:noFill/>
                    </a:lnL>
                    <a:lnR w="9525">
                      <a:noFill/>
                    </a:lnR>
                    <a:lnT w="9525">
                      <a:noFill/>
                    </a:lnT>
                    <a:lnB w="9525">
                      <a:noFill/>
                    </a:lnB>
                    <a:noFill/>
                  </a:tcPr>
                </a:tc>
                <a:tc>
                  <a:txBody>
                    <a:bodyPr wrap="square"/>
                    <a:lstStyle/>
                    <a:p>
                      <a:pPr algn="r"/>
                      <a:r>
                        <a:rPr sz="1050" b="0" i="0">
                          <a:solidFill>
                            <a:srgbClr val="0C1A28"/>
                          </a:solidFill>
                          <a:latin typeface="Arial" panose="020B0604020202020204" pitchFamily="34" charset="0"/>
                        </a:rPr>
                        <a:t>+4 / +57</a:t>
                      </a:r>
                    </a:p>
                  </a:txBody>
                  <a:tcPr marL="91440" marR="91440" marT="27432" marB="27432" anchor="ctr">
                    <a:lnL w="9525">
                      <a:noFill/>
                    </a:lnL>
                    <a:lnR w="9525">
                      <a:noFill/>
                    </a:lnR>
                    <a:lnT w="9525">
                      <a:noFill/>
                    </a:lnT>
                    <a:lnB w="9525">
                      <a:noFill/>
                    </a:lnB>
                    <a:noFill/>
                  </a:tcPr>
                </a:tc>
                <a:tc>
                  <a:txBody>
                    <a:bodyPr wrap="square"/>
                    <a:lstStyle/>
                    <a:p>
                      <a:pPr algn="r"/>
                      <a:r>
                        <a:rPr sz="1100" b="0" i="0">
                          <a:solidFill>
                            <a:srgbClr val="566676"/>
                          </a:solidFill>
                          <a:latin typeface="Arial" panose="020B0604020202020204" pitchFamily="34" charset="0"/>
                        </a:rPr>
                        <a:t>$167</a:t>
                      </a:r>
                    </a:p>
                  </a:txBody>
                  <a:tcPr marL="91440" marR="91440" marT="27432" marB="27432" anchor="ctr">
                    <a:lnL w="9525">
                      <a:noFill/>
                    </a:lnL>
                    <a:lnR w="9525">
                      <a:noFill/>
                    </a:lnR>
                    <a:lnT w="9525">
                      <a:noFill/>
                    </a:lnT>
                    <a:lnB w="9525">
                      <a:noFill/>
                    </a:lnB>
                    <a:noFill/>
                  </a:tcPr>
                </a:tc>
                <a:tc>
                  <a:txBody>
                    <a:bodyPr wrap="square"/>
                    <a:lstStyle/>
                    <a:p>
                      <a:pPr algn="r"/>
                      <a:r>
                        <a:rPr sz="1100" b="1" i="0">
                          <a:solidFill>
                            <a:srgbClr val="D1432F"/>
                          </a:solidFill>
                          <a:latin typeface="Arial" panose="020B0604020202020204" pitchFamily="34" charset="0"/>
                        </a:rPr>
                        <a:t>−163 / −110</a:t>
                      </a:r>
                    </a:p>
                  </a:txBody>
                  <a:tcPr marL="91440" marR="91440" marT="27432" marB="27432" anchor="ctr">
                    <a:lnL w="9525">
                      <a:noFill/>
                    </a:lnL>
                    <a:lnR w="9525">
                      <a:noFill/>
                    </a:lnR>
                    <a:lnT w="9525">
                      <a:noFill/>
                    </a:lnT>
                    <a:lnB w="9525">
                      <a:noFill/>
                    </a:lnB>
                    <a:noFill/>
                  </a:tcPr>
                </a:tc>
              </a:tr>
            </a:tbl>
          </a:graphicData>
        </a:graphic>
      </p:graphicFrame>
      <p:sp>
        <p:nvSpPr>
          <p:cNvPr id="28" name="Financials note"/>
          <p:cNvSpPr txBox="1"/>
          <p:nvPr/>
        </p:nvSpPr>
        <p:spPr>
          <a:xfrm>
            <a:off x="7818120" y="4572000"/>
            <a:ext cx="3824935" cy="1280160"/>
          </a:xfrm>
          <a:prstGeom prst="rect">
            <a:avLst/>
          </a:prstGeom>
          <a:noFill/>
        </p:spPr>
        <p:txBody>
          <a:bodyPr wrap="square" anchor="t" lIns="0" tIns="0" rIns="0" bIns="0">
            <a:noAutofit/>
          </a:bodyPr>
          <a:lstStyle/>
          <a:p>
            <a:pPr algn="l"/>
            <a:r>
              <a:rPr sz="1050" b="1" i="0">
                <a:solidFill>
                  <a:srgbClr val="0C1A28"/>
                </a:solidFill>
                <a:latin typeface="Arial" panose="020B0604020202020204" pitchFamily="34" charset="0"/>
              </a:rPr>
              <a:t>The CV book at 1 s can pay at most $1,644/month for data (post hoc) or $55 (pre-registered), against quotes of $1,250–$10,000/month (ASSUMPTION; $5,000 central). It prices speed; it is not yet a business.</a:t>
            </a:r>
          </a:p>
          <a:p>
            <a:pPr algn="l">
              <a:spcBef>
                <a:spcPts val="300"/>
              </a:spcBef>
            </a:pPr>
            <a:r>
              <a:rPr sz="950" b="0" i="0">
                <a:solidFill>
                  <a:srgbClr val="D1432F"/>
                </a:solidFill>
                <a:latin typeface="Arial" panose="020B0604020202020204" pitchFamily="34" charset="0"/>
              </a:rPr>
              <a:t>CV @ 1 s: SIMULATED: assumed 1 s licensed feed (not purchased); parameters measured; trade set = points that later moved ≥ 4¢ (selected on outcomes, not ex ante).</a:t>
            </a:r>
          </a:p>
        </p:txBody>
      </p:sp>
      <p:sp>
        <p:nvSpPr>
          <p:cNvPr id="29" name="Risk strip"/>
          <p:cNvSpPr/>
          <p:nvPr/>
        </p:nvSpPr>
        <p:spPr>
          <a:xfrm>
            <a:off x="548640" y="5870448"/>
            <a:ext cx="11094415" cy="475488"/>
          </a:xfrm>
          <a:prstGeom prst="roundRect">
            <a:avLst>
              <a:gd name="adj" fmla="val 15384"/>
            </a:avLst>
          </a:prstGeom>
          <a:solidFill>
            <a:srgbClr val="0C1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isk register"/>
          <p:cNvSpPr txBox="1"/>
          <p:nvPr/>
        </p:nvSpPr>
        <p:spPr>
          <a:xfrm>
            <a:off x="777240" y="5870448"/>
            <a:ext cx="10637215" cy="475488"/>
          </a:xfrm>
          <a:prstGeom prst="rect">
            <a:avLst/>
          </a:prstGeom>
          <a:noFill/>
        </p:spPr>
        <p:txBody>
          <a:bodyPr wrap="square" anchor="ctr" lIns="0" tIns="0" rIns="0" bIns="0">
            <a:noAutofit/>
          </a:bodyPr>
          <a:lstStyle/>
          <a:p>
            <a:pPr algn="l"/>
            <a:r>
              <a:rPr sz="1200" b="1" i="0">
                <a:solidFill>
                  <a:srgbClr val="F07A66"/>
                </a:solidFill>
                <a:latin typeface="Arial" panose="020B0604020202020204" pitchFamily="34" charset="0"/>
              </a:rPr>
              <a:t>Top risks (docs/RISK.md): </a:t>
            </a:r>
            <a:r>
              <a:rPr sz="1200" b="0" i="0">
                <a:solidFill>
                  <a:srgbClr val="FFFFFF"/>
                </a:solidFill>
                <a:latin typeface="Arial" panose="020B0604020202020204" pitchFamily="34" charset="0"/>
              </a:rPr>
              <a:t>fee/delay regime change (R11) · crowding for the same stale quote (R6) · wallet concentration (R2) · venue access and data rights (R16)</a:t>
            </a:r>
          </a:p>
        </p:txBody>
      </p:sp>
      <p:sp>
        <p:nvSpPr>
          <p:cNvPr id="31"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32"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9</a:t>
            </a:fld>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C1A28"/>
        </a:solidFill>
        <a:effectLst/>
      </p:bgPr>
    </p:bg>
    <p:spTree>
      <p:nvGrpSpPr>
        <p:cNvPr id="1" name=""/>
        <p:cNvGrpSpPr/>
        <p:nvPr/>
      </p:nvGrpSpPr>
      <p:grpSpPr/>
      <p:sp>
        <p:nvSpPr>
          <p:cNvPr id="2" name="Title 1"/>
          <p:cNvSpPr>
            <a:spLocks noGrp="1"/>
          </p:cNvSpPr>
          <p:nvPr>
            <p:ph type="title"/>
          </p:nvPr>
        </p:nvSpPr>
        <p:spPr/>
        <p:txBody>
          <a:bodyPr lIns="0" tIns="0" rIns="0" bIns="0"/>
          <a:lstStyle/>
          <a:p>
            <a:r>
              <a:rPr sz="4000" b="1" i="0">
                <a:solidFill>
                  <a:srgbClr val="FFFFFF"/>
                </a:solidFill>
                <a:latin typeface="Arial Narrow" panose="020B0606020202030204" pitchFamily="34" charset="0"/>
              </a:rPr>
              <a:t>Public code. Public data. Paper only.</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9FB3C8"/>
                </a:solidFill>
                <a:latin typeface="Arial" panose="020B0604020202020204" pitchFamily="34" charset="0"/>
              </a:rPr>
              <a:t>REPRODUCE IT</a:t>
            </a:r>
          </a:p>
        </p:txBody>
      </p:sp>
      <p:sp>
        <p:nvSpPr>
          <p:cNvPr id="5" name="Terminal card"/>
          <p:cNvSpPr/>
          <p:nvPr/>
        </p:nvSpPr>
        <p:spPr>
          <a:xfrm>
            <a:off x="548640" y="1737360"/>
            <a:ext cx="7863840" cy="2103120"/>
          </a:xfrm>
          <a:prstGeom prst="roundRect">
            <a:avLst>
              <a:gd name="adj" fmla="val 4347"/>
            </a:avLst>
          </a:prstGeom>
          <a:solidFill>
            <a:srgbClr val="17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ommand"/>
          <p:cNvSpPr txBox="1"/>
          <p:nvPr/>
        </p:nvSpPr>
        <p:spPr>
          <a:xfrm>
            <a:off x="822959" y="1737360"/>
            <a:ext cx="7406640" cy="2103120"/>
          </a:xfrm>
          <a:prstGeom prst="rect">
            <a:avLst/>
          </a:prstGeom>
          <a:noFill/>
        </p:spPr>
        <p:txBody>
          <a:bodyPr wrap="square" anchor="ctr" lIns="0" tIns="0" rIns="0" bIns="0">
            <a:noAutofit/>
          </a:bodyPr>
          <a:lstStyle/>
          <a:p>
            <a:pPr algn="l"/>
            <a:r>
              <a:rPr sz="1500" b="1" i="0">
                <a:solidFill>
                  <a:srgbClr val="F07A66"/>
                </a:solidFill>
                <a:latin typeface="Courier New"/>
              </a:rPr>
              <a:t>$ </a:t>
            </a:r>
            <a:r>
              <a:rPr sz="1900" b="1" i="0">
                <a:solidFill>
                  <a:srgbClr val="FFFFFF"/>
                </a:solidFill>
                <a:latin typeface="Courier New"/>
              </a:rPr>
              <a:t>bash run.sh replay</a:t>
            </a:r>
          </a:p>
          <a:p>
            <a:pPr algn="l"/>
            <a:r>
              <a:rPr sz="1150" b="0" i="0">
                <a:solidFill>
                  <a:srgbClr val="9FB3C8"/>
                </a:solidFill>
                <a:latin typeface="Courier New"/>
              </a:rPr>
              <a:t>  # paper engine on recorded live books, in seconds, no network</a:t>
            </a:r>
          </a:p>
          <a:p>
            <a:pPr algn="l">
              <a:spcBef>
                <a:spcPts val="600"/>
              </a:spcBef>
            </a:pPr>
            <a:r>
              <a:rPr sz="1500" b="1" i="0">
                <a:solidFill>
                  <a:srgbClr val="F07A66"/>
                </a:solidFill>
                <a:latin typeface="Courier New"/>
              </a:rPr>
              <a:t>$ </a:t>
            </a:r>
            <a:r>
              <a:rPr sz="1900" b="1" i="0">
                <a:solidFill>
                  <a:srgbClr val="FFFFFF"/>
                </a:solidFill>
                <a:latin typeface="Courier New"/>
              </a:rPr>
              <a:t>bash run.sh data &amp;&amp; bash run.sh reproduce</a:t>
            </a:r>
          </a:p>
          <a:p>
            <a:pPr algn="l"/>
            <a:r>
              <a:rPr sz="1150" b="0" i="0">
                <a:solidFill>
                  <a:srgbClr val="9FB3C8"/>
                </a:solidFill>
                <a:latin typeface="Courier New"/>
              </a:rPr>
              <a:t>  # public crawl, no keys (~1-2 h), then every table and figure in the note</a:t>
            </a:r>
          </a:p>
          <a:p>
            <a:pPr algn="l">
              <a:spcBef>
                <a:spcPts val="400"/>
              </a:spcBef>
            </a:pPr>
            <a:r>
              <a:rPr sz="1150" b="0" i="0">
                <a:solidFill>
                  <a:srgbClr val="9FB3C8"/>
                </a:solidFill>
                <a:latin typeface="Courier New"/>
              </a:rPr>
              <a:t>  # this deck: .venv/bin/python docs/deck/build_deck.py</a:t>
            </a:r>
          </a:p>
          <a:p>
            <a:pPr algn="l"/>
            <a:r>
              <a:rPr sz="1150" b="0" i="0">
                <a:solidFill>
                  <a:srgbClr val="9FB3C8"/>
                </a:solidFill>
                <a:latin typeface="Courier New"/>
              </a:rPr>
              <a:t>  # vision calls need models/vision/frozen_call_model.pkl (not in git; rebuilt by hpg/engine_vision.sbatch)</a:t>
            </a:r>
          </a:p>
        </p:txBody>
      </p:sp>
      <p:sp>
        <p:nvSpPr>
          <p:cNvPr id="7" name="Repo URL"/>
          <p:cNvSpPr txBox="1"/>
          <p:nvPr/>
        </p:nvSpPr>
        <p:spPr>
          <a:xfrm>
            <a:off x="548640" y="3977639"/>
            <a:ext cx="11094415" cy="502920"/>
          </a:xfrm>
          <a:prstGeom prst="rect">
            <a:avLst/>
          </a:prstGeom>
          <a:noFill/>
        </p:spPr>
        <p:txBody>
          <a:bodyPr wrap="square" anchor="ctr" lIns="0" tIns="0" rIns="0" bIns="0">
            <a:noAutofit/>
          </a:bodyPr>
          <a:lstStyle/>
          <a:p>
            <a:pPr algn="l"/>
            <a:r>
              <a:rPr sz="1400" b="1" i="0">
                <a:solidFill>
                  <a:srgbClr val="FFFFFF"/>
                </a:solidFill>
                <a:latin typeface="Courier New"/>
              </a:rPr>
              <a:t>https://github.com/OjasMishra32/computervisionpredictivetabletennismoneymachineouuushiii</a:t>
            </a:r>
          </a:p>
        </p:txBody>
      </p:sp>
      <p:sp>
        <p:nvSpPr>
          <p:cNvPr id="8" name="Pending"/>
          <p:cNvSpPr txBox="1"/>
          <p:nvPr/>
        </p:nvSpPr>
        <p:spPr>
          <a:xfrm>
            <a:off x="548640" y="4572000"/>
            <a:ext cx="11094415" cy="1645920"/>
          </a:xfrm>
          <a:prstGeom prst="rect">
            <a:avLst/>
          </a:prstGeom>
          <a:noFill/>
        </p:spPr>
        <p:txBody>
          <a:bodyPr wrap="square" anchor="t" lIns="0" tIns="0" rIns="0" bIns="0">
            <a:noAutofit/>
          </a:bodyPr>
          <a:lstStyle/>
          <a:p>
            <a:pPr algn="l"/>
            <a:r>
              <a:rPr sz="1300" b="1" i="0">
                <a:solidFill>
                  <a:srgbClr val="F07A66"/>
                </a:solidFill>
                <a:latin typeface="Arial" panose="020B0604020202020204" pitchFamily="34" charset="0"/>
              </a:rPr>
              <a:t>NEXT: </a:t>
            </a:r>
            <a:r>
              <a:rPr sz="1300" b="0" i="0">
                <a:solidFill>
                  <a:srgbClr val="FFFFFF"/>
                </a:solidFill>
                <a:latin typeface="Arial" panose="020B0604020202020204" pitchFamily="34" charset="0"/>
              </a:rPr>
              <a:t>one licensed-feed session to measure the stamp lag; an ex-ante point filter; then decide whether to buy a feed.</a:t>
            </a:r>
          </a:p>
          <a:p>
            <a:pPr algn="l">
              <a:spcBef>
                <a:spcPts val="600"/>
              </a:spcBef>
            </a:pPr>
            <a:r>
              <a:rPr sz="1200" b="1" i="0" spc="140">
                <a:solidFill>
                  <a:srgbClr val="9FB3C8"/>
                </a:solidFill>
                <a:latin typeface="Arial" panose="020B0604020202020204" pitchFamily="34" charset="0"/>
              </a:rPr>
              <a:t>STILL OPEN AT BUILD TIME</a:t>
            </a:r>
          </a:p>
          <a:p>
            <a:pPr algn="l">
              <a:spcBef>
                <a:spcPts val="400"/>
              </a:spcBef>
            </a:pPr>
            <a:r>
              <a:rPr sz="1400" b="1" i="0">
                <a:solidFill>
                  <a:srgbClr val="FFFFFF"/>
                </a:solidFill>
                <a:latin typeface="Arial" panose="020B0604020202020204" pitchFamily="34" charset="0"/>
              </a:rPr>
              <a:t>Blind forward test (run once, planned 2026-10-04 11:30 UTC): </a:t>
            </a:r>
            <a:r>
              <a:rPr sz="1400" b="1" i="0">
                <a:solidFill>
                  <a:srgbClr val="F07A66"/>
                </a:solidFill>
                <a:latin typeface="Arial" panose="020B0604020202020204" pitchFamily="34" charset="0"/>
              </a:rPr>
              <a:t>pending</a:t>
            </a:r>
          </a:p>
          <a:p>
            <a:pPr algn="l"/>
            <a:r>
              <a:rPr sz="1400" b="1" i="0">
                <a:solidFill>
                  <a:srgbClr val="FFFFFF"/>
                </a:solidFill>
                <a:latin typeface="Arial" panose="020B0604020202020204" pitchFamily="34" charset="0"/>
              </a:rPr>
              <a:t>Live paper session: </a:t>
            </a:r>
            <a:r>
              <a:rPr sz="1400" b="0" i="0">
                <a:solidFill>
                  <a:srgbClr val="9FB3C8"/>
                </a:solidFill>
                <a:latin typeface="Arial" panose="020B0604020202020204" pitchFamily="34" charset="0"/>
              </a:rPr>
              <a:t>finished (started 2026-10-03 20:48 UTC)</a:t>
            </a:r>
          </a:p>
          <a:p>
            <a:pPr algn="l">
              <a:spcBef>
                <a:spcPts val="200"/>
              </a:spcBef>
            </a:pPr>
            <a:r>
              <a:rPr sz="1200" b="0" i="0">
                <a:solidFill>
                  <a:srgbClr val="9FB3C8"/>
                </a:solidFill>
                <a:latin typeface="Arial" panose="020B0604020202020204" pitchFamily="34" charset="0"/>
              </a:rPr>
              <a:t>Financials still pending: v2 (frozen fast-tier book) Forward (blind); Maker v1, side markets Live paper session</a:t>
            </a:r>
          </a:p>
        </p:txBody>
      </p:sp>
      <p:sp>
        <p:nvSpPr>
          <p:cNvPr id="9" name="Disclaimer"/>
          <p:cNvSpPr txBox="1"/>
          <p:nvPr/>
        </p:nvSpPr>
        <p:spPr>
          <a:xfrm>
            <a:off x="548640" y="6272784"/>
            <a:ext cx="11094415" cy="457200"/>
          </a:xfrm>
          <a:prstGeom prst="rect">
            <a:avLst/>
          </a:prstGeom>
          <a:noFill/>
        </p:spPr>
        <p:txBody>
          <a:bodyPr wrap="square" anchor="ctr" lIns="0" tIns="0" rIns="0" bIns="0">
            <a:noAutofit/>
          </a:bodyPr>
          <a:lstStyle/>
          <a:p>
            <a:pPr algn="l"/>
            <a:r>
              <a:rPr sz="1100" b="0" i="0">
                <a:solidFill>
                  <a:srgbClr val="9FB3C8"/>
                </a:solidFill>
                <a:latin typeface="Arial" panose="020B0604020202020204" pitchFamily="34" charset="0"/>
              </a:rPr>
              <a:t>No real money was traded. We bought no official ATP/WTA data feed and no trading result uses one; free public score pages were recorded only to time their lag. The CV trader is simulated (assumed 1 s licensed feed, not purchased).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000" b="1" i="0">
                <a:solidFill>
                  <a:srgbClr val="0C1A28"/>
                </a:solidFill>
                <a:latin typeface="Arial Narrow" panose="020B0606020202030204" pitchFamily="34" charset="0"/>
              </a:rPr>
              <a:t>Isn't filling at the fast tier's print lookahead?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Q&amp;A BACKUP  ·  Q1 OF 14  ·  research/compliance/JUDGE.md</a:t>
            </a:r>
          </a:p>
        </p:txBody>
      </p:sp>
      <p:sp>
        <p:nvSpPr>
          <p:cNvPr id="5" name="Question"/>
          <p:cNvSpPr txBox="1"/>
          <p:nvPr/>
        </p:nvSpPr>
        <p:spPr>
          <a:xfrm>
            <a:off x="548640" y="1536192"/>
            <a:ext cx="6949440" cy="685800"/>
          </a:xfrm>
          <a:prstGeom prst="rect">
            <a:avLst/>
          </a:prstGeom>
          <a:noFill/>
        </p:spPr>
        <p:txBody>
          <a:bodyPr wrap="square" anchor="t" lIns="0" tIns="0" rIns="0" bIns="0">
            <a:noAutofit/>
          </a:bodyPr>
          <a:lstStyle/>
          <a:p>
            <a:pPr algn="l"/>
            <a:r>
              <a:rPr sz="1300" b="0" i="1">
                <a:solidFill>
                  <a:srgbClr val="566676"/>
                </a:solidFill>
                <a:latin typeface="Arial" panose="020B0604020202020204" pitchFamily="34" charset="0"/>
              </a:rPr>
              <a:t>“Table 2 fills at the fast tier's own print. You only know that print exists because it happened. Isn't that lookahead, and isn't this someone else's P&amp;L?”</a:t>
            </a:r>
          </a:p>
        </p:txBody>
      </p:sp>
      <p:sp>
        <p:nvSpPr>
          <p:cNvPr id="6" name="Answer"/>
          <p:cNvSpPr txBox="1"/>
          <p:nvPr/>
        </p:nvSpPr>
        <p:spPr>
          <a:xfrm>
            <a:off x="548640" y="2286000"/>
            <a:ext cx="6949440" cy="3977639"/>
          </a:xfrm>
          <a:prstGeom prst="rect">
            <a:avLst/>
          </a:prstGeom>
          <a:noFill/>
        </p:spPr>
        <p:txBody>
          <a:bodyPr wrap="square" anchor="t" lIns="0" tIns="0" rIns="0" bIns="0">
            <a:noAutofit/>
          </a:bodyPr>
          <a:lstStyle/>
          <a:p>
            <a:pPr algn="l"/>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Yes, it is their speed, and we say so. </a:t>
            </a:r>
            <a:r>
              <a:rPr sz="1400" b="0" i="0">
                <a:solidFill>
                  <a:srgbClr val="0C1A28"/>
                </a:solidFill>
                <a:latin typeface="Arial" panose="020B0604020202020204" pitchFamily="34" charset="0"/>
              </a:rPr>
              <a:t>v2 measures the opportunity for a trader as fast as the fast tier, not our execution.</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What gets counted uses no future information: wallets qualify on past months only, the fee filter uses the fee at the time, and the 0–3 s window runs from detection, not hindsight onset (D9).</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The executable lagged copy loses: </a:t>
            </a:r>
            <a:r>
              <a:rPr sz="1400" b="0" i="0">
                <a:solidFill>
                  <a:srgbClr val="0C1A28"/>
                </a:solidFill>
                <a:latin typeface="Arial" panose="020B0604020202020204" pitchFamily="34" charset="0"/>
              </a:rPr>
              <a:t>the same trades ~3 s later lose in 11/11 months.</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Out of sample, second place earns nothing: </a:t>
            </a:r>
            <a:r>
              <a:rPr sz="1400" b="0" i="0">
                <a:solidFill>
                  <a:srgbClr val="0C1A28"/>
                </a:solidFill>
                <a:latin typeface="Arial" panose="020B0604020202020204" pitchFamily="34" charset="0"/>
              </a:rPr>
              <a:t>+½ tick gives +0.10¢ [−0.41, 0.63].</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Our own route to first place is tier 0, which we only model as a labelled counterfactual.</a:t>
            </a:r>
          </a:p>
        </p:txBody>
      </p:sp>
      <p:sp>
        <p:nvSpPr>
          <p:cNvPr id="7" name="Evidence card"/>
          <p:cNvSpPr/>
          <p:nvPr/>
        </p:nvSpPr>
        <p:spPr>
          <a:xfrm>
            <a:off x="7863840" y="1536192"/>
            <a:ext cx="3779215" cy="4754880"/>
          </a:xfrm>
          <a:prstGeom prst="roundRect">
            <a:avLst>
              <a:gd name="adj" fmla="val 193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p:cNvSpPr txBox="1"/>
          <p:nvPr/>
        </p:nvSpPr>
        <p:spPr>
          <a:xfrm>
            <a:off x="8065008" y="1627632"/>
            <a:ext cx="3376879" cy="4572000"/>
          </a:xfrm>
          <a:prstGeom prst="rect">
            <a:avLst/>
          </a:prstGeom>
          <a:noFill/>
        </p:spPr>
        <p:txBody>
          <a:bodyPr wrap="square" anchor="t" lIns="0" tIns="0" rIns="0" bIns="0">
            <a:noAutofit/>
          </a:bodyPr>
          <a:lstStyle/>
          <a:p>
            <a:pPr algn="l"/>
            <a:r>
              <a:rPr sz="1100" b="1" i="0" spc="140">
                <a:solidFill>
                  <a:srgbClr val="27598B"/>
                </a:solidFill>
                <a:latin typeface="Arial" panose="020B0604020202020204" pitchFamily="34" charset="0"/>
              </a:rPr>
              <a:t>EVIDENCE</a:t>
            </a:r>
          </a:p>
          <a:p>
            <a:pPr algn="l">
              <a:spcBef>
                <a:spcPts val="800"/>
              </a:spcBef>
            </a:pPr>
            <a:r>
              <a:rPr sz="2400" b="1" i="0">
                <a:solidFill>
                  <a:srgbClr val="27598B"/>
                </a:solidFill>
                <a:latin typeface="Arial Narrow" panose="020B0606020202030204" pitchFamily="34" charset="0"/>
              </a:rPr>
              <a:t>11/11</a:t>
            </a:r>
          </a:p>
          <a:p>
            <a:pPr algn="l"/>
            <a:r>
              <a:rPr sz="1150" b="0" i="0">
                <a:solidFill>
                  <a:srgbClr val="0C1A28"/>
                </a:solidFill>
                <a:latin typeface="Arial" panose="020B0604020202020204" pitchFamily="34" charset="0"/>
              </a:rPr>
              <a:t>months the 3 s-late copy lost money</a:t>
            </a:r>
          </a:p>
          <a:p>
            <a:pPr algn="l">
              <a:spcBef>
                <a:spcPts val="800"/>
              </a:spcBef>
            </a:pPr>
            <a:r>
              <a:rPr sz="2400" b="1" i="0">
                <a:solidFill>
                  <a:srgbClr val="27598B"/>
                </a:solidFill>
                <a:latin typeface="Arial Narrow" panose="020B0606020202030204" pitchFamily="34" charset="0"/>
              </a:rPr>
              <a:t>+0.10¢</a:t>
            </a:r>
          </a:p>
          <a:p>
            <a:pPr algn="l"/>
            <a:r>
              <a:rPr sz="1150" b="0" i="0">
                <a:solidFill>
                  <a:srgbClr val="0C1A28"/>
                </a:solidFill>
                <a:latin typeface="Arial" panose="020B0604020202020204" pitchFamily="34" charset="0"/>
              </a:rPr>
              <a:t>burned OOS at +½ tick [−0.41, 0.63]</a:t>
            </a:r>
          </a:p>
          <a:p>
            <a:pPr algn="l">
              <a:spcBef>
                <a:spcPts val="1000"/>
              </a:spcBef>
            </a:pPr>
            <a:r>
              <a:rPr sz="950" b="0" i="0">
                <a:solidFill>
                  <a:srgbClr val="566676"/>
                </a:solidFill>
                <a:latin typeface="Courier New"/>
              </a:rPr>
              <a:t>Sources: results/summary.json; results/v2/causal.json</a:t>
            </a:r>
          </a:p>
        </p:txBody>
      </p:sp>
      <p:sp>
        <p:nvSpPr>
          <p:cNvPr id="9"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0"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11</a:t>
            </a:fld>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000" b="1" i="0">
                <a:solidFill>
                  <a:srgbClr val="0C1A28"/>
                </a:solidFill>
                <a:latin typeface="Arial Narrow" panose="020B0606020202030204" pitchFamily="34" charset="0"/>
              </a:rPr>
              <a:t>Isn't v2 tuned on the out-of-sample window?</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Q&amp;A BACKUP  ·  Q2 OF 14  ·  research/compliance/JUDGE.md</a:t>
            </a:r>
          </a:p>
        </p:txBody>
      </p:sp>
      <p:sp>
        <p:nvSpPr>
          <p:cNvPr id="5" name="Question"/>
          <p:cNvSpPr txBox="1"/>
          <p:nvPr/>
        </p:nvSpPr>
        <p:spPr>
          <a:xfrm>
            <a:off x="548640" y="1536192"/>
            <a:ext cx="6949440" cy="685800"/>
          </a:xfrm>
          <a:prstGeom prst="rect">
            <a:avLst/>
          </a:prstGeom>
          <a:noFill/>
        </p:spPr>
        <p:txBody>
          <a:bodyPr wrap="square" anchor="t" lIns="0" tIns="0" rIns="0" bIns="0">
            <a:noAutofit/>
          </a:bodyPr>
          <a:lstStyle/>
          <a:p>
            <a:pPr algn="l"/>
            <a:r>
              <a:rPr sz="1300" b="0" i="1">
                <a:solidFill>
                  <a:srgbClr val="566676"/>
                </a:solidFill>
                <a:latin typeface="Arial" panose="020B0604020202020204" pitchFamily="34" charset="0"/>
              </a:rPr>
              <a:t>“You built v2 after v1 lost $36.1k out of sample. Isn't that tuning on the out-of-sample period?”</a:t>
            </a:r>
          </a:p>
        </p:txBody>
      </p:sp>
      <p:sp>
        <p:nvSpPr>
          <p:cNvPr id="6" name="Answer"/>
          <p:cNvSpPr txBox="1"/>
          <p:nvPr/>
        </p:nvSpPr>
        <p:spPr>
          <a:xfrm>
            <a:off x="548640" y="2286000"/>
            <a:ext cx="6949440" cy="3977639"/>
          </a:xfrm>
          <a:prstGeom prst="rect">
            <a:avLst/>
          </a:prstGeom>
          <a:noFill/>
        </p:spPr>
        <p:txBody>
          <a:bodyPr wrap="square" anchor="t" lIns="0" tIns="0" rIns="0" bIns="0">
            <a:noAutofit/>
          </a:bodyPr>
          <a:lstStyle/>
          <a:p>
            <a:pPr algn="l"/>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The OOS was opened once, blind, for v1 </a:t>
            </a:r>
            <a:r>
              <a:rPr sz="1400" b="0" i="0">
                <a:solidFill>
                  <a:srgbClr val="0C1A28"/>
                </a:solidFill>
                <a:latin typeface="Arial" panose="020B0604020202020204" pitchFamily="34" charset="0"/>
              </a:rPr>
              <a:t>(2026-10-03 10:42 UTC); v1's −$36.1k loss is reported.</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v2's rules were tuned on in-sample data only, but its motivation came from how v1 failed. So that window is burned, and every v2 number on it is labelled non-blind.</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v2's clean tests are pre-registered. </a:t>
            </a:r>
            <a:r>
              <a:rPr sz="1400" b="0" i="0">
                <a:solidFill>
                  <a:srgbClr val="0C1A28"/>
                </a:solidFill>
                <a:latin typeface="Arial" panose="020B0604020202020204" pitchFamily="34" charset="0"/>
              </a:rPr>
              <a:t>Blind, on 11,307 never-examined markets: +2.02¢ [1.14, 2.93] in the in-sample period (pass); +1.22¢ [−0.19, 2.65] out of sample: a fail by our rule.</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The forward window is run once, planned for 2026-10-04 11:30 UTC, and reported either way.</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All 77 looks at held-out data are in results/oos_peeks.log.</a:t>
            </a:r>
          </a:p>
        </p:txBody>
      </p:sp>
      <p:sp>
        <p:nvSpPr>
          <p:cNvPr id="7" name="Evidence card"/>
          <p:cNvSpPr/>
          <p:nvPr/>
        </p:nvSpPr>
        <p:spPr>
          <a:xfrm>
            <a:off x="7863840" y="1536192"/>
            <a:ext cx="3779215" cy="4754880"/>
          </a:xfrm>
          <a:prstGeom prst="roundRect">
            <a:avLst>
              <a:gd name="adj" fmla="val 193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p:cNvSpPr txBox="1"/>
          <p:nvPr/>
        </p:nvSpPr>
        <p:spPr>
          <a:xfrm>
            <a:off x="8065008" y="1627632"/>
            <a:ext cx="3376879" cy="4572000"/>
          </a:xfrm>
          <a:prstGeom prst="rect">
            <a:avLst/>
          </a:prstGeom>
          <a:noFill/>
        </p:spPr>
        <p:txBody>
          <a:bodyPr wrap="square" anchor="t" lIns="0" tIns="0" rIns="0" bIns="0">
            <a:noAutofit/>
          </a:bodyPr>
          <a:lstStyle/>
          <a:p>
            <a:pPr algn="l"/>
            <a:r>
              <a:rPr sz="1100" b="1" i="0" spc="140">
                <a:solidFill>
                  <a:srgbClr val="27598B"/>
                </a:solidFill>
                <a:latin typeface="Arial" panose="020B0604020202020204" pitchFamily="34" charset="0"/>
              </a:rPr>
              <a:t>EVIDENCE</a:t>
            </a:r>
          </a:p>
          <a:p>
            <a:pPr algn="l">
              <a:spcBef>
                <a:spcPts val="800"/>
              </a:spcBef>
            </a:pPr>
            <a:r>
              <a:rPr sz="2400" b="1" i="0">
                <a:solidFill>
                  <a:srgbClr val="D1432F"/>
                </a:solidFill>
                <a:latin typeface="Arial Narrow" panose="020B0606020202030204" pitchFamily="34" charset="0"/>
              </a:rPr>
              <a:t>−$36.1k</a:t>
            </a:r>
          </a:p>
          <a:p>
            <a:pPr algn="l"/>
            <a:r>
              <a:rPr sz="1150" b="0" i="0">
                <a:solidFill>
                  <a:srgbClr val="0C1A28"/>
                </a:solidFill>
                <a:latin typeface="Arial" panose="020B0604020202020204" pitchFamily="34" charset="0"/>
              </a:rPr>
              <a:t>v1 on the held-out window, opened once</a:t>
            </a:r>
          </a:p>
          <a:p>
            <a:pPr algn="l">
              <a:spcBef>
                <a:spcPts val="800"/>
              </a:spcBef>
            </a:pPr>
            <a:r>
              <a:rPr sz="2400" b="1" i="0">
                <a:solidFill>
                  <a:srgbClr val="D1432F"/>
                </a:solidFill>
                <a:latin typeface="Arial Narrow" panose="020B0606020202030204" pitchFamily="34" charset="0"/>
              </a:rPr>
              <a:t>+1.22¢ FAIL</a:t>
            </a:r>
          </a:p>
          <a:p>
            <a:pPr algn="l"/>
            <a:r>
              <a:rPr sz="1150" b="0" i="0">
                <a:solidFill>
                  <a:srgbClr val="0C1A28"/>
                </a:solidFill>
                <a:latin typeface="Arial" panose="020B0604020202020204" pitchFamily="34" charset="0"/>
              </a:rPr>
              <a:t>blind U2 OOS [−0.19, 2.65]</a:t>
            </a:r>
          </a:p>
          <a:p>
            <a:pPr algn="l">
              <a:spcBef>
                <a:spcPts val="800"/>
              </a:spcBef>
            </a:pPr>
            <a:r>
              <a:rPr sz="2400" b="1" i="0">
                <a:solidFill>
                  <a:srgbClr val="27598B"/>
                </a:solidFill>
                <a:latin typeface="Arial Narrow" panose="020B0606020202030204" pitchFamily="34" charset="0"/>
              </a:rPr>
              <a:t>77</a:t>
            </a:r>
          </a:p>
          <a:p>
            <a:pPr algn="l"/>
            <a:r>
              <a:rPr sz="1150" b="0" i="0">
                <a:solidFill>
                  <a:srgbClr val="0C1A28"/>
                </a:solidFill>
                <a:latin typeface="Arial" panose="020B0604020202020204" pitchFamily="34" charset="0"/>
              </a:rPr>
              <a:t>logged looks at held-out data</a:t>
            </a:r>
          </a:p>
          <a:p>
            <a:pPr algn="l">
              <a:spcBef>
                <a:spcPts val="1000"/>
              </a:spcBef>
            </a:pPr>
            <a:r>
              <a:rPr sz="950" b="0" i="0">
                <a:solidFill>
                  <a:srgbClr val="566676"/>
                </a:solidFill>
                <a:latin typeface="Courier New"/>
              </a:rPr>
              <a:t>Sources: results/summary.json; results/expand/results.json; results/oos_peeks.log</a:t>
            </a:r>
          </a:p>
        </p:txBody>
      </p:sp>
      <p:sp>
        <p:nvSpPr>
          <p:cNvPr id="9"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0"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12</a:t>
            </a:fld>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000" b="1" i="0">
                <a:solidFill>
                  <a:srgbClr val="0C1A28"/>
                </a:solidFill>
                <a:latin typeface="Arial Narrow" panose="020B0606020202030204" pitchFamily="34" charset="0"/>
              </a:rPr>
              <a:t>A Sharpe of 14.5 on daily data? Assume a bug</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Q&amp;A BACKUP  ·  Q3 OF 14  ·  research/compliance/JUDGE.md</a:t>
            </a:r>
          </a:p>
        </p:txBody>
      </p:sp>
      <p:sp>
        <p:nvSpPr>
          <p:cNvPr id="5" name="Question"/>
          <p:cNvSpPr txBox="1"/>
          <p:nvPr/>
        </p:nvSpPr>
        <p:spPr>
          <a:xfrm>
            <a:off x="548640" y="1536192"/>
            <a:ext cx="6949440" cy="685800"/>
          </a:xfrm>
          <a:prstGeom prst="rect">
            <a:avLst/>
          </a:prstGeom>
          <a:noFill/>
        </p:spPr>
        <p:txBody>
          <a:bodyPr wrap="square" anchor="t" lIns="0" tIns="0" rIns="0" bIns="0">
            <a:noAutofit/>
          </a:bodyPr>
          <a:lstStyle/>
          <a:p>
            <a:pPr algn="l"/>
            <a:r>
              <a:rPr sz="1300" b="0" i="1">
                <a:solidFill>
                  <a:srgbClr val="566676"/>
                </a:solidFill>
                <a:latin typeface="Arial" panose="020B0604020202020204" pitchFamily="34" charset="0"/>
              </a:rPr>
              <a:t>“A Sharpe of 14.5 on daily data. The brief says above 3, assume a bug.”</a:t>
            </a:r>
          </a:p>
        </p:txBody>
      </p:sp>
      <p:sp>
        <p:nvSpPr>
          <p:cNvPr id="6" name="Answer"/>
          <p:cNvSpPr txBox="1"/>
          <p:nvPr/>
        </p:nvSpPr>
        <p:spPr>
          <a:xfrm>
            <a:off x="548640" y="2286000"/>
            <a:ext cx="6949440" cy="3977639"/>
          </a:xfrm>
          <a:prstGeom prst="rect">
            <a:avLst/>
          </a:prstGeom>
          <a:noFill/>
        </p:spPr>
        <p:txBody>
          <a:bodyPr wrap="square" anchor="t" lIns="0" tIns="0" rIns="0" bIns="0">
            <a:noAutofit/>
          </a:bodyPr>
          <a:lstStyle/>
          <a:p>
            <a:pPr algn="l"/>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We assumed one and found one: </a:t>
            </a:r>
            <a:r>
              <a:rPr sz="1400" b="0" i="0">
                <a:solidFill>
                  <a:srgbClr val="0C1A28"/>
                </a:solidFill>
                <a:latin typeface="Arial" panose="020B0604020202020204" pitchFamily="34" charset="0"/>
              </a:rPr>
              <a:t>the onset hindsight (D9). Fixing it cut the in-sample Sharpe from 16.8 to 14.5.</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What remains is structural: </a:t>
            </a:r>
            <a:r>
              <a:rPr sz="1400" b="0" i="0">
                <a:solidFill>
                  <a:srgbClr val="0C1A28"/>
                </a:solidFill>
                <a:latin typeface="Arial" panose="020B0604020202020204" pitchFamily="34" charset="0"/>
              </a:rPr>
              <a:t>about 270 small bets a day, each settled by an exogenous binary outcome, net exposure capped at 100 shares per match.</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Tails are mild: skew 0.53, kurtosis 4.3, worst day −1.9%.</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It falls fast with costs: </a:t>
            </a:r>
            <a:r>
              <a:rPr sz="1400" b="0" i="0">
                <a:solidFill>
                  <a:srgbClr val="0C1A28"/>
                </a:solidFill>
                <a:latin typeface="Arial" panose="020B0604020202020204" pitchFamily="34" charset="0"/>
              </a:rPr>
              <a:t>Sharpe 9.8 at +½ tick, 4.3 at +1 tick, 3.0 with all costs doubled; burned OOS 6.7 (bootstrap [1.9, 12.3]).</a:t>
            </a:r>
          </a:p>
        </p:txBody>
      </p:sp>
      <p:sp>
        <p:nvSpPr>
          <p:cNvPr id="7" name="Evidence card"/>
          <p:cNvSpPr/>
          <p:nvPr/>
        </p:nvSpPr>
        <p:spPr>
          <a:xfrm>
            <a:off x="7863840" y="1536192"/>
            <a:ext cx="3779215" cy="4754880"/>
          </a:xfrm>
          <a:prstGeom prst="roundRect">
            <a:avLst>
              <a:gd name="adj" fmla="val 193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p:cNvSpPr txBox="1"/>
          <p:nvPr/>
        </p:nvSpPr>
        <p:spPr>
          <a:xfrm>
            <a:off x="8065008" y="1627632"/>
            <a:ext cx="3376879" cy="4572000"/>
          </a:xfrm>
          <a:prstGeom prst="rect">
            <a:avLst/>
          </a:prstGeom>
          <a:noFill/>
        </p:spPr>
        <p:txBody>
          <a:bodyPr wrap="square" anchor="t" lIns="0" tIns="0" rIns="0" bIns="0">
            <a:noAutofit/>
          </a:bodyPr>
          <a:lstStyle/>
          <a:p>
            <a:pPr algn="l"/>
            <a:r>
              <a:rPr sz="1100" b="1" i="0" spc="140">
                <a:solidFill>
                  <a:srgbClr val="27598B"/>
                </a:solidFill>
                <a:latin typeface="Arial" panose="020B0604020202020204" pitchFamily="34" charset="0"/>
              </a:rPr>
              <a:t>EVIDENCE</a:t>
            </a:r>
          </a:p>
          <a:p>
            <a:pPr algn="l">
              <a:spcBef>
                <a:spcPts val="800"/>
              </a:spcBef>
            </a:pPr>
            <a:r>
              <a:rPr sz="2400" b="1" i="0">
                <a:solidFill>
                  <a:srgbClr val="27598B"/>
                </a:solidFill>
                <a:latin typeface="Arial Narrow" panose="020B0606020202030204" pitchFamily="34" charset="0"/>
              </a:rPr>
              <a:t>16.8 → 14.5</a:t>
            </a:r>
          </a:p>
          <a:p>
            <a:pPr algn="l"/>
            <a:r>
              <a:rPr sz="1150" b="0" i="0">
                <a:solidFill>
                  <a:srgbClr val="0C1A28"/>
                </a:solidFill>
                <a:latin typeface="Arial" panose="020B0604020202020204" pitchFamily="34" charset="0"/>
              </a:rPr>
              <a:t>in-sample Sharpe before / after the D9 fix</a:t>
            </a:r>
          </a:p>
          <a:p>
            <a:pPr algn="l">
              <a:spcBef>
                <a:spcPts val="800"/>
              </a:spcBef>
            </a:pPr>
            <a:r>
              <a:rPr sz="2400" b="1" i="0">
                <a:solidFill>
                  <a:srgbClr val="27598B"/>
                </a:solidFill>
                <a:latin typeface="Arial Narrow" panose="020B0606020202030204" pitchFamily="34" charset="0"/>
              </a:rPr>
              <a:t>3.0</a:t>
            </a:r>
          </a:p>
          <a:p>
            <a:pPr algn="l"/>
            <a:r>
              <a:rPr sz="1150" b="0" i="0">
                <a:solidFill>
                  <a:srgbClr val="0C1A28"/>
                </a:solidFill>
                <a:latin typeface="Arial" panose="020B0604020202020204" pitchFamily="34" charset="0"/>
              </a:rPr>
              <a:t>in-sample Sharpe, all costs doubled</a:t>
            </a:r>
          </a:p>
          <a:p>
            <a:pPr algn="l">
              <a:spcBef>
                <a:spcPts val="800"/>
              </a:spcBef>
            </a:pPr>
            <a:r>
              <a:rPr sz="2400" b="1" i="0">
                <a:solidFill>
                  <a:srgbClr val="27598B"/>
                </a:solidFill>
                <a:latin typeface="Arial Narrow" panose="020B0606020202030204" pitchFamily="34" charset="0"/>
              </a:rPr>
              <a:t>6.7</a:t>
            </a:r>
          </a:p>
          <a:p>
            <a:pPr algn="l"/>
            <a:r>
              <a:rPr sz="1150" b="0" i="0">
                <a:solidFill>
                  <a:srgbClr val="0C1A28"/>
                </a:solidFill>
                <a:latin typeface="Arial" panose="020B0604020202020204" pitchFamily="34" charset="0"/>
              </a:rPr>
              <a:t>burned-OOS Sharpe, CI [1.9, 12.3]</a:t>
            </a:r>
          </a:p>
          <a:p>
            <a:pPr algn="l">
              <a:spcBef>
                <a:spcPts val="1000"/>
              </a:spcBef>
            </a:pPr>
            <a:r>
              <a:rPr sz="950" b="0" i="0">
                <a:solidFill>
                  <a:srgbClr val="566676"/>
                </a:solidFill>
                <a:latin typeface="Courier New"/>
              </a:rPr>
              <a:t>Sources: results/summary.json; results/v2/causal.json; results/v2/note_metrics.json; results/rigor/rigor.json</a:t>
            </a:r>
          </a:p>
        </p:txBody>
      </p:sp>
      <p:sp>
        <p:nvSpPr>
          <p:cNvPr id="9"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0"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13</a:t>
            </a:fld>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000" b="1" i="0">
                <a:solidFill>
                  <a:srgbClr val="0C1A28"/>
                </a:solidFill>
                <a:latin typeface="Arial Narrow" panose="020B0606020202030204" pitchFamily="34" charset="0"/>
              </a:rPr>
              <a:t>What happens when costs double?</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Q&amp;A BACKUP  ·  Q4 OF 14  ·  research/compliance/JUDGE.md</a:t>
            </a:r>
          </a:p>
        </p:txBody>
      </p:sp>
      <p:sp>
        <p:nvSpPr>
          <p:cNvPr id="5" name="Question"/>
          <p:cNvSpPr txBox="1"/>
          <p:nvPr/>
        </p:nvSpPr>
        <p:spPr>
          <a:xfrm>
            <a:off x="548640" y="1536192"/>
            <a:ext cx="6949440" cy="685800"/>
          </a:xfrm>
          <a:prstGeom prst="rect">
            <a:avLst/>
          </a:prstGeom>
          <a:noFill/>
        </p:spPr>
        <p:txBody>
          <a:bodyPr wrap="square" anchor="t" lIns="0" tIns="0" rIns="0" bIns="0">
            <a:noAutofit/>
          </a:bodyPr>
          <a:lstStyle/>
          <a:p>
            <a:pPr algn="l"/>
            <a:r>
              <a:rPr sz="1300" b="0" i="1">
                <a:solidFill>
                  <a:srgbClr val="566676"/>
                </a:solidFill>
                <a:latin typeface="Arial" panose="020B0604020202020204" pitchFamily="34" charset="0"/>
              </a:rPr>
              <a:t>“What happens when costs double? What is your cost in bps?”</a:t>
            </a:r>
          </a:p>
        </p:txBody>
      </p:sp>
      <p:sp>
        <p:nvSpPr>
          <p:cNvPr id="6" name="Answer"/>
          <p:cNvSpPr txBox="1"/>
          <p:nvPr/>
        </p:nvSpPr>
        <p:spPr>
          <a:xfrm>
            <a:off x="548640" y="2286000"/>
            <a:ext cx="6949440" cy="3977639"/>
          </a:xfrm>
          <a:prstGeom prst="rect">
            <a:avLst/>
          </a:prstGeom>
          <a:noFill/>
        </p:spPr>
        <p:txBody>
          <a:bodyPr wrap="square" anchor="t" lIns="0" tIns="0" rIns="0" bIns="0">
            <a:noAutofit/>
          </a:bodyPr>
          <a:lstStyle/>
          <a:p>
            <a:pPr algn="l"/>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Fees: </a:t>
            </a:r>
            <a:r>
              <a:rPr sz="1400" b="0" i="0">
                <a:solidFill>
                  <a:srgbClr val="0C1A28"/>
                </a:solidFill>
                <a:latin typeface="Arial" panose="020B0604020202020204" pitchFamily="34" charset="0"/>
              </a:rPr>
              <a:t>each match's own rate × q(1−q): about 120 bps of notional in sample (mixed fee regimes) and 179 bps out of sample (all at today's rate).</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Fees doubled: </a:t>
            </a:r>
            <a:r>
              <a:rPr sz="1400" b="0" i="0">
                <a:solidFill>
                  <a:srgbClr val="0C1A28"/>
                </a:solidFill>
                <a:latin typeface="Arial" panose="020B0604020202020204" pitchFamily="34" charset="0"/>
              </a:rPr>
              <a:t>+0.77¢ in sample (7/7 months), but −0.34¢ [−0.86, 0.19] out of sample (0/3 months).</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All costs doubled: </a:t>
            </a:r>
            <a:r>
              <a:rPr sz="1400" b="0" i="0">
                <a:solidFill>
                  <a:srgbClr val="0C1A28"/>
                </a:solidFill>
                <a:latin typeface="Arial" panose="020B0604020202020204" pitchFamily="34" charset="0"/>
              </a:rPr>
              <a:t>+0.27¢ in sample and −0.84¢ out of sample.</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So in today's regime the edge does not survive doubled costs, </a:t>
            </a:r>
            <a:r>
              <a:rPr sz="1400" b="0" i="0">
                <a:solidFill>
                  <a:srgbClr val="0C1A28"/>
                </a:solidFill>
                <a:latin typeface="Arial" panose="020B0604020202020204" pitchFamily="34" charset="0"/>
              </a:rPr>
              <a:t>and we say so. Break-even taker fee rate on the burned OOS, before fixed costs: 8.2%.</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That is why venue rules are risk R11 and why the halve/stop rule exists.</a:t>
            </a:r>
          </a:p>
        </p:txBody>
      </p:sp>
      <p:sp>
        <p:nvSpPr>
          <p:cNvPr id="7" name="Evidence card"/>
          <p:cNvSpPr/>
          <p:nvPr/>
        </p:nvSpPr>
        <p:spPr>
          <a:xfrm>
            <a:off x="7863840" y="1536192"/>
            <a:ext cx="3779215" cy="4754880"/>
          </a:xfrm>
          <a:prstGeom prst="roundRect">
            <a:avLst>
              <a:gd name="adj" fmla="val 193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p:cNvSpPr txBox="1"/>
          <p:nvPr/>
        </p:nvSpPr>
        <p:spPr>
          <a:xfrm>
            <a:off x="8065008" y="1627632"/>
            <a:ext cx="3376879" cy="4572000"/>
          </a:xfrm>
          <a:prstGeom prst="rect">
            <a:avLst/>
          </a:prstGeom>
          <a:noFill/>
        </p:spPr>
        <p:txBody>
          <a:bodyPr wrap="square" anchor="t" lIns="0" tIns="0" rIns="0" bIns="0">
            <a:noAutofit/>
          </a:bodyPr>
          <a:lstStyle/>
          <a:p>
            <a:pPr algn="l"/>
            <a:r>
              <a:rPr sz="1100" b="1" i="0" spc="140">
                <a:solidFill>
                  <a:srgbClr val="27598B"/>
                </a:solidFill>
                <a:latin typeface="Arial" panose="020B0604020202020204" pitchFamily="34" charset="0"/>
              </a:rPr>
              <a:t>EVIDENCE</a:t>
            </a:r>
          </a:p>
          <a:p>
            <a:pPr algn="l">
              <a:spcBef>
                <a:spcPts val="800"/>
              </a:spcBef>
            </a:pPr>
            <a:r>
              <a:rPr sz="2400" b="1" i="0">
                <a:solidFill>
                  <a:srgbClr val="D1432F"/>
                </a:solidFill>
                <a:latin typeface="Arial Narrow" panose="020B0606020202030204" pitchFamily="34" charset="0"/>
              </a:rPr>
              <a:t>−0.34¢</a:t>
            </a:r>
          </a:p>
          <a:p>
            <a:pPr algn="l"/>
            <a:r>
              <a:rPr sz="1150" b="0" i="0">
                <a:solidFill>
                  <a:srgbClr val="0C1A28"/>
                </a:solidFill>
                <a:latin typeface="Arial" panose="020B0604020202020204" pitchFamily="34" charset="0"/>
              </a:rPr>
              <a:t>burned OOS with fees doubled [−0.86, 0.19]</a:t>
            </a:r>
          </a:p>
          <a:p>
            <a:pPr algn="l">
              <a:spcBef>
                <a:spcPts val="800"/>
              </a:spcBef>
            </a:pPr>
            <a:r>
              <a:rPr sz="2400" b="1" i="0">
                <a:solidFill>
                  <a:srgbClr val="D1432F"/>
                </a:solidFill>
                <a:latin typeface="Arial Narrow" panose="020B0606020202030204" pitchFamily="34" charset="0"/>
              </a:rPr>
              <a:t>−0.84¢</a:t>
            </a:r>
          </a:p>
          <a:p>
            <a:pPr algn="l"/>
            <a:r>
              <a:rPr sz="1150" b="0" i="0">
                <a:solidFill>
                  <a:srgbClr val="0C1A28"/>
                </a:solidFill>
                <a:latin typeface="Arial" panose="020B0604020202020204" pitchFamily="34" charset="0"/>
              </a:rPr>
              <a:t>burned OOS with all costs doubled</a:t>
            </a:r>
          </a:p>
          <a:p>
            <a:pPr algn="l">
              <a:spcBef>
                <a:spcPts val="800"/>
              </a:spcBef>
            </a:pPr>
            <a:r>
              <a:rPr sz="2400" b="1" i="0">
                <a:solidFill>
                  <a:srgbClr val="27598B"/>
                </a:solidFill>
                <a:latin typeface="Arial Narrow" panose="020B0606020202030204" pitchFamily="34" charset="0"/>
              </a:rPr>
              <a:t>8.2%</a:t>
            </a:r>
          </a:p>
          <a:p>
            <a:pPr algn="l"/>
            <a:r>
              <a:rPr sz="1150" b="0" i="0">
                <a:solidFill>
                  <a:srgbClr val="0C1A28"/>
                </a:solidFill>
                <a:latin typeface="Arial" panose="020B0604020202020204" pitchFamily="34" charset="0"/>
              </a:rPr>
              <a:t>break-even taker fee rate (OOS, before fixed costs)</a:t>
            </a:r>
          </a:p>
          <a:p>
            <a:pPr algn="l">
              <a:spcBef>
                <a:spcPts val="1000"/>
              </a:spcBef>
            </a:pPr>
            <a:r>
              <a:rPr sz="950" b="0" i="0">
                <a:solidFill>
                  <a:srgbClr val="566676"/>
                </a:solidFill>
                <a:latin typeface="Courier New"/>
              </a:rPr>
              <a:t>Sources: results/v2/note_metrics.json; results/v2/cost_stress.json; results/financials/financials.json</a:t>
            </a:r>
          </a:p>
        </p:txBody>
      </p:sp>
      <p:sp>
        <p:nvSpPr>
          <p:cNvPr id="9"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0"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14</a:t>
            </a:fld>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000" b="1" i="0">
                <a:solidFill>
                  <a:srgbClr val="0C1A28"/>
                </a:solidFill>
                <a:latin typeface="Arial Narrow" panose="020B0606020202030204" pitchFamily="34" charset="0"/>
              </a:rPr>
              <a:t>Is Polymarket allowed here, and from the US?</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Q&amp;A BACKUP  ·  Q5 OF 14  ·  research/compliance/JUDGE.md</a:t>
            </a:r>
          </a:p>
        </p:txBody>
      </p:sp>
      <p:sp>
        <p:nvSpPr>
          <p:cNvPr id="5" name="Question"/>
          <p:cNvSpPr txBox="1"/>
          <p:nvPr/>
        </p:nvSpPr>
        <p:spPr>
          <a:xfrm>
            <a:off x="548640" y="1536192"/>
            <a:ext cx="6949440" cy="685800"/>
          </a:xfrm>
          <a:prstGeom prst="rect">
            <a:avLst/>
          </a:prstGeom>
          <a:noFill/>
        </p:spPr>
        <p:txBody>
          <a:bodyPr wrap="square" anchor="t" lIns="0" tIns="0" rIns="0" bIns="0">
            <a:noAutofit/>
          </a:bodyPr>
          <a:lstStyle/>
          <a:p>
            <a:pPr algn="l"/>
            <a:r>
              <a:rPr sz="1300" b="0" i="1">
                <a:solidFill>
                  <a:srgbClr val="566676"/>
                </a:solidFill>
                <a:latin typeface="Arial" panose="020B0604020202020204" pitchFamily="34" charset="0"/>
              </a:rPr>
              <a:t>“Is Polymarket even allowed in this track, and can you trade it from the US?”</a:t>
            </a:r>
          </a:p>
        </p:txBody>
      </p:sp>
      <p:sp>
        <p:nvSpPr>
          <p:cNvPr id="6" name="Answer"/>
          <p:cNvSpPr txBox="1"/>
          <p:nvPr/>
        </p:nvSpPr>
        <p:spPr>
          <a:xfrm>
            <a:off x="548640" y="2286000"/>
            <a:ext cx="6949440" cy="3977639"/>
          </a:xfrm>
          <a:prstGeom prst="rect">
            <a:avLst/>
          </a:prstGeom>
          <a:noFill/>
        </p:spPr>
        <p:txBody>
          <a:bodyPr wrap="square" anchor="t" lIns="0" tIns="0" rIns="0" bIns="0">
            <a:noAutofit/>
          </a:bodyPr>
          <a:lstStyle/>
          <a:p>
            <a:pPr algn="l"/>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The track allows any liquid, publicly traded market. </a:t>
            </a:r>
            <a:r>
              <a:rPr sz="1400" b="0" i="0">
                <a:solidFill>
                  <a:srgbClr val="0C1A28"/>
                </a:solidFill>
                <a:latin typeface="Arial" panose="020B0604020202020204" pitchFamily="34" charset="0"/>
              </a:rPr>
              <a:t>Polymarket tennis has a public order book, keyless public data, and $2.84B traded in our universe.</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The international venue restricts US persons, </a:t>
            </a:r>
            <a:r>
              <a:rPr sz="1400" b="0" i="0">
                <a:solidFill>
                  <a:srgbClr val="0C1A28"/>
                </a:solidFill>
                <a:latin typeface="Arial" panose="020B0604020202020204" pitchFamily="34" charset="0"/>
              </a:rPr>
              <a:t>and we say so. TERMS 5.3 forbids funded accounts during the event, so everything here is paper.</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The repo only reads public data. </a:t>
            </a:r>
            <a:r>
              <a:rPr sz="1400" b="0" i="0">
                <a:solidFill>
                  <a:srgbClr val="0C1A28"/>
                </a:solidFill>
                <a:latin typeface="Arial" panose="020B0604020202020204" pitchFamily="34" charset="0"/>
              </a:rPr>
              <a:t>The engine is paper-only by construction (orders sent in the live run: 0); it refuses to start if a key or live flag exists.</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A deployment needs a permitted venue, licensed data and legal review (docs/RISK.md R16).</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Kalshi, the regulated alternative, leads most repricings, but its fee leaves the hedged laggard trade at about zero (research/v2/kalshi/RESULTS.md).</a:t>
            </a:r>
          </a:p>
        </p:txBody>
      </p:sp>
      <p:sp>
        <p:nvSpPr>
          <p:cNvPr id="7" name="Evidence card"/>
          <p:cNvSpPr/>
          <p:nvPr/>
        </p:nvSpPr>
        <p:spPr>
          <a:xfrm>
            <a:off x="7863840" y="1536192"/>
            <a:ext cx="3779215" cy="4754880"/>
          </a:xfrm>
          <a:prstGeom prst="roundRect">
            <a:avLst>
              <a:gd name="adj" fmla="val 193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p:cNvSpPr txBox="1"/>
          <p:nvPr/>
        </p:nvSpPr>
        <p:spPr>
          <a:xfrm>
            <a:off x="8065008" y="1627632"/>
            <a:ext cx="3376879" cy="4572000"/>
          </a:xfrm>
          <a:prstGeom prst="rect">
            <a:avLst/>
          </a:prstGeom>
          <a:noFill/>
        </p:spPr>
        <p:txBody>
          <a:bodyPr wrap="square" anchor="t" lIns="0" tIns="0" rIns="0" bIns="0">
            <a:noAutofit/>
          </a:bodyPr>
          <a:lstStyle/>
          <a:p>
            <a:pPr algn="l"/>
            <a:r>
              <a:rPr sz="1100" b="1" i="0" spc="140">
                <a:solidFill>
                  <a:srgbClr val="27598B"/>
                </a:solidFill>
                <a:latin typeface="Arial" panose="020B0604020202020204" pitchFamily="34" charset="0"/>
              </a:rPr>
              <a:t>EVIDENCE</a:t>
            </a:r>
          </a:p>
          <a:p>
            <a:pPr algn="l">
              <a:spcBef>
                <a:spcPts val="800"/>
              </a:spcBef>
            </a:pPr>
            <a:r>
              <a:rPr sz="2400" b="1" i="0">
                <a:solidFill>
                  <a:srgbClr val="27598B"/>
                </a:solidFill>
                <a:latin typeface="Arial Narrow" panose="020B0606020202030204" pitchFamily="34" charset="0"/>
              </a:rPr>
              <a:t>$2.84B</a:t>
            </a:r>
          </a:p>
          <a:p>
            <a:pPr algn="l"/>
            <a:r>
              <a:rPr sz="1150" b="0" i="0">
                <a:solidFill>
                  <a:srgbClr val="0C1A28"/>
                </a:solidFill>
                <a:latin typeface="Arial" panose="020B0604020202020204" pitchFamily="34" charset="0"/>
              </a:rPr>
              <a:t>traded in the study universe (public data)</a:t>
            </a:r>
          </a:p>
          <a:p>
            <a:pPr algn="l">
              <a:spcBef>
                <a:spcPts val="800"/>
              </a:spcBef>
            </a:pPr>
            <a:r>
              <a:rPr sz="2400" b="1" i="0">
                <a:solidFill>
                  <a:srgbClr val="27598B"/>
                </a:solidFill>
                <a:latin typeface="Arial Narrow" panose="020B0606020202030204" pitchFamily="34" charset="0"/>
              </a:rPr>
              <a:t>0</a:t>
            </a:r>
          </a:p>
          <a:p>
            <a:pPr algn="l"/>
            <a:r>
              <a:rPr sz="1150" b="0" i="0">
                <a:solidFill>
                  <a:srgbClr val="0C1A28"/>
                </a:solidFill>
                <a:latin typeface="Arial" panose="020B0604020202020204" pitchFamily="34" charset="0"/>
              </a:rPr>
              <a:t>orders sent by the engine</a:t>
            </a:r>
          </a:p>
          <a:p>
            <a:pPr algn="l">
              <a:spcBef>
                <a:spcPts val="1000"/>
              </a:spcBef>
            </a:pPr>
            <a:r>
              <a:rPr sz="950" b="0" i="0">
                <a:solidFill>
                  <a:srgbClr val="566676"/>
                </a:solidFill>
                <a:latin typeface="Courier New"/>
              </a:rPr>
              <a:t>Sources: results/summary.json; results/engine/live_market_run.json; docs/RISK.md R16</a:t>
            </a:r>
          </a:p>
        </p:txBody>
      </p:sp>
      <p:sp>
        <p:nvSpPr>
          <p:cNvPr id="9"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0"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15</a:t>
            </a:fld>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000" b="1" i="0">
                <a:solidFill>
                  <a:srgbClr val="0C1A28"/>
                </a:solidFill>
                <a:latin typeface="Arial Narrow" panose="020B0606020202030204" pitchFamily="34" charset="0"/>
              </a:rPr>
              <a:t>Who is the fast tier, and why does the edge survive?</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Q&amp;A BACKUP  ·  Q6 OF 14  ·  research/compliance/JUDGE.md</a:t>
            </a:r>
          </a:p>
        </p:txBody>
      </p:sp>
      <p:sp>
        <p:nvSpPr>
          <p:cNvPr id="5" name="Question"/>
          <p:cNvSpPr txBox="1"/>
          <p:nvPr/>
        </p:nvSpPr>
        <p:spPr>
          <a:xfrm>
            <a:off x="548640" y="1536192"/>
            <a:ext cx="6949440" cy="685800"/>
          </a:xfrm>
          <a:prstGeom prst="rect">
            <a:avLst/>
          </a:prstGeom>
          <a:noFill/>
        </p:spPr>
        <p:txBody>
          <a:bodyPr wrap="square" anchor="t" lIns="0" tIns="0" rIns="0" bIns="0">
            <a:noAutofit/>
          </a:bodyPr>
          <a:lstStyle/>
          <a:p>
            <a:pPr algn="l"/>
            <a:r>
              <a:rPr sz="1300" b="0" i="1">
                <a:solidFill>
                  <a:srgbClr val="566676"/>
                </a:solidFill>
                <a:latin typeface="Arial" panose="020B0604020202020204" pitchFamily="34" charset="0"/>
              </a:rPr>
              <a:t>“Who is the fast tier, and why hasn't competition killed the edge?”</a:t>
            </a:r>
          </a:p>
        </p:txBody>
      </p:sp>
      <p:sp>
        <p:nvSpPr>
          <p:cNvPr id="6" name="Answer"/>
          <p:cNvSpPr txBox="1"/>
          <p:nvPr/>
        </p:nvSpPr>
        <p:spPr>
          <a:xfrm>
            <a:off x="548640" y="2286000"/>
            <a:ext cx="6949440" cy="3977639"/>
          </a:xfrm>
          <a:prstGeom prst="rect">
            <a:avLst/>
          </a:prstGeom>
          <a:noFill/>
        </p:spPr>
        <p:txBody>
          <a:bodyPr wrap="square" anchor="t" lIns="0" tIns="0" rIns="0" bIns="0">
            <a:noAutofit/>
          </a:bodyPr>
          <a:lstStyle/>
          <a:p>
            <a:pPr algn="l"/>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We can't identify them; we can characterize them: </a:t>
            </a:r>
            <a:r>
              <a:rPr sz="1400" b="0" i="0">
                <a:solidFill>
                  <a:srgbClr val="0C1A28"/>
                </a:solidFill>
                <a:latin typeface="Arial" panose="020B0604020202020204" pitchFamily="34" charset="0"/>
              </a:rPr>
              <a:t>they trade within 3 s of a detected point, and selected walk-forward they made money in 11/11 months.</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They replicate blind: </a:t>
            </a:r>
            <a:r>
              <a:rPr sz="1400" b="0" i="0">
                <a:solidFill>
                  <a:srgbClr val="0C1A28"/>
                </a:solidFill>
                <a:latin typeface="Arial" panose="020B0604020202020204" pitchFamily="34" charset="0"/>
              </a:rPr>
              <a:t>on unseen markets they beat everyone else by +3.09¢ in sample and +2.16¢ [1.79, 2.53] out of sample.</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Someone knows the point before the book. Courtside humans would imply an official-stamp lag of about 3.1 s, but that is an inference, not a measurement.</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Competition is biting: </a:t>
            </a:r>
            <a:r>
              <a:rPr sz="1400" b="0" i="0">
                <a:solidFill>
                  <a:srgbClr val="0C1A28"/>
                </a:solidFill>
                <a:latin typeface="Arial" panose="020B0604020202020204" pitchFamily="34" charset="0"/>
              </a:rPr>
              <a:t>the 30 s edge went from +2.0¢ in the first month to +0.4¢ in the last; qualifying wallets grew from 4 to 131. It shrank but stayed positive.</a:t>
            </a:r>
          </a:p>
        </p:txBody>
      </p:sp>
      <p:sp>
        <p:nvSpPr>
          <p:cNvPr id="7" name="Evidence card"/>
          <p:cNvSpPr/>
          <p:nvPr/>
        </p:nvSpPr>
        <p:spPr>
          <a:xfrm>
            <a:off x="7863840" y="1536192"/>
            <a:ext cx="3779215" cy="4754880"/>
          </a:xfrm>
          <a:prstGeom prst="roundRect">
            <a:avLst>
              <a:gd name="adj" fmla="val 193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p:cNvSpPr txBox="1"/>
          <p:nvPr/>
        </p:nvSpPr>
        <p:spPr>
          <a:xfrm>
            <a:off x="8065008" y="1627632"/>
            <a:ext cx="3376879" cy="4572000"/>
          </a:xfrm>
          <a:prstGeom prst="rect">
            <a:avLst/>
          </a:prstGeom>
          <a:noFill/>
        </p:spPr>
        <p:txBody>
          <a:bodyPr wrap="square" anchor="t" lIns="0" tIns="0" rIns="0" bIns="0">
            <a:noAutofit/>
          </a:bodyPr>
          <a:lstStyle/>
          <a:p>
            <a:pPr algn="l"/>
            <a:r>
              <a:rPr sz="1100" b="1" i="0" spc="140">
                <a:solidFill>
                  <a:srgbClr val="27598B"/>
                </a:solidFill>
                <a:latin typeface="Arial" panose="020B0604020202020204" pitchFamily="34" charset="0"/>
              </a:rPr>
              <a:t>EVIDENCE</a:t>
            </a:r>
          </a:p>
          <a:p>
            <a:pPr algn="l">
              <a:spcBef>
                <a:spcPts val="800"/>
              </a:spcBef>
            </a:pPr>
            <a:r>
              <a:rPr sz="2400" b="1" i="0">
                <a:solidFill>
                  <a:srgbClr val="27598B"/>
                </a:solidFill>
                <a:latin typeface="Arial Narrow" panose="020B0606020202030204" pitchFamily="34" charset="0"/>
              </a:rPr>
              <a:t>11/11</a:t>
            </a:r>
          </a:p>
          <a:p>
            <a:pPr algn="l"/>
            <a:r>
              <a:rPr sz="1150" b="0" i="0">
                <a:solidFill>
                  <a:srgbClr val="0C1A28"/>
                </a:solidFill>
                <a:latin typeface="Arial" panose="020B0604020202020204" pitchFamily="34" charset="0"/>
              </a:rPr>
              <a:t>months the fast tier made money, walk-forward</a:t>
            </a:r>
          </a:p>
          <a:p>
            <a:pPr algn="l">
              <a:spcBef>
                <a:spcPts val="800"/>
              </a:spcBef>
            </a:pPr>
            <a:r>
              <a:rPr sz="2400" b="1" i="0">
                <a:solidFill>
                  <a:srgbClr val="27598B"/>
                </a:solidFill>
                <a:latin typeface="Arial Narrow" panose="020B0606020202030204" pitchFamily="34" charset="0"/>
              </a:rPr>
              <a:t>+2.16¢</a:t>
            </a:r>
          </a:p>
          <a:p>
            <a:pPr algn="l"/>
            <a:r>
              <a:rPr sz="1150" b="0" i="0">
                <a:solidFill>
                  <a:srgbClr val="0C1A28"/>
                </a:solidFill>
                <a:latin typeface="Arial" panose="020B0604020202020204" pitchFamily="34" charset="0"/>
              </a:rPr>
              <a:t>fast minus others, blind OOS [1.79, 2.53]</a:t>
            </a:r>
          </a:p>
          <a:p>
            <a:pPr algn="l">
              <a:spcBef>
                <a:spcPts val="800"/>
              </a:spcBef>
            </a:pPr>
            <a:r>
              <a:rPr sz="2400" b="1" i="0">
                <a:solidFill>
                  <a:srgbClr val="27598B"/>
                </a:solidFill>
                <a:latin typeface="Arial Narrow" panose="020B0606020202030204" pitchFamily="34" charset="0"/>
              </a:rPr>
              <a:t>+2.0¢ → +0.4¢</a:t>
            </a:r>
          </a:p>
          <a:p>
            <a:pPr algn="l"/>
            <a:r>
              <a:rPr sz="1150" b="0" i="0">
                <a:solidFill>
                  <a:srgbClr val="0C1A28"/>
                </a:solidFill>
                <a:latin typeface="Arial" panose="020B0604020202020204" pitchFamily="34" charset="0"/>
              </a:rPr>
              <a:t>edge per share, first vs last month</a:t>
            </a:r>
          </a:p>
          <a:p>
            <a:pPr algn="l">
              <a:spcBef>
                <a:spcPts val="1000"/>
              </a:spcBef>
            </a:pPr>
            <a:r>
              <a:rPr sz="950" b="0" i="0">
                <a:solidFill>
                  <a:srgbClr val="566676"/>
                </a:solidFill>
                <a:latin typeface="Courier New"/>
              </a:rPr>
              <a:t>Sources: results/summary.json; results/expand/results.json; results/tier0/results.json</a:t>
            </a:r>
          </a:p>
        </p:txBody>
      </p:sp>
      <p:sp>
        <p:nvSpPr>
          <p:cNvPr id="9"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0"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16</a:t>
            </a:fld>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000" b="1" i="0">
                <a:solidFill>
                  <a:srgbClr val="0C1A28"/>
                </a:solidFill>
                <a:latin typeface="Arial Narrow" panose="020B0606020202030204" pitchFamily="34" charset="0"/>
              </a:rPr>
              <a:t>With this many variants, isn't it the luckiest draw?</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Q&amp;A BACKUP  ·  Q7 OF 14  ·  research/compliance/JUDGE.md</a:t>
            </a:r>
          </a:p>
        </p:txBody>
      </p:sp>
      <p:sp>
        <p:nvSpPr>
          <p:cNvPr id="5" name="Question"/>
          <p:cNvSpPr txBox="1"/>
          <p:nvPr/>
        </p:nvSpPr>
        <p:spPr>
          <a:xfrm>
            <a:off x="548640" y="1536192"/>
            <a:ext cx="6949440" cy="685800"/>
          </a:xfrm>
          <a:prstGeom prst="rect">
            <a:avLst/>
          </a:prstGeom>
          <a:noFill/>
        </p:spPr>
        <p:txBody>
          <a:bodyPr wrap="square" anchor="t" lIns="0" tIns="0" rIns="0" bIns="0">
            <a:noAutofit/>
          </a:bodyPr>
          <a:lstStyle/>
          <a:p>
            <a:pPr algn="l"/>
            <a:r>
              <a:rPr sz="1300" b="0" i="1">
                <a:solidFill>
                  <a:srgbClr val="566676"/>
                </a:solidFill>
                <a:latin typeface="Arial" panose="020B0604020202020204" pitchFamily="34" charset="0"/>
              </a:rPr>
              <a:t>“You tried 3,410 or more variants. Why isn't this the luckiest draw?”</a:t>
            </a:r>
          </a:p>
        </p:txBody>
      </p:sp>
      <p:sp>
        <p:nvSpPr>
          <p:cNvPr id="6" name="Answer"/>
          <p:cNvSpPr txBox="1"/>
          <p:nvPr/>
        </p:nvSpPr>
        <p:spPr>
          <a:xfrm>
            <a:off x="548640" y="2286000"/>
            <a:ext cx="6949440" cy="3977639"/>
          </a:xfrm>
          <a:prstGeom prst="rect">
            <a:avLst/>
          </a:prstGeom>
          <a:noFill/>
        </p:spPr>
        <p:txBody>
          <a:bodyPr wrap="square" anchor="t" lIns="0" tIns="0" rIns="0" bIns="0">
            <a:noAutofit/>
          </a:bodyPr>
          <a:lstStyle/>
          <a:p>
            <a:pPr algn="l"/>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Every variant is counted and reported: </a:t>
            </a:r>
            <a:r>
              <a:rPr sz="1400" b="0" i="0">
                <a:solidFill>
                  <a:srgbClr val="0C1A28"/>
                </a:solidFill>
                <a:latin typeface="Arial" panose="020B0604020202020204" pitchFamily="34" charset="0"/>
              </a:rPr>
              <a:t>N = 3,410.</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In sample the deflated Sharpe at that N is </a:t>
            </a:r>
            <a:r>
              <a:rPr sz="1400" b="0" i="0">
                <a:solidFill>
                  <a:srgbClr val="0C1A28"/>
                </a:solidFill>
                <a:latin typeface="Arial" panose="020B0604020202020204" pitchFamily="34" charset="0"/>
              </a:rPr>
              <a:t>0.997, even with the most conservative variance.</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On the 40-day burned OOS it is </a:t>
            </a:r>
            <a:r>
              <a:rPr sz="1400" b="0" i="0">
                <a:solidFill>
                  <a:srgbClr val="0C1A28"/>
                </a:solidFill>
                <a:latin typeface="Arial" panose="020B0604020202020204" pitchFamily="34" charset="0"/>
              </a:rPr>
              <a:t>0.481 at N = 44 and 0.075 at N = 3,410. 40 days cannot rule out luck at the full trial count, and we say that.</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Probability of backtest overfitting: 0.0% on the sizing grid, 15.4% by Sharpe on the v2-safe grid, 42.0% by its selection rule.</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Many variants are near-duplicates, so N overstates independent trials. The real answer is the forward test.</a:t>
            </a:r>
          </a:p>
        </p:txBody>
      </p:sp>
      <p:sp>
        <p:nvSpPr>
          <p:cNvPr id="7" name="Evidence card"/>
          <p:cNvSpPr/>
          <p:nvPr/>
        </p:nvSpPr>
        <p:spPr>
          <a:xfrm>
            <a:off x="7863840" y="1536192"/>
            <a:ext cx="3779215" cy="4754880"/>
          </a:xfrm>
          <a:prstGeom prst="roundRect">
            <a:avLst>
              <a:gd name="adj" fmla="val 193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p:cNvSpPr txBox="1"/>
          <p:nvPr/>
        </p:nvSpPr>
        <p:spPr>
          <a:xfrm>
            <a:off x="8065008" y="1627632"/>
            <a:ext cx="3376879" cy="4572000"/>
          </a:xfrm>
          <a:prstGeom prst="rect">
            <a:avLst/>
          </a:prstGeom>
          <a:noFill/>
        </p:spPr>
        <p:txBody>
          <a:bodyPr wrap="square" anchor="t" lIns="0" tIns="0" rIns="0" bIns="0">
            <a:noAutofit/>
          </a:bodyPr>
          <a:lstStyle/>
          <a:p>
            <a:pPr algn="l"/>
            <a:r>
              <a:rPr sz="1100" b="1" i="0" spc="140">
                <a:solidFill>
                  <a:srgbClr val="27598B"/>
                </a:solidFill>
                <a:latin typeface="Arial" panose="020B0604020202020204" pitchFamily="34" charset="0"/>
              </a:rPr>
              <a:t>EVIDENCE</a:t>
            </a:r>
          </a:p>
          <a:p>
            <a:pPr algn="l">
              <a:spcBef>
                <a:spcPts val="800"/>
              </a:spcBef>
            </a:pPr>
            <a:r>
              <a:rPr sz="2400" b="1" i="0">
                <a:solidFill>
                  <a:srgbClr val="27598B"/>
                </a:solidFill>
                <a:latin typeface="Arial Narrow" panose="020B0606020202030204" pitchFamily="34" charset="0"/>
              </a:rPr>
              <a:t>0.997</a:t>
            </a:r>
          </a:p>
          <a:p>
            <a:pPr algn="l"/>
            <a:r>
              <a:rPr sz="1150" b="0" i="0">
                <a:solidFill>
                  <a:srgbClr val="0C1A28"/>
                </a:solidFill>
                <a:latin typeface="Arial" panose="020B0604020202020204" pitchFamily="34" charset="0"/>
              </a:rPr>
              <a:t>DSR in sample, N = 3,410</a:t>
            </a:r>
          </a:p>
          <a:p>
            <a:pPr algn="l">
              <a:spcBef>
                <a:spcPts val="800"/>
              </a:spcBef>
            </a:pPr>
            <a:r>
              <a:rPr sz="2400" b="1" i="0">
                <a:solidFill>
                  <a:srgbClr val="27598B"/>
                </a:solidFill>
                <a:latin typeface="Arial Narrow" panose="020B0606020202030204" pitchFamily="34" charset="0"/>
              </a:rPr>
              <a:t>0.075</a:t>
            </a:r>
          </a:p>
          <a:p>
            <a:pPr algn="l"/>
            <a:r>
              <a:rPr sz="1150" b="0" i="0">
                <a:solidFill>
                  <a:srgbClr val="0C1A28"/>
                </a:solidFill>
                <a:latin typeface="Arial" panose="020B0604020202020204" pitchFamily="34" charset="0"/>
              </a:rPr>
              <a:t>DSR burned OOS, N = 3,410</a:t>
            </a:r>
          </a:p>
          <a:p>
            <a:pPr algn="l">
              <a:spcBef>
                <a:spcPts val="800"/>
              </a:spcBef>
            </a:pPr>
            <a:r>
              <a:rPr sz="2400" b="1" i="0">
                <a:solidFill>
                  <a:srgbClr val="27598B"/>
                </a:solidFill>
                <a:latin typeface="Arial Narrow" panose="020B0606020202030204" pitchFamily="34" charset="0"/>
              </a:rPr>
              <a:t>15.4%</a:t>
            </a:r>
          </a:p>
          <a:p>
            <a:pPr algn="l"/>
            <a:r>
              <a:rPr sz="1150" b="0" i="0">
                <a:solidFill>
                  <a:srgbClr val="0C1A28"/>
                </a:solidFill>
                <a:latin typeface="Arial" panose="020B0604020202020204" pitchFamily="34" charset="0"/>
              </a:rPr>
              <a:t>PBO, v2-safe grid by Sharpe</a:t>
            </a:r>
          </a:p>
          <a:p>
            <a:pPr algn="l">
              <a:spcBef>
                <a:spcPts val="1000"/>
              </a:spcBef>
            </a:pPr>
            <a:r>
              <a:rPr sz="950" b="0" i="0">
                <a:solidFill>
                  <a:srgbClr val="566676"/>
                </a:solidFill>
                <a:latin typeface="Courier New"/>
              </a:rPr>
              <a:t>Sources: results/rigor/rigor.json</a:t>
            </a:r>
          </a:p>
        </p:txBody>
      </p:sp>
      <p:sp>
        <p:nvSpPr>
          <p:cNvPr id="9"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0"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17</a:t>
            </a:fld>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000" b="1" i="0">
                <a:solidFill>
                  <a:srgbClr val="0C1A28"/>
                </a:solidFill>
                <a:latin typeface="Arial Narrow" panose="020B0606020202030204" pitchFamily="34" charset="0"/>
              </a:rPr>
              <a:t>Is the holdout survivorship-biased?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Q&amp;A BACKUP  ·  Q8 OF 14  ·  research/compliance/JUDGE.md</a:t>
            </a:r>
          </a:p>
        </p:txBody>
      </p:sp>
      <p:sp>
        <p:nvSpPr>
          <p:cNvPr id="5" name="Question"/>
          <p:cNvSpPr txBox="1"/>
          <p:nvPr/>
        </p:nvSpPr>
        <p:spPr>
          <a:xfrm>
            <a:off x="548640" y="1536192"/>
            <a:ext cx="6949440" cy="685800"/>
          </a:xfrm>
          <a:prstGeom prst="rect">
            <a:avLst/>
          </a:prstGeom>
          <a:noFill/>
        </p:spPr>
        <p:txBody>
          <a:bodyPr wrap="square" anchor="t" lIns="0" tIns="0" rIns="0" bIns="0">
            <a:noAutofit/>
          </a:bodyPr>
          <a:lstStyle/>
          <a:p>
            <a:pPr algn="l"/>
            <a:r>
              <a:rPr sz="1300" b="0" i="1">
                <a:solidFill>
                  <a:srgbClr val="566676"/>
                </a:solidFill>
                <a:latin typeface="Arial" panose="020B0604020202020204" pitchFamily="34" charset="0"/>
              </a:rPr>
              <a:t>“Your OOS is 20% of matches but only 38.7 of 360 days, and your universe keeps matches with at least $5k of lifetime volume, which you only know afterwards. Isn't that survivorship and lookahead?”</a:t>
            </a:r>
          </a:p>
        </p:txBody>
      </p:sp>
      <p:sp>
        <p:nvSpPr>
          <p:cNvPr id="6" name="Answer"/>
          <p:cNvSpPr txBox="1"/>
          <p:nvPr/>
        </p:nvSpPr>
        <p:spPr>
          <a:xfrm>
            <a:off x="548640" y="2286000"/>
            <a:ext cx="6949440" cy="3977639"/>
          </a:xfrm>
          <a:prstGeom prst="rect">
            <a:avLst/>
          </a:prstGeom>
          <a:noFill/>
        </p:spPr>
        <p:txBody>
          <a:bodyPr wrap="square" anchor="t" lIns="0" tIns="0" rIns="0" bIns="0">
            <a:noAutofit/>
          </a:bodyPr>
          <a:lstStyle/>
          <a:p>
            <a:pPr algn="l"/>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We read “20%” as a share of observations: </a:t>
            </a:r>
            <a:r>
              <a:rPr sz="1400" b="0" i="0">
                <a:solidFill>
                  <a:srgbClr val="0C1A28"/>
                </a:solidFill>
                <a:latin typeface="Arial" panose="020B0604020202020204" pitchFamily="34" charset="0"/>
              </a:rPr>
              <a:t>2,617 of 13,084 matches, 21% of volume. By calendar time it is 38.7 of 360 days (40 UTC dates, the count slides 5 and 6 use); a time-based 20% would start 2026-07-23.</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The volume filter is ex-post. </a:t>
            </a:r>
            <a:r>
              <a:rPr sz="1400" b="0" i="0">
                <a:solidFill>
                  <a:srgbClr val="0C1A28"/>
                </a:solidFill>
                <a:latin typeface="Arial" panose="020B0604020202020204" pitchFamily="34" charset="0"/>
              </a:rPr>
              <a:t>It drops thin markets a live trader would see. The OOS trades nearest the threshold made −1.96¢ a share.</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Our check is the blind test on </a:t>
            </a:r>
            <a:r>
              <a:rPr sz="1400" b="0" i="0">
                <a:solidFill>
                  <a:srgbClr val="0C1A28"/>
                </a:solidFill>
                <a:latin typeface="Arial" panose="020B0604020202020204" pitchFamily="34" charset="0"/>
              </a:rPr>
              <a:t>11,307 other markets (mostly ITF): the fast-tier gap holds there; v2's out-of-sample interval includes zero.</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H1–H6 use onset-aligned windows: an ex-post event study, labelled as such. Every tradable v2 number uses the causal window.</a:t>
            </a:r>
          </a:p>
        </p:txBody>
      </p:sp>
      <p:sp>
        <p:nvSpPr>
          <p:cNvPr id="7" name="Evidence card"/>
          <p:cNvSpPr/>
          <p:nvPr/>
        </p:nvSpPr>
        <p:spPr>
          <a:xfrm>
            <a:off x="7863840" y="1536192"/>
            <a:ext cx="3779215" cy="4754880"/>
          </a:xfrm>
          <a:prstGeom prst="roundRect">
            <a:avLst>
              <a:gd name="adj" fmla="val 193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p:cNvSpPr txBox="1"/>
          <p:nvPr/>
        </p:nvSpPr>
        <p:spPr>
          <a:xfrm>
            <a:off x="8065008" y="1627632"/>
            <a:ext cx="3376879" cy="4572000"/>
          </a:xfrm>
          <a:prstGeom prst="rect">
            <a:avLst/>
          </a:prstGeom>
          <a:noFill/>
        </p:spPr>
        <p:txBody>
          <a:bodyPr wrap="square" anchor="t" lIns="0" tIns="0" rIns="0" bIns="0">
            <a:noAutofit/>
          </a:bodyPr>
          <a:lstStyle/>
          <a:p>
            <a:pPr algn="l"/>
            <a:r>
              <a:rPr sz="1100" b="1" i="0" spc="140">
                <a:solidFill>
                  <a:srgbClr val="27598B"/>
                </a:solidFill>
                <a:latin typeface="Arial" panose="020B0604020202020204" pitchFamily="34" charset="0"/>
              </a:rPr>
              <a:t>EVIDENCE</a:t>
            </a:r>
          </a:p>
          <a:p>
            <a:pPr algn="l">
              <a:spcBef>
                <a:spcPts val="800"/>
              </a:spcBef>
            </a:pPr>
            <a:r>
              <a:rPr sz="2400" b="1" i="0">
                <a:solidFill>
                  <a:srgbClr val="27598B"/>
                </a:solidFill>
                <a:latin typeface="Arial Narrow" panose="020B0606020202030204" pitchFamily="34" charset="0"/>
              </a:rPr>
              <a:t>2,617/13,084</a:t>
            </a:r>
          </a:p>
          <a:p>
            <a:pPr algn="l"/>
            <a:r>
              <a:rPr sz="1150" b="0" i="0">
                <a:solidFill>
                  <a:srgbClr val="0C1A28"/>
                </a:solidFill>
                <a:latin typeface="Arial" panose="020B0604020202020204" pitchFamily="34" charset="0"/>
              </a:rPr>
              <a:t>matches held out (21% of volume)</a:t>
            </a:r>
          </a:p>
          <a:p>
            <a:pPr algn="l">
              <a:spcBef>
                <a:spcPts val="800"/>
              </a:spcBef>
            </a:pPr>
            <a:r>
              <a:rPr sz="2400" b="1" i="0">
                <a:solidFill>
                  <a:srgbClr val="27598B"/>
                </a:solidFill>
                <a:latin typeface="Arial Narrow" panose="020B0606020202030204" pitchFamily="34" charset="0"/>
              </a:rPr>
              <a:t>38.7 of 360</a:t>
            </a:r>
          </a:p>
          <a:p>
            <a:pPr algn="l"/>
            <a:r>
              <a:rPr sz="1150" b="0" i="0">
                <a:solidFill>
                  <a:srgbClr val="0C1A28"/>
                </a:solidFill>
                <a:latin typeface="Arial" panose="020B0604020202020204" pitchFamily="34" charset="0"/>
              </a:rPr>
              <a:t>days held out</a:t>
            </a:r>
          </a:p>
          <a:p>
            <a:pPr algn="l">
              <a:spcBef>
                <a:spcPts val="800"/>
              </a:spcBef>
            </a:pPr>
            <a:r>
              <a:rPr sz="2400" b="1" i="0">
                <a:solidFill>
                  <a:srgbClr val="27598B"/>
                </a:solidFill>
                <a:latin typeface="Arial Narrow" panose="020B0606020202030204" pitchFamily="34" charset="0"/>
              </a:rPr>
              <a:t>11,307</a:t>
            </a:r>
          </a:p>
          <a:p>
            <a:pPr algn="l"/>
            <a:r>
              <a:rPr sz="1150" b="0" i="0">
                <a:solidFill>
                  <a:srgbClr val="0C1A28"/>
                </a:solidFill>
                <a:latin typeface="Arial" panose="020B0604020202020204" pitchFamily="34" charset="0"/>
              </a:rPr>
              <a:t>unseen markets in the blind test</a:t>
            </a:r>
          </a:p>
          <a:p>
            <a:pPr algn="l">
              <a:spcBef>
                <a:spcPts val="1000"/>
              </a:spcBef>
            </a:pPr>
            <a:r>
              <a:rPr sz="950" b="0" i="0">
                <a:solidFill>
                  <a:srgbClr val="566676"/>
                </a:solidFill>
                <a:latin typeface="Courier New"/>
              </a:rPr>
              <a:t>Sources: results/v2/note_metrics.json; results/risk/risk_stats.json; results/expand/results.json</a:t>
            </a:r>
          </a:p>
        </p:txBody>
      </p:sp>
      <p:sp>
        <p:nvSpPr>
          <p:cNvPr id="9"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0"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18</a:t>
            </a:fld>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000" b="1" i="0">
                <a:solidFill>
                  <a:srgbClr val="0C1A28"/>
                </a:solidFill>
                <a:latin typeface="Arial Narrow" panose="020B0606020202030204" pitchFamily="34" charset="0"/>
              </a:rPr>
              <a:t>How much capital could this run?</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Q&amp;A BACKUP  ·  Q9 OF 14  ·  research/compliance/JUDGE.md</a:t>
            </a:r>
          </a:p>
        </p:txBody>
      </p:sp>
      <p:sp>
        <p:nvSpPr>
          <p:cNvPr id="5" name="Question"/>
          <p:cNvSpPr txBox="1"/>
          <p:nvPr/>
        </p:nvSpPr>
        <p:spPr>
          <a:xfrm>
            <a:off x="548640" y="1536192"/>
            <a:ext cx="6949440" cy="685800"/>
          </a:xfrm>
          <a:prstGeom prst="rect">
            <a:avLst/>
          </a:prstGeom>
          <a:noFill/>
        </p:spPr>
        <p:txBody>
          <a:bodyPr wrap="square" anchor="t" lIns="0" tIns="0" rIns="0" bIns="0">
            <a:noAutofit/>
          </a:bodyPr>
          <a:lstStyle/>
          <a:p>
            <a:pPr algn="l"/>
            <a:r>
              <a:rPr sz="1300" b="0" i="1">
                <a:solidFill>
                  <a:srgbClr val="566676"/>
                </a:solidFill>
                <a:latin typeface="Arial" panose="020B0604020202020204" pitchFamily="34" charset="0"/>
              </a:rPr>
              <a:t>“How much capital could this run, and doesn't it hang on a handful of wallets?”</a:t>
            </a:r>
          </a:p>
        </p:txBody>
      </p:sp>
      <p:sp>
        <p:nvSpPr>
          <p:cNvPr id="6" name="Answer"/>
          <p:cNvSpPr txBox="1"/>
          <p:nvPr/>
        </p:nvSpPr>
        <p:spPr>
          <a:xfrm>
            <a:off x="548640" y="2286000"/>
            <a:ext cx="6949440" cy="3977639"/>
          </a:xfrm>
          <a:prstGeom prst="rect">
            <a:avLst/>
          </a:prstGeom>
          <a:noFill/>
        </p:spPr>
        <p:txBody>
          <a:bodyPr wrap="square" anchor="t" lIns="0" tIns="0" rIns="0" bIns="0">
            <a:noAutofit/>
          </a:bodyPr>
          <a:lstStyle/>
          <a:p>
            <a:pPr algn="l"/>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Not much. </a:t>
            </a:r>
            <a:r>
              <a:rPr sz="1400" b="0" i="0">
                <a:solidFill>
                  <a:srgbClr val="0C1A28"/>
                </a:solidFill>
                <a:latin typeface="Arial" panose="020B0604020202020204" pitchFamily="34" charset="0"/>
              </a:rPr>
              <a:t>v2 ran about $7.2k a day of notional ($1.48M in 206 days) on $28.3k of capital; median trade $11.17.</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Capacity is bounded by the fast tier's own prints, </a:t>
            </a:r>
            <a:r>
              <a:rPr sz="1400" b="0" i="0">
                <a:solidFill>
                  <a:srgbClr val="0C1A28"/>
                </a:solidFill>
                <a:latin typeface="Arial" panose="020B0604020202020204" pitchFamily="34" charset="0"/>
              </a:rPr>
              <a:t>not book depth: every qualifying print totals $82.3k/day in sample and $105.5k/day out of sample.</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Concentration is real: </a:t>
            </a:r>
            <a:r>
              <a:rPr sz="1400" b="0" i="0">
                <a:solidFill>
                  <a:srgbClr val="0C1A28"/>
                </a:solidFill>
                <a:latin typeface="Arial" panose="020B0604020202020204" pitchFamily="34" charset="0"/>
              </a:rPr>
              <a:t>the top wallet carries 41.7% of in-sample P&amp;L and 48.4% out of sample. Clustered by wallet, the burned-OOS CI is [−0.45, 2.38].</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Does it cover central fixed costs out of sample? No: not even with every qualifying print (central cost $167/day). That is why we say “positive but not proven”.</a:t>
            </a:r>
          </a:p>
        </p:txBody>
      </p:sp>
      <p:sp>
        <p:nvSpPr>
          <p:cNvPr id="7" name="Evidence card"/>
          <p:cNvSpPr/>
          <p:nvPr/>
        </p:nvSpPr>
        <p:spPr>
          <a:xfrm>
            <a:off x="7863840" y="1536192"/>
            <a:ext cx="3779215" cy="4754880"/>
          </a:xfrm>
          <a:prstGeom prst="roundRect">
            <a:avLst>
              <a:gd name="adj" fmla="val 193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p:cNvSpPr txBox="1"/>
          <p:nvPr/>
        </p:nvSpPr>
        <p:spPr>
          <a:xfrm>
            <a:off x="8065008" y="1627632"/>
            <a:ext cx="3376879" cy="4572000"/>
          </a:xfrm>
          <a:prstGeom prst="rect">
            <a:avLst/>
          </a:prstGeom>
          <a:noFill/>
        </p:spPr>
        <p:txBody>
          <a:bodyPr wrap="square" anchor="t" lIns="0" tIns="0" rIns="0" bIns="0">
            <a:noAutofit/>
          </a:bodyPr>
          <a:lstStyle/>
          <a:p>
            <a:pPr algn="l"/>
            <a:r>
              <a:rPr sz="1100" b="1" i="0" spc="140">
                <a:solidFill>
                  <a:srgbClr val="27598B"/>
                </a:solidFill>
                <a:latin typeface="Arial" panose="020B0604020202020204" pitchFamily="34" charset="0"/>
              </a:rPr>
              <a:t>EVIDENCE</a:t>
            </a:r>
          </a:p>
          <a:p>
            <a:pPr algn="l">
              <a:spcBef>
                <a:spcPts val="800"/>
              </a:spcBef>
            </a:pPr>
            <a:r>
              <a:rPr sz="2400" b="1" i="0">
                <a:solidFill>
                  <a:srgbClr val="27598B"/>
                </a:solidFill>
                <a:latin typeface="Arial Narrow" panose="020B0606020202030204" pitchFamily="34" charset="0"/>
              </a:rPr>
              <a:t>$7.2k</a:t>
            </a:r>
          </a:p>
          <a:p>
            <a:pPr algn="l"/>
            <a:r>
              <a:rPr sz="1150" b="0" i="0">
                <a:solidFill>
                  <a:srgbClr val="0C1A28"/>
                </a:solidFill>
                <a:latin typeface="Arial" panose="020B0604020202020204" pitchFamily="34" charset="0"/>
              </a:rPr>
              <a:t>notional per day, in sample</a:t>
            </a:r>
          </a:p>
          <a:p>
            <a:pPr algn="l">
              <a:spcBef>
                <a:spcPts val="800"/>
              </a:spcBef>
            </a:pPr>
            <a:r>
              <a:rPr sz="2400" b="1" i="0">
                <a:solidFill>
                  <a:srgbClr val="27598B"/>
                </a:solidFill>
                <a:latin typeface="Arial Narrow" panose="020B0606020202030204" pitchFamily="34" charset="0"/>
              </a:rPr>
              <a:t>$82.3k</a:t>
            </a:r>
          </a:p>
          <a:p>
            <a:pPr algn="l"/>
            <a:r>
              <a:rPr sz="1150" b="0" i="0">
                <a:solidFill>
                  <a:srgbClr val="0C1A28"/>
                </a:solidFill>
                <a:latin typeface="Arial" panose="020B0604020202020204" pitchFamily="34" charset="0"/>
              </a:rPr>
              <a:t>outer ceiling per day (IS)</a:t>
            </a:r>
          </a:p>
          <a:p>
            <a:pPr algn="l">
              <a:spcBef>
                <a:spcPts val="800"/>
              </a:spcBef>
            </a:pPr>
            <a:r>
              <a:rPr sz="2400" b="1" i="0">
                <a:solidFill>
                  <a:srgbClr val="27598B"/>
                </a:solidFill>
                <a:latin typeface="Arial Narrow" panose="020B0606020202030204" pitchFamily="34" charset="0"/>
              </a:rPr>
              <a:t>[−0.45, 2.38]</a:t>
            </a:r>
          </a:p>
          <a:p>
            <a:pPr algn="l"/>
            <a:r>
              <a:rPr sz="1150" b="0" i="0">
                <a:solidFill>
                  <a:srgbClr val="0C1A28"/>
                </a:solidFill>
                <a:latin typeface="Arial" panose="020B0604020202020204" pitchFamily="34" charset="0"/>
              </a:rPr>
              <a:t>burned-OOS ¢/share, wallet-clustered CI</a:t>
            </a:r>
          </a:p>
          <a:p>
            <a:pPr algn="l">
              <a:spcBef>
                <a:spcPts val="1000"/>
              </a:spcBef>
            </a:pPr>
            <a:r>
              <a:rPr sz="950" b="0" i="0">
                <a:solidFill>
                  <a:srgbClr val="566676"/>
                </a:solidFill>
                <a:latin typeface="Courier New"/>
              </a:rPr>
              <a:t>Sources: results/v2/note_metrics.json; results/v2/causal.json; results/risk/risk_stats.json; results/financials/financials.json; results/financials/pm_compute.json</a:t>
            </a:r>
          </a:p>
        </p:txBody>
      </p:sp>
      <p:sp>
        <p:nvSpPr>
          <p:cNvPr id="9"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0"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19</a:t>
            </a:fld>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000" b="1" i="0">
                <a:solidFill>
                  <a:srgbClr val="0C1A28"/>
                </a:solidFill>
                <a:latin typeface="Arial Narrow" panose="020B0606020202030204" pitchFamily="34" charset="0"/>
              </a:rPr>
              <a:t>What does the computer vision actually add?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Q&amp;A BACKUP  ·  Q10 OF 14  ·  docs/QA_PREP.md Q10</a:t>
            </a:r>
          </a:p>
        </p:txBody>
      </p:sp>
      <p:sp>
        <p:nvSpPr>
          <p:cNvPr id="5" name="Question"/>
          <p:cNvSpPr txBox="1"/>
          <p:nvPr/>
        </p:nvSpPr>
        <p:spPr>
          <a:xfrm>
            <a:off x="548640" y="1536192"/>
            <a:ext cx="6949440" cy="685800"/>
          </a:xfrm>
          <a:prstGeom prst="rect">
            <a:avLst/>
          </a:prstGeom>
          <a:noFill/>
        </p:spPr>
        <p:txBody>
          <a:bodyPr wrap="square" anchor="t" lIns="0" tIns="0" rIns="0" bIns="0">
            <a:noAutofit/>
          </a:bodyPr>
          <a:lstStyle/>
          <a:p>
            <a:pPr algn="l"/>
            <a:r>
              <a:rPr sz="1300" b="0" i="1">
                <a:solidFill>
                  <a:srgbClr val="566676"/>
                </a:solidFill>
                <a:latin typeface="Arial" panose="020B0604020202020204" pitchFamily="34" charset="0"/>
              </a:rPr>
              <a:t>“Your call model was scored with a look-ahead feature. Causally, how good is it, and what does it add?”</a:t>
            </a:r>
          </a:p>
        </p:txBody>
      </p:sp>
      <p:sp>
        <p:nvSpPr>
          <p:cNvPr id="6" name="Answer"/>
          <p:cNvSpPr txBox="1"/>
          <p:nvPr/>
        </p:nvSpPr>
        <p:spPr>
          <a:xfrm>
            <a:off x="548640" y="2286000"/>
            <a:ext cx="6949440" cy="3977639"/>
          </a:xfrm>
          <a:prstGeom prst="rect">
            <a:avLst/>
          </a:prstGeom>
          <a:noFill/>
        </p:spPr>
        <p:txBody>
          <a:bodyPr wrap="square" anchor="t" lIns="0" tIns="0" rIns="0" bIns="0">
            <a:noAutofit/>
          </a:bodyPr>
          <a:lstStyle/>
          <a:p>
            <a:pPr algn="l"/>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The live engine is causal; the offline evaluation was not. </a:t>
            </a:r>
            <a:r>
              <a:rPr sz="1400" b="0" i="0">
                <a:solidFill>
                  <a:srgbClr val="0C1A28"/>
                </a:solidFill>
                <a:latin typeface="Arial" panose="020B0604020202020204" pitchFamily="34" charset="0"/>
              </a:rPr>
              <a:t>Streamed at 120 fps on one GPU, it called 4 of 41 held-out misses before contact, all correct (lower bound 51%), median lead 162.5 ms. The offline 11/11 at 50 ms used a look-ahead feature.</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At a 1 s feed the lead barely matters: </a:t>
            </a:r>
            <a:r>
              <a:rPr sz="1400" b="0" i="0">
                <a:solidFill>
                  <a:srgbClr val="0C1A28"/>
                </a:solidFill>
                <a:latin typeface="Arial" panose="020B0604020202020204" pitchFamily="34" charset="0"/>
              </a:rPr>
              <a:t>with the live engine's own call table the pre-registered 1 s cell is +$17/day in sample and +$4 held out; with no early calls at all, +$8 and −$13.</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It also fires between rallies: </a:t>
            </a:r>
            <a:r>
              <a:rPr sz="1400" b="0" i="0">
                <a:solidFill>
                  <a:srgbClr val="0C1A28"/>
                </a:solidFill>
                <a:latin typeface="Arial" panose="020B0604020202020204" pitchFamily="34" charset="0"/>
              </a:rPr>
              <a:t>about 30 MISS calls an hour on balls outside the scored set; the post hoc 1 s P&amp;L survives only ~32 phantom trades a day. A rally-state gate is now in the strategy (off by default, not yet evaluated on the event log); it comes before any live trade.</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The contribution is the time budget: </a:t>
            </a:r>
            <a:r>
              <a:rPr sz="1400" b="0" i="0">
                <a:solidFill>
                  <a:srgbClr val="0C1A28"/>
                </a:solidFill>
                <a:latin typeface="Arial" panose="020B0604020202020204" pitchFamily="34" charset="0"/>
              </a:rPr>
              <a:t>where a lead comes from (frame rate, cameras, being in the venue), and proof that the call fits easily inside the venue's 1 s hold.</a:t>
            </a:r>
          </a:p>
        </p:txBody>
      </p:sp>
      <p:sp>
        <p:nvSpPr>
          <p:cNvPr id="7" name="Evidence card"/>
          <p:cNvSpPr/>
          <p:nvPr/>
        </p:nvSpPr>
        <p:spPr>
          <a:xfrm>
            <a:off x="7863840" y="1536192"/>
            <a:ext cx="3779215" cy="4754880"/>
          </a:xfrm>
          <a:prstGeom prst="roundRect">
            <a:avLst>
              <a:gd name="adj" fmla="val 193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p:cNvSpPr txBox="1"/>
          <p:nvPr/>
        </p:nvSpPr>
        <p:spPr>
          <a:xfrm>
            <a:off x="8065008" y="1627632"/>
            <a:ext cx="3376879" cy="4572000"/>
          </a:xfrm>
          <a:prstGeom prst="rect">
            <a:avLst/>
          </a:prstGeom>
          <a:noFill/>
        </p:spPr>
        <p:txBody>
          <a:bodyPr wrap="square" anchor="t" lIns="0" tIns="0" rIns="0" bIns="0">
            <a:noAutofit/>
          </a:bodyPr>
          <a:lstStyle/>
          <a:p>
            <a:pPr algn="l"/>
            <a:r>
              <a:rPr sz="1100" b="1" i="0" spc="140">
                <a:solidFill>
                  <a:srgbClr val="27598B"/>
                </a:solidFill>
                <a:latin typeface="Arial" panose="020B0604020202020204" pitchFamily="34" charset="0"/>
              </a:rPr>
              <a:t>EVIDENCE</a:t>
            </a:r>
          </a:p>
          <a:p>
            <a:pPr algn="l">
              <a:spcBef>
                <a:spcPts val="800"/>
              </a:spcBef>
            </a:pPr>
            <a:r>
              <a:rPr sz="2400" b="1" i="0">
                <a:solidFill>
                  <a:srgbClr val="27598B"/>
                </a:solidFill>
                <a:latin typeface="Arial Narrow" panose="020B0606020202030204" pitchFamily="34" charset="0"/>
              </a:rPr>
              <a:t>4/4</a:t>
            </a:r>
          </a:p>
          <a:p>
            <a:pPr algn="l"/>
            <a:r>
              <a:rPr sz="1150" b="0" i="0">
                <a:solidFill>
                  <a:srgbClr val="0C1A28"/>
                </a:solidFill>
                <a:latin typeface="Arial" panose="020B0604020202020204" pitchFamily="34" charset="0"/>
              </a:rPr>
              <a:t>live causal engine, held-out misses called correctly (4 of 41)</a:t>
            </a:r>
          </a:p>
          <a:p>
            <a:pPr algn="l">
              <a:spcBef>
                <a:spcPts val="800"/>
              </a:spcBef>
            </a:pPr>
            <a:r>
              <a:rPr sz="2400" b="1" i="0">
                <a:solidFill>
                  <a:srgbClr val="27598B"/>
                </a:solidFill>
                <a:latin typeface="Arial Narrow" panose="020B0606020202030204" pitchFamily="34" charset="0"/>
              </a:rPr>
              <a:t>+$4</a:t>
            </a:r>
          </a:p>
          <a:p>
            <a:pPr algn="l"/>
            <a:r>
              <a:rPr sz="1150" b="0" i="0">
                <a:solidFill>
                  <a:srgbClr val="0C1A28"/>
                </a:solidFill>
                <a:latin typeface="Arial" panose="020B0604020202020204" pitchFamily="34" charset="0"/>
              </a:rPr>
              <a:t>pre-registered 1 s cell, held out, engine call table</a:t>
            </a:r>
          </a:p>
          <a:p>
            <a:pPr algn="l">
              <a:spcBef>
                <a:spcPts val="800"/>
              </a:spcBef>
            </a:pPr>
            <a:r>
              <a:rPr sz="2400" b="1" i="0">
                <a:solidFill>
                  <a:srgbClr val="27598B"/>
                </a:solidFill>
                <a:latin typeface="Arial Narrow" panose="020B0606020202030204" pitchFamily="34" charset="0"/>
              </a:rPr>
              <a:t>30</a:t>
            </a:r>
          </a:p>
          <a:p>
            <a:pPr algn="l"/>
            <a:r>
              <a:rPr sz="1150" b="0" i="0">
                <a:solidFill>
                  <a:srgbClr val="0C1A28"/>
                </a:solidFill>
                <a:latin typeface="Arial" panose="020B0604020202020204" pitchFamily="34" charset="0"/>
              </a:rPr>
              <a:t>phantom MISS calls per hour, ungated</a:t>
            </a:r>
          </a:p>
          <a:p>
            <a:pPr algn="l">
              <a:spcBef>
                <a:spcPts val="1000"/>
              </a:spcBef>
            </a:pPr>
            <a:r>
              <a:rPr sz="950" b="0" i="0">
                <a:solidFill>
                  <a:srgbClr val="566676"/>
                </a:solidFill>
                <a:latin typeface="Courier New"/>
              </a:rPr>
              <a:t>Sources: results/engine/online_vs_offline.json; results/redteam/causal_cv.json; results/tier0/latency_sweep.json; results/redteam/derived.json</a:t>
            </a:r>
          </a:p>
        </p:txBody>
      </p:sp>
      <p:sp>
        <p:nvSpPr>
          <p:cNvPr id="9"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0"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20</a:t>
            </a:fld>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000" b="1" i="0">
                <a:solidFill>
                  <a:srgbClr val="0C1A28"/>
                </a:solidFill>
                <a:latin typeface="Arial Narrow" panose="020B0606020202030204" pitchFamily="34" charset="0"/>
              </a:rPr>
              <a:t>Isn't the CV trade set chosen on outcomes?</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Q&amp;A BACKUP  ·  Q11 OF 14  ·  docs/QA_PREP.md Q4</a:t>
            </a:r>
          </a:p>
        </p:txBody>
      </p:sp>
      <p:sp>
        <p:nvSpPr>
          <p:cNvPr id="5" name="Question"/>
          <p:cNvSpPr txBox="1"/>
          <p:nvPr/>
        </p:nvSpPr>
        <p:spPr>
          <a:xfrm>
            <a:off x="548640" y="1536192"/>
            <a:ext cx="6949440" cy="685800"/>
          </a:xfrm>
          <a:prstGeom prst="rect">
            <a:avLst/>
          </a:prstGeom>
          <a:noFill/>
        </p:spPr>
        <p:txBody>
          <a:bodyPr wrap="square" anchor="t" lIns="0" tIns="0" rIns="0" bIns="0">
            <a:noAutofit/>
          </a:bodyPr>
          <a:lstStyle/>
          <a:p>
            <a:pPr algn="l"/>
            <a:r>
              <a:rPr sz="1300" b="0" i="1">
                <a:solidFill>
                  <a:srgbClr val="566676"/>
                </a:solidFill>
                <a:latin typeface="Arial" panose="020B0604020202020204" pitchFamily="34" charset="0"/>
              </a:rPr>
              <a:t>“Your simulated CV trader only trades points the market later moved by 4¢ or more. How would a live trader know which points those are? Isn't that lookahead?”</a:t>
            </a:r>
          </a:p>
        </p:txBody>
      </p:sp>
      <p:sp>
        <p:nvSpPr>
          <p:cNvPr id="6" name="Answer"/>
          <p:cNvSpPr txBox="1"/>
          <p:nvPr/>
        </p:nvSpPr>
        <p:spPr>
          <a:xfrm>
            <a:off x="548640" y="2286000"/>
            <a:ext cx="6949440" cy="3977639"/>
          </a:xfrm>
          <a:prstGeom prst="rect">
            <a:avLst/>
          </a:prstGeom>
          <a:noFill/>
        </p:spPr>
        <p:txBody>
          <a:bodyPr wrap="square" anchor="t" lIns="0" tIns="0" rIns="0" bIns="0">
            <a:noAutofit/>
          </a:bodyPr>
          <a:lstStyle/>
          <a:p>
            <a:pPr algn="l"/>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Yes, and we label it: </a:t>
            </a:r>
            <a:r>
              <a:rPr sz="1400" b="0" i="0">
                <a:solidFill>
                  <a:srgbClr val="0C1A28"/>
                </a:solidFill>
                <a:latin typeface="Arial" panose="020B0604020202020204" pitchFamily="34" charset="0"/>
              </a:rPr>
              <a:t>the sweep trades only points the market later repriced by ≥ 4¢, so it prices speed given a point worth trading. It is not yet a deployable rule, and every number from it is an upper bound.</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Our ex-ante test is the replay: </a:t>
            </a:r>
            <a:r>
              <a:rPr sz="1400" b="0" i="0">
                <a:solidFill>
                  <a:srgbClr val="0C1A28"/>
                </a:solidFill>
                <a:latin typeface="Arial" panose="020B0604020202020204" pitchFamily="34" charset="0"/>
              </a:rPr>
              <a:t>on nine books recorded live, calling every point, 36 of 36 delay × lag cells lose; −0.94¢ a share [−1.28, −0.58] at V = 1 s.</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Widening the pool to all 482 live points </a:t>
            </a:r>
            <a:r>
              <a:rPr sz="1400" b="0" i="0">
                <a:solidFill>
                  <a:srgbClr val="0C1A28"/>
                </a:solidFill>
                <a:latin typeface="Arial" panose="020B0604020202020204" pitchFamily="34" charset="0"/>
              </a:rPr>
              <a:t>roughly halves the edge: +0.25¢ [−0.35, 0.86] held out, even with our own camera (V = 0).</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Next: an ex-ante filter from the Markov point leverage, its threshold fixed at the detector's 4¢, run once on the replay with a logged look.</a:t>
            </a:r>
          </a:p>
        </p:txBody>
      </p:sp>
      <p:sp>
        <p:nvSpPr>
          <p:cNvPr id="7" name="Evidence card"/>
          <p:cNvSpPr/>
          <p:nvPr/>
        </p:nvSpPr>
        <p:spPr>
          <a:xfrm>
            <a:off x="7863840" y="1536192"/>
            <a:ext cx="3779215" cy="4754880"/>
          </a:xfrm>
          <a:prstGeom prst="roundRect">
            <a:avLst>
              <a:gd name="adj" fmla="val 193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p:cNvSpPr txBox="1"/>
          <p:nvPr/>
        </p:nvSpPr>
        <p:spPr>
          <a:xfrm>
            <a:off x="8065008" y="1627632"/>
            <a:ext cx="3376879" cy="4572000"/>
          </a:xfrm>
          <a:prstGeom prst="rect">
            <a:avLst/>
          </a:prstGeom>
          <a:noFill/>
        </p:spPr>
        <p:txBody>
          <a:bodyPr wrap="square" anchor="t" lIns="0" tIns="0" rIns="0" bIns="0">
            <a:noAutofit/>
          </a:bodyPr>
          <a:lstStyle/>
          <a:p>
            <a:pPr algn="l"/>
            <a:r>
              <a:rPr sz="1100" b="1" i="0" spc="140">
                <a:solidFill>
                  <a:srgbClr val="27598B"/>
                </a:solidFill>
                <a:latin typeface="Arial" panose="020B0604020202020204" pitchFamily="34" charset="0"/>
              </a:rPr>
              <a:t>EVIDENCE</a:t>
            </a:r>
          </a:p>
          <a:p>
            <a:pPr algn="l">
              <a:spcBef>
                <a:spcPts val="800"/>
              </a:spcBef>
            </a:pPr>
            <a:r>
              <a:rPr sz="2400" b="1" i="0">
                <a:solidFill>
                  <a:srgbClr val="27598B"/>
                </a:solidFill>
                <a:latin typeface="Arial Narrow" panose="020B0606020202030204" pitchFamily="34" charset="0"/>
              </a:rPr>
              <a:t>36 of 36</a:t>
            </a:r>
          </a:p>
          <a:p>
            <a:pPr algn="l"/>
            <a:r>
              <a:rPr sz="1150" b="0" i="0">
                <a:solidFill>
                  <a:srgbClr val="0C1A28"/>
                </a:solidFill>
                <a:latin typeface="Arial" panose="020B0604020202020204" pitchFamily="34" charset="0"/>
              </a:rPr>
              <a:t>replay cells that lose (every point called ex ante)</a:t>
            </a:r>
          </a:p>
          <a:p>
            <a:pPr algn="l">
              <a:spcBef>
                <a:spcPts val="800"/>
              </a:spcBef>
            </a:pPr>
            <a:r>
              <a:rPr sz="2400" b="1" i="0">
                <a:solidFill>
                  <a:srgbClr val="D1432F"/>
                </a:solidFill>
                <a:latin typeface="Arial Narrow" panose="020B0606020202030204" pitchFamily="34" charset="0"/>
              </a:rPr>
              <a:t>−0.94¢</a:t>
            </a:r>
          </a:p>
          <a:p>
            <a:pPr algn="l"/>
            <a:r>
              <a:rPr sz="1150" b="0" i="0">
                <a:solidFill>
                  <a:srgbClr val="0C1A28"/>
                </a:solidFill>
                <a:latin typeface="Arial" panose="020B0604020202020204" pitchFamily="34" charset="0"/>
              </a:rPr>
              <a:t>replay at V = 1 s [−1.28, −0.58]</a:t>
            </a:r>
          </a:p>
          <a:p>
            <a:pPr algn="l">
              <a:spcBef>
                <a:spcPts val="800"/>
              </a:spcBef>
            </a:pPr>
            <a:r>
              <a:rPr sz="2400" b="1" i="0">
                <a:solidFill>
                  <a:srgbClr val="27598B"/>
                </a:solidFill>
                <a:latin typeface="Arial Narrow" panose="020B0606020202030204" pitchFamily="34" charset="0"/>
              </a:rPr>
              <a:t>+0.25¢</a:t>
            </a:r>
          </a:p>
          <a:p>
            <a:pPr algn="l"/>
            <a:r>
              <a:rPr sz="1150" b="0" i="0">
                <a:solidFill>
                  <a:srgbClr val="0C1A28"/>
                </a:solidFill>
                <a:latin typeface="Arial" panose="020B0604020202020204" pitchFamily="34" charset="0"/>
              </a:rPr>
              <a:t>all-482-point pool, held out, V = 0</a:t>
            </a:r>
          </a:p>
          <a:p>
            <a:pPr algn="l">
              <a:spcBef>
                <a:spcPts val="1000"/>
              </a:spcBef>
            </a:pPr>
            <a:r>
              <a:rPr sz="950" b="0" i="0">
                <a:solidFill>
                  <a:srgbClr val="566676"/>
                </a:solidFill>
                <a:latin typeface="Courier New"/>
              </a:rPr>
              <a:t>Sources: results/replay/replay.json; results/redteam/derived.json; research/v2/tier0/RESULTS.md §8</a:t>
            </a:r>
          </a:p>
        </p:txBody>
      </p:sp>
      <p:sp>
        <p:nvSpPr>
          <p:cNvPr id="9"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0"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21</a:t>
            </a:fld>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000" b="1" i="0">
                <a:solidFill>
                  <a:srgbClr val="0C1A28"/>
                </a:solidFill>
                <a:latin typeface="Arial Narrow" panose="020B0606020202030204" pitchFamily="34" charset="0"/>
              </a:rPr>
              <a:t>Why headline a post hoc lag? The same inference loses</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Q&amp;A BACKUP  ·  Q12 OF 14  ·  docs/QA_PREP.md Q5, Q6</a:t>
            </a:r>
          </a:p>
        </p:txBody>
      </p:sp>
      <p:sp>
        <p:nvSpPr>
          <p:cNvPr id="5" name="Question"/>
          <p:cNvSpPr txBox="1"/>
          <p:nvPr/>
        </p:nvSpPr>
        <p:spPr>
          <a:xfrm>
            <a:off x="548640" y="1536192"/>
            <a:ext cx="6949440" cy="685800"/>
          </a:xfrm>
          <a:prstGeom prst="rect">
            <a:avLst/>
          </a:prstGeom>
          <a:noFill/>
        </p:spPr>
        <p:txBody>
          <a:bodyPr wrap="square" anchor="t" lIns="0" tIns="0" rIns="0" bIns="0">
            <a:noAutofit/>
          </a:bodyPr>
          <a:lstStyle/>
          <a:p>
            <a:pPr algn="l"/>
            <a:r>
              <a:rPr sz="1300" b="0" i="1">
                <a:solidFill>
                  <a:srgbClr val="566676"/>
                </a:solidFill>
                <a:latin typeface="Arial" panose="020B0604020202020204" pitchFamily="34" charset="0"/>
              </a:rPr>
              <a:t>“The 3.14 s stamp lag was inferred after the pre-registered 2.0 s gave a held-out Sharpe of 0.3, and read point by point the same inference loses. Isn't that tuning on the out-of-sample period?”</a:t>
            </a:r>
          </a:p>
        </p:txBody>
      </p:sp>
      <p:sp>
        <p:nvSpPr>
          <p:cNvPr id="6" name="Answer"/>
          <p:cNvSpPr txBox="1"/>
          <p:nvPr/>
        </p:nvSpPr>
        <p:spPr>
          <a:xfrm>
            <a:off x="548640" y="2286000"/>
            <a:ext cx="6949440" cy="3977639"/>
          </a:xfrm>
          <a:prstGeom prst="rect">
            <a:avLst/>
          </a:prstGeom>
          <a:noFill/>
        </p:spPr>
        <p:txBody>
          <a:bodyPr wrap="square" anchor="t" lIns="0" tIns="0" rIns="0" bIns="0">
            <a:noAutofit/>
          </a:bodyPr>
          <a:lstStyle/>
          <a:p>
            <a:pPr algn="l"/>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We lead with the pre-registered reading: </a:t>
            </a:r>
            <a:r>
              <a:rPr sz="1400" b="0" i="0">
                <a:solidFill>
                  <a:srgbClr val="0C1A28"/>
                </a:solidFill>
                <a:latin typeface="Arial" panose="020B0604020202020204" pitchFamily="34" charset="0"/>
              </a:rPr>
              <a:t>at 1 s it breaks even, +$4/day held out, −0.38¢ a share.</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The 3.14 s lag is post hoc: </a:t>
            </a:r>
            <a:r>
              <a:rPr sz="1400" b="0" i="0">
                <a:solidFill>
                  <a:srgbClr val="0C1A28"/>
                </a:solidFill>
                <a:latin typeface="Arial" panose="020B0604020202020204" pitchFamily="34" charset="0"/>
              </a:rPr>
              <a:t>inferred from fast-tier prints assuming courtside humans; +$57/day held out. Its bootstrap CI is [2.23, 3.22] s, and 33% of resamples fall below 2.5 s.</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Read per point, the same inference loses </a:t>
            </a:r>
            <a:r>
              <a:rPr sz="1400" b="0" i="0">
                <a:solidFill>
                  <a:srgbClr val="0C1A28"/>
                </a:solidFill>
                <a:latin typeface="Arial" panose="020B0604020202020204" pitchFamily="34" charset="0"/>
              </a:rPr>
              <a:t>−$17/day: every reprice lands at most 1.78 s after the bounce, before a 1 s order can arrive (1.83 s).</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Both readings use the per-tournament timing adopted after the first P&amp;L run (DEVIATIONS V3); the headline lag and the 1 s baseline were chosen after looking, and we count them as post hoc trials.</a:t>
            </a:r>
          </a:p>
        </p:txBody>
      </p:sp>
      <p:sp>
        <p:nvSpPr>
          <p:cNvPr id="7" name="Evidence card"/>
          <p:cNvSpPr/>
          <p:nvPr/>
        </p:nvSpPr>
        <p:spPr>
          <a:xfrm>
            <a:off x="7863840" y="1536192"/>
            <a:ext cx="3779215" cy="4754880"/>
          </a:xfrm>
          <a:prstGeom prst="roundRect">
            <a:avLst>
              <a:gd name="adj" fmla="val 193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p:cNvSpPr txBox="1"/>
          <p:nvPr/>
        </p:nvSpPr>
        <p:spPr>
          <a:xfrm>
            <a:off x="8065008" y="1627632"/>
            <a:ext cx="3376879" cy="4572000"/>
          </a:xfrm>
          <a:prstGeom prst="rect">
            <a:avLst/>
          </a:prstGeom>
          <a:noFill/>
        </p:spPr>
        <p:txBody>
          <a:bodyPr wrap="square" anchor="t" lIns="0" tIns="0" rIns="0" bIns="0">
            <a:noAutofit/>
          </a:bodyPr>
          <a:lstStyle/>
          <a:p>
            <a:pPr algn="l"/>
            <a:r>
              <a:rPr sz="1100" b="1" i="0" spc="140">
                <a:solidFill>
                  <a:srgbClr val="27598B"/>
                </a:solidFill>
                <a:latin typeface="Arial" panose="020B0604020202020204" pitchFamily="34" charset="0"/>
              </a:rPr>
              <a:t>EVIDENCE</a:t>
            </a:r>
          </a:p>
          <a:p>
            <a:pPr algn="l">
              <a:spcBef>
                <a:spcPts val="800"/>
              </a:spcBef>
            </a:pPr>
            <a:r>
              <a:rPr sz="2400" b="1" i="0">
                <a:solidFill>
                  <a:srgbClr val="27598B"/>
                </a:solidFill>
                <a:latin typeface="Arial Narrow" panose="020B0606020202030204" pitchFamily="34" charset="0"/>
              </a:rPr>
              <a:t>+$4</a:t>
            </a:r>
          </a:p>
          <a:p>
            <a:pPr algn="l"/>
            <a:r>
              <a:rPr sz="1150" b="0" i="0">
                <a:solidFill>
                  <a:srgbClr val="0C1A28"/>
                </a:solidFill>
                <a:latin typeface="Arial" panose="020B0604020202020204" pitchFamily="34" charset="0"/>
              </a:rPr>
              <a:t>pre-registered, held out, $/day</a:t>
            </a:r>
          </a:p>
          <a:p>
            <a:pPr algn="l">
              <a:spcBef>
                <a:spcPts val="800"/>
              </a:spcBef>
            </a:pPr>
            <a:r>
              <a:rPr sz="2400" b="1" i="0">
                <a:solidFill>
                  <a:srgbClr val="27598B"/>
                </a:solidFill>
                <a:latin typeface="Arial Narrow" panose="020B0606020202030204" pitchFamily="34" charset="0"/>
              </a:rPr>
              <a:t>+$57</a:t>
            </a:r>
          </a:p>
          <a:p>
            <a:pPr algn="l"/>
            <a:r>
              <a:rPr sz="1150" b="0" i="0">
                <a:solidFill>
                  <a:srgbClr val="0C1A28"/>
                </a:solidFill>
                <a:latin typeface="Arial" panose="020B0604020202020204" pitchFamily="34" charset="0"/>
              </a:rPr>
              <a:t>post hoc lag, held out, $/day</a:t>
            </a:r>
          </a:p>
          <a:p>
            <a:pPr algn="l">
              <a:spcBef>
                <a:spcPts val="800"/>
              </a:spcBef>
            </a:pPr>
            <a:r>
              <a:rPr sz="2400" b="1" i="0">
                <a:solidFill>
                  <a:srgbClr val="D1432F"/>
                </a:solidFill>
                <a:latin typeface="Arial Narrow" panose="020B0606020202030204" pitchFamily="34" charset="0"/>
              </a:rPr>
              <a:t>−$17</a:t>
            </a:r>
          </a:p>
          <a:p>
            <a:pPr algn="l"/>
            <a:r>
              <a:rPr sz="1150" b="0" i="0">
                <a:solidFill>
                  <a:srgbClr val="0C1A28"/>
                </a:solidFill>
                <a:latin typeface="Arial" panose="020B0604020202020204" pitchFamily="34" charset="0"/>
              </a:rPr>
              <a:t>same inference per point, held out, $/day</a:t>
            </a:r>
          </a:p>
          <a:p>
            <a:pPr algn="l">
              <a:spcBef>
                <a:spcPts val="1000"/>
              </a:spcBef>
            </a:pPr>
            <a:r>
              <a:rPr sz="950" b="0" i="0">
                <a:solidFill>
                  <a:srgbClr val="566676"/>
                </a:solidFill>
                <a:latin typeface="Courier New"/>
              </a:rPr>
              <a:t>Sources: results/tier0/latency_sweep.json; results/redteam/derived.json; results/redteam/stamp_lag.json; DEVIATIONS.md V3</a:t>
            </a:r>
          </a:p>
        </p:txBody>
      </p:sp>
      <p:sp>
        <p:nvSpPr>
          <p:cNvPr id="9"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0"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22</a:t>
            </a:fld>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000" b="1" i="0">
                <a:solidFill>
                  <a:srgbClr val="0C1A28"/>
                </a:solidFill>
                <a:latin typeface="Arial Narrow" panose="020B0606020202030204" pitchFamily="34" charset="0"/>
              </a:rPr>
              <a:t>Prove you can trade inside 3 s</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Q&amp;A BACKUP  ·  Q13 OF 14  ·  organizer question 1 · docs/QA_PREP.md Q1</a:t>
            </a:r>
          </a:p>
        </p:txBody>
      </p:sp>
      <p:sp>
        <p:nvSpPr>
          <p:cNvPr id="5" name="Question"/>
          <p:cNvSpPr txBox="1"/>
          <p:nvPr/>
        </p:nvSpPr>
        <p:spPr>
          <a:xfrm>
            <a:off x="548640" y="1536192"/>
            <a:ext cx="6949440" cy="685800"/>
          </a:xfrm>
          <a:prstGeom prst="rect">
            <a:avLst/>
          </a:prstGeom>
          <a:noFill/>
        </p:spPr>
        <p:txBody>
          <a:bodyPr wrap="square" anchor="t" lIns="0" tIns="0" rIns="0" bIns="0">
            <a:noAutofit/>
          </a:bodyPr>
          <a:lstStyle/>
          <a:p>
            <a:pPr algn="l"/>
            <a:r>
              <a:rPr sz="1300" b="0" i="1">
                <a:solidFill>
                  <a:srgbClr val="566676"/>
                </a:solidFill>
                <a:latin typeface="Arial" panose="020B0604020202020204" pitchFamily="34" charset="0"/>
              </a:rPr>
              <a:t>“You need sub-3-second data. Prove the pipeline can actually trade that fast, frame to order.”</a:t>
            </a:r>
          </a:p>
        </p:txBody>
      </p:sp>
      <p:sp>
        <p:nvSpPr>
          <p:cNvPr id="6" name="Answer"/>
          <p:cNvSpPr txBox="1"/>
          <p:nvPr/>
        </p:nvSpPr>
        <p:spPr>
          <a:xfrm>
            <a:off x="548640" y="2286000"/>
            <a:ext cx="6949440" cy="3977639"/>
          </a:xfrm>
          <a:prstGeom prst="rect">
            <a:avLst/>
          </a:prstGeom>
          <a:noFill/>
        </p:spPr>
        <p:txBody>
          <a:bodyPr wrap="square" anchor="t" lIns="0" tIns="0" rIns="0" bIns="0">
            <a:noAutofit/>
          </a:bodyPr>
          <a:lstStyle/>
          <a:p>
            <a:pPr algn="l"/>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Measured end to end, in one process: </a:t>
            </a:r>
            <a:r>
              <a:rPr sz="1400" b="0" i="0">
                <a:solidFill>
                  <a:srgbClr val="0C1A28"/>
                </a:solidFill>
                <a:latin typeface="Arial" panose="020B0604020202020204" pitchFamily="34" charset="0"/>
              </a:rPr>
              <a:t>our footage over WebRTC into the vision engine, a call, a paper order on a live tennis book. Video in → order ready: 54 ms on a laptop (24 traces). With a simulated 1 s feed, the network (65 ms) and the venue's 1 s hold: 2,119 ms, under 3,000 ms. Conditions: CV fed at 10 frames/s, every frame (12x slow motion; the laptop cannot run 120 fps in real time); all 24 orders were timing probes: the rule and the risk check declined every call on pre-match books.</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On a GPU the vision call is ready in </a:t>
            </a:r>
            <a:r>
              <a:rPr sz="1400" b="0" i="0">
                <a:solidFill>
                  <a:srgbClr val="0C1A28"/>
                </a:solidFill>
                <a:latin typeface="Arial" panose="020B0604020202020204" pitchFamily="34" charset="0"/>
              </a:rPr>
              <a:t>4.6 ms (p99 12.2 ms) at 120 fps, 0 frames dropped.</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3 s is not the real bar: </a:t>
            </a:r>
            <a:r>
              <a:rPr sz="1400" b="0" i="0">
                <a:solidFill>
                  <a:srgbClr val="0C1A28"/>
                </a:solidFill>
                <a:latin typeface="Arial" panose="020B0604020202020204" pitchFamily="34" charset="0"/>
              </a:rPr>
              <a:t>the call must beat the umpire's stamp by about 0.9 s; from a 3 s feed delay every reading loses.</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Paper only: the order payload is unsigned and never sent; table-tennis calls are mapped onto a tennis market for timing only (different sport).</a:t>
            </a:r>
          </a:p>
        </p:txBody>
      </p:sp>
      <p:sp>
        <p:nvSpPr>
          <p:cNvPr id="7" name="Evidence card"/>
          <p:cNvSpPr/>
          <p:nvPr/>
        </p:nvSpPr>
        <p:spPr>
          <a:xfrm>
            <a:off x="7863840" y="1536192"/>
            <a:ext cx="3779215" cy="4754880"/>
          </a:xfrm>
          <a:prstGeom prst="roundRect">
            <a:avLst>
              <a:gd name="adj" fmla="val 193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p:cNvSpPr txBox="1"/>
          <p:nvPr/>
        </p:nvSpPr>
        <p:spPr>
          <a:xfrm>
            <a:off x="8065008" y="1627632"/>
            <a:ext cx="3376879" cy="4572000"/>
          </a:xfrm>
          <a:prstGeom prst="rect">
            <a:avLst/>
          </a:prstGeom>
          <a:noFill/>
        </p:spPr>
        <p:txBody>
          <a:bodyPr wrap="square" anchor="t" lIns="0" tIns="0" rIns="0" bIns="0">
            <a:noAutofit/>
          </a:bodyPr>
          <a:lstStyle/>
          <a:p>
            <a:pPr algn="l"/>
            <a:r>
              <a:rPr sz="1100" b="1" i="0" spc="140">
                <a:solidFill>
                  <a:srgbClr val="27598B"/>
                </a:solidFill>
                <a:latin typeface="Arial" panose="020B0604020202020204" pitchFamily="34" charset="0"/>
              </a:rPr>
              <a:t>EVIDENCE</a:t>
            </a:r>
          </a:p>
          <a:p>
            <a:pPr algn="l">
              <a:spcBef>
                <a:spcPts val="800"/>
              </a:spcBef>
            </a:pPr>
            <a:r>
              <a:rPr sz="2400" b="1" i="0">
                <a:solidFill>
                  <a:srgbClr val="27598B"/>
                </a:solidFill>
                <a:latin typeface="Arial Narrow" panose="020B0606020202030204" pitchFamily="34" charset="0"/>
              </a:rPr>
              <a:t>2,119 ms</a:t>
            </a:r>
          </a:p>
          <a:p>
            <a:pPr algn="l"/>
            <a:r>
              <a:rPr sz="1150" b="0" i="0">
                <a:solidFill>
                  <a:srgbClr val="0C1A28"/>
                </a:solidFill>
                <a:latin typeface="Arial" panose="020B0604020202020204" pitchFamily="34" charset="0"/>
              </a:rPr>
              <a:t>frame → executable order, p50, incl. simulated 1 s feed and 1 s venue hold (timing probes; CV fed at 10 frames/s)</a:t>
            </a:r>
          </a:p>
          <a:p>
            <a:pPr algn="l">
              <a:spcBef>
                <a:spcPts val="800"/>
              </a:spcBef>
            </a:pPr>
            <a:r>
              <a:rPr sz="2400" b="1" i="0">
                <a:solidFill>
                  <a:srgbClr val="27598B"/>
                </a:solidFill>
                <a:latin typeface="Arial Narrow" panose="020B0606020202030204" pitchFamily="34" charset="0"/>
              </a:rPr>
              <a:t>54 ms</a:t>
            </a:r>
          </a:p>
          <a:p>
            <a:pPr algn="l"/>
            <a:r>
              <a:rPr sz="1150" b="0" i="0">
                <a:solidFill>
                  <a:srgbClr val="0C1A28"/>
                </a:solidFill>
                <a:latin typeface="Arial" panose="020B0604020202020204" pitchFamily="34" charset="0"/>
              </a:rPr>
              <a:t>our part: video in → paper order ready</a:t>
            </a:r>
          </a:p>
          <a:p>
            <a:pPr algn="l">
              <a:spcBef>
                <a:spcPts val="800"/>
              </a:spcBef>
            </a:pPr>
            <a:r>
              <a:rPr sz="2400" b="1" i="0">
                <a:solidFill>
                  <a:srgbClr val="27598B"/>
                </a:solidFill>
                <a:latin typeface="Arial Narrow" panose="020B0606020202030204" pitchFamily="34" charset="0"/>
              </a:rPr>
              <a:t>4.6 ms</a:t>
            </a:r>
          </a:p>
          <a:p>
            <a:pPr algn="l"/>
            <a:r>
              <a:rPr sz="1150" b="0" i="0">
                <a:solidFill>
                  <a:srgbClr val="0C1A28"/>
                </a:solidFill>
                <a:latin typeface="Arial" panose="020B0604020202020204" pitchFamily="34" charset="0"/>
              </a:rPr>
              <a:t>GPU vision call-ready, p50</a:t>
            </a:r>
          </a:p>
          <a:p>
            <a:pPr algn="l">
              <a:spcBef>
                <a:spcPts val="1000"/>
              </a:spcBef>
            </a:pPr>
            <a:r>
              <a:rPr sz="950" b="0" i="0">
                <a:solidFill>
                  <a:srgbClr val="566676"/>
                </a:solidFill>
                <a:latin typeface="Courier New"/>
              </a:rPr>
              <a:t>Sources: results/e2e/summary.json; results/engine/online_vs_offline.json; results/redteam/derived.json</a:t>
            </a:r>
          </a:p>
        </p:txBody>
      </p:sp>
      <p:sp>
        <p:nvSpPr>
          <p:cNvPr id="9"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0"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23</a:t>
            </a:fld>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lIns="0" tIns="0" rIns="0" bIns="0"/>
          <a:lstStyle/>
          <a:p>
            <a:r>
              <a:rPr sz="3000" b="1" i="0">
                <a:solidFill>
                  <a:srgbClr val="0C1A28"/>
                </a:solidFill>
                <a:latin typeface="Arial Narrow" panose="020B0606020202030204" pitchFamily="34" charset="0"/>
              </a:rPr>
              <a:t>How much capital, and what's left after data?</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Q&amp;A BACKUP  ·  Q14 OF 14  ·  organizer question 2 · docs/QA_PREP.md Q2, Q12</a:t>
            </a:r>
          </a:p>
        </p:txBody>
      </p:sp>
      <p:sp>
        <p:nvSpPr>
          <p:cNvPr id="5" name="Question"/>
          <p:cNvSpPr txBox="1"/>
          <p:nvPr/>
        </p:nvSpPr>
        <p:spPr>
          <a:xfrm>
            <a:off x="548640" y="1536192"/>
            <a:ext cx="6949440" cy="685800"/>
          </a:xfrm>
          <a:prstGeom prst="rect">
            <a:avLst/>
          </a:prstGeom>
          <a:noFill/>
        </p:spPr>
        <p:txBody>
          <a:bodyPr wrap="square" anchor="t" lIns="0" tIns="0" rIns="0" bIns="0">
            <a:noAutofit/>
          </a:bodyPr>
          <a:lstStyle/>
          <a:p>
            <a:pPr algn="l"/>
            <a:r>
              <a:rPr sz="1300" b="0" i="1">
                <a:solidFill>
                  <a:srgbClr val="566676"/>
                </a:solidFill>
                <a:latin typeface="Arial" panose="020B0604020202020204" pitchFamily="34" charset="0"/>
              </a:rPr>
              <a:t>“How much capital can this run, and after paying for the data, what do you make?”</a:t>
            </a:r>
          </a:p>
        </p:txBody>
      </p:sp>
      <p:sp>
        <p:nvSpPr>
          <p:cNvPr id="6" name="Answer"/>
          <p:cNvSpPr txBox="1"/>
          <p:nvPr/>
        </p:nvSpPr>
        <p:spPr>
          <a:xfrm>
            <a:off x="548640" y="2286000"/>
            <a:ext cx="6949440" cy="3977639"/>
          </a:xfrm>
          <a:prstGeom prst="rect">
            <a:avLst/>
          </a:prstGeom>
          <a:noFill/>
        </p:spPr>
        <p:txBody>
          <a:bodyPr wrap="square" anchor="t" lIns="0" tIns="0" rIns="0" bIns="0">
            <a:noAutofit/>
          </a:bodyPr>
          <a:lstStyle/>
          <a:p>
            <a:pPr algn="l"/>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Capital: small. </a:t>
            </a:r>
            <a:r>
              <a:rPr sz="1400" b="0" i="0">
                <a:solidFill>
                  <a:srgbClr val="0C1A28"/>
                </a:solidFill>
                <a:latin typeface="Arial" panose="020B0604020202020204" pitchFamily="34" charset="0"/>
              </a:rPr>
              <a:t>v2's held-out edge holds up to about $22.8k–$33.9k of capital (1–2× its frozen size); five times the size loses.</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The CV book at 1 s </a:t>
            </a:r>
            <a:r>
              <a:rPr sz="1400" b="0" i="0">
                <a:solidFill>
                  <a:srgbClr val="0C1A28"/>
                </a:solidFill>
                <a:latin typeface="Arial" panose="020B0604020202020204" pitchFamily="34" charset="0"/>
              </a:rPr>
              <a:t>(post hoc 3.14 s lag, 10 matches a day) runs up to $28.5k–$40.2k held out ($55.3k–$73.3k in sample) before its Sharpe halves; the range is how we share stale depth with the fast tier. Every match: $65.0k–$96.9k. Pre-registered lag: Sharpe 0.8 held out, no capacity.</a:t>
            </a:r>
          </a:p>
          <a:p>
            <a:pPr algn="l">
              <a:spcBef>
                <a:spcPts val="800"/>
              </a:spcBef>
            </a:pPr>
            <a:r>
              <a:rPr sz="1400" b="1" i="0">
                <a:solidFill>
                  <a:srgbClr val="D1432F"/>
                </a:solidFill>
                <a:latin typeface="Arial" panose="020B0604020202020204" pitchFamily="34" charset="0"/>
              </a:rPr>
              <a:t>•  </a:t>
            </a:r>
            <a:r>
              <a:rPr sz="1400" b="1" i="0">
                <a:solidFill>
                  <a:srgbClr val="0C1A28"/>
                </a:solidFill>
                <a:latin typeface="Arial" panose="020B0604020202020204" pitchFamily="34" charset="0"/>
              </a:rPr>
              <a:t>Data: </a:t>
            </a:r>
            <a:r>
              <a:rPr sz="1400" b="0" i="0">
                <a:solidFill>
                  <a:srgbClr val="0C1A28"/>
                </a:solidFill>
                <a:latin typeface="Arial" panose="020B0604020202020204" pitchFamily="34" charset="0"/>
              </a:rPr>
              <a:t>the 1 s book can pay at most $1,644/month (post hoc) or $55 (pre-registered); quotes run $1,250–$10,000/month (ASSUMPTION). Net of the central stack it is −$110/day post hoc.</a:t>
            </a:r>
          </a:p>
          <a:p>
            <a:pPr algn="l">
              <a:spcBef>
                <a:spcPts val="800"/>
              </a:spcBef>
            </a:pPr>
            <a:r>
              <a:rPr sz="1400" b="1" i="0">
                <a:solidFill>
                  <a:srgbClr val="D1432F"/>
                </a:solidFill>
                <a:latin typeface="Arial" panose="020B0604020202020204" pitchFamily="34" charset="0"/>
              </a:rPr>
              <a:t>•  </a:t>
            </a:r>
            <a:r>
              <a:rPr sz="1400" b="0" i="0">
                <a:solidFill>
                  <a:srgbClr val="0C1A28"/>
                </a:solidFill>
                <a:latin typeface="Arial" panose="020B0604020202020204" pitchFamily="34" charset="0"/>
              </a:rPr>
              <a:t>At today's 5% fee COURTSIDE prices speed. It is not yet a business, and the paper says so.</a:t>
            </a:r>
          </a:p>
        </p:txBody>
      </p:sp>
      <p:sp>
        <p:nvSpPr>
          <p:cNvPr id="7" name="Evidence card"/>
          <p:cNvSpPr/>
          <p:nvPr/>
        </p:nvSpPr>
        <p:spPr>
          <a:xfrm>
            <a:off x="7863840" y="1536192"/>
            <a:ext cx="3779215" cy="4754880"/>
          </a:xfrm>
          <a:prstGeom prst="roundRect">
            <a:avLst>
              <a:gd name="adj" fmla="val 1935"/>
            </a:avLst>
          </a:prstGeom>
          <a:solidFill>
            <a:srgbClr val="FFFFFF"/>
          </a:solidFill>
          <a:ln w="9525">
            <a:solidFill>
              <a:srgbClr val="D3DCE5"/>
            </a:solidFill>
          </a:ln>
          <a:effectLst>
            <a:outerShdw blurRad="63500" dist="12700" dir="5400000" algn="t" rotWithShape="0">
              <a:srgbClr val="0C1A28">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Evidence"/>
          <p:cNvSpPr txBox="1"/>
          <p:nvPr/>
        </p:nvSpPr>
        <p:spPr>
          <a:xfrm>
            <a:off x="8065008" y="1627632"/>
            <a:ext cx="3376879" cy="4572000"/>
          </a:xfrm>
          <a:prstGeom prst="rect">
            <a:avLst/>
          </a:prstGeom>
          <a:noFill/>
        </p:spPr>
        <p:txBody>
          <a:bodyPr wrap="square" anchor="t" lIns="0" tIns="0" rIns="0" bIns="0">
            <a:noAutofit/>
          </a:bodyPr>
          <a:lstStyle/>
          <a:p>
            <a:pPr algn="l"/>
            <a:r>
              <a:rPr sz="1100" b="1" i="0" spc="140">
                <a:solidFill>
                  <a:srgbClr val="27598B"/>
                </a:solidFill>
                <a:latin typeface="Arial" panose="020B0604020202020204" pitchFamily="34" charset="0"/>
              </a:rPr>
              <a:t>EVIDENCE</a:t>
            </a:r>
          </a:p>
          <a:p>
            <a:pPr algn="l">
              <a:spcBef>
                <a:spcPts val="800"/>
              </a:spcBef>
            </a:pPr>
            <a:r>
              <a:rPr sz="2400" b="1" i="0">
                <a:solidFill>
                  <a:srgbClr val="27598B"/>
                </a:solidFill>
                <a:latin typeface="Arial Narrow" panose="020B0606020202030204" pitchFamily="34" charset="0"/>
              </a:rPr>
              <a:t>$22.8k–$33.9k</a:t>
            </a:r>
          </a:p>
          <a:p>
            <a:pPr algn="l"/>
            <a:r>
              <a:rPr sz="1150" b="0" i="0">
                <a:solidFill>
                  <a:srgbClr val="0C1A28"/>
                </a:solidFill>
                <a:latin typeface="Arial" panose="020B0604020202020204" pitchFamily="34" charset="0"/>
              </a:rPr>
              <a:t>capital where v2's held-out edge still holds</a:t>
            </a:r>
          </a:p>
          <a:p>
            <a:pPr algn="l">
              <a:spcBef>
                <a:spcPts val="800"/>
              </a:spcBef>
            </a:pPr>
            <a:r>
              <a:rPr sz="2400" b="1" i="0">
                <a:solidFill>
                  <a:srgbClr val="27598B"/>
                </a:solidFill>
                <a:latin typeface="Arial Narrow" panose="020B0606020202030204" pitchFamily="34" charset="0"/>
              </a:rPr>
              <a:t>$28.5k–$40.2k</a:t>
            </a:r>
          </a:p>
          <a:p>
            <a:pPr algn="l"/>
            <a:r>
              <a:rPr sz="1150" b="0" i="0">
                <a:solidFill>
                  <a:srgbClr val="0C1A28"/>
                </a:solidFill>
                <a:latin typeface="Arial" panose="020B0604020202020204" pitchFamily="34" charset="0"/>
              </a:rPr>
              <a:t>capital where the CV book's held-out Sharpe halves (1 s feed, post hoc lag)</a:t>
            </a:r>
          </a:p>
          <a:p>
            <a:pPr algn="l">
              <a:spcBef>
                <a:spcPts val="800"/>
              </a:spcBef>
            </a:pPr>
            <a:r>
              <a:rPr sz="2400" b="1" i="0">
                <a:solidFill>
                  <a:srgbClr val="27598B"/>
                </a:solidFill>
                <a:latin typeface="Arial Narrow" panose="020B0606020202030204" pitchFamily="34" charset="0"/>
              </a:rPr>
              <a:t>$1,644</a:t>
            </a:r>
          </a:p>
          <a:p>
            <a:pPr algn="l"/>
            <a:r>
              <a:rPr sz="1150" b="0" i="0">
                <a:solidFill>
                  <a:srgbClr val="0C1A28"/>
                </a:solidFill>
                <a:latin typeface="Arial" panose="020B0604020202020204" pitchFamily="34" charset="0"/>
              </a:rPr>
              <a:t>most the 1 s book can pay for data a month (post hoc)</a:t>
            </a:r>
          </a:p>
          <a:p>
            <a:pPr algn="l">
              <a:spcBef>
                <a:spcPts val="1000"/>
              </a:spcBef>
            </a:pPr>
            <a:r>
              <a:rPr sz="950" b="0" i="0">
                <a:solidFill>
                  <a:srgbClr val="566676"/>
                </a:solidFill>
                <a:latin typeface="Courier New"/>
              </a:rPr>
              <a:t>Sources: results/alpha/alpha.json; results/redteam/derived.json; results/financials/financials.json; results/capacity/capacity.json</a:t>
            </a:r>
          </a:p>
        </p:txBody>
      </p:sp>
      <p:sp>
        <p:nvSpPr>
          <p:cNvPr id="9"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10"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24</a:t>
            </a:fld>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1"/>
          <p:cNvSpPr>
            <a:spLocks noGrp="1"/>
          </p:cNvSpPr>
          <p:nvPr>
            <p:ph type="title"/>
          </p:nvPr>
        </p:nvSpPr>
        <p:spPr/>
        <p:txBody>
          <a:bodyPr lIns="0" tIns="0" rIns="0" bIns="0"/>
          <a:lstStyle/>
          <a:p>
            <a:r>
              <a:rPr sz="2600" b="1" i="0">
                <a:solidFill>
                  <a:srgbClr val="0C1A28"/>
                </a:solidFill>
                <a:latin typeface="Arial Narrow" panose="020B0606020202030204" pitchFamily="34" charset="0"/>
              </a:rPr>
              <a:t>Every number on screen, and where it was read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HIDDEN MANIFEST  ·  PAGE 1 OF 12</a:t>
            </a:r>
          </a:p>
        </p:txBody>
      </p:sp>
      <p:sp>
        <p:nvSpPr>
          <p:cNvPr id="5" name="Manifest"/>
          <p:cNvSpPr txBox="1"/>
          <p:nvPr/>
        </p:nvSpPr>
        <p:spPr>
          <a:xfrm>
            <a:off x="548640" y="1554480"/>
            <a:ext cx="11094415" cy="4846320"/>
          </a:xfrm>
          <a:prstGeom prst="rect">
            <a:avLst/>
          </a:prstGeom>
          <a:noFill/>
        </p:spPr>
        <p:txBody>
          <a:bodyPr wrap="square" anchor="t" lIns="0" tIns="0" rIns="0" bIns="0">
            <a:noAutofit/>
          </a:bodyPr>
          <a:lstStyle/>
          <a:p>
            <a:pPr algn="l"/>
            <a:r>
              <a:rPr sz="700" b="0" i="0">
                <a:solidFill>
                  <a:srgbClr val="0C1A28"/>
                </a:solidFill>
                <a:latin typeface="Courier New"/>
              </a:rPr>
              <a:t>1 Title                    13,084                   results/summary.json :: universe &gt; matches</a:t>
            </a:r>
          </a:p>
          <a:p>
            <a:pPr algn="l"/>
            <a:r>
              <a:rPr sz="700" b="0" i="0">
                <a:solidFill>
                  <a:srgbClr val="0C1A28"/>
                </a:solidFill>
                <a:latin typeface="Courier New"/>
              </a:rPr>
              <a:t>1 Title                    $2.84B                   results/summary.json :: universe &gt; volume_usd</a:t>
            </a:r>
          </a:p>
          <a:p>
            <a:pPr algn="l"/>
            <a:r>
              <a:rPr sz="700" b="0" i="0">
                <a:solidFill>
                  <a:srgbClr val="0C1A28"/>
                </a:solidFill>
                <a:latin typeface="Courier New"/>
              </a:rPr>
              <a:t>1 Title                    $5k                      results/risk/risk_stats.json :: universe_volume_filter &gt; note  [volume threshold quoted in the note field]</a:t>
            </a:r>
          </a:p>
          <a:p>
            <a:pPr algn="l"/>
            <a:r>
              <a:rPr sz="700" b="0" i="0">
                <a:solidFill>
                  <a:srgbClr val="0C1A28"/>
                </a:solidFill>
                <a:latin typeface="Courier New"/>
              </a:rPr>
              <a:t>1 Title                    Oct 2025                 results/v2/note_metrics.json :: holdout &gt; first_start</a:t>
            </a:r>
          </a:p>
          <a:p>
            <a:pPr algn="l"/>
            <a:r>
              <a:rPr sz="700" b="0" i="0">
                <a:solidFill>
                  <a:srgbClr val="0C1A28"/>
                </a:solidFill>
                <a:latin typeface="Courier New"/>
              </a:rPr>
              <a:t>1 Title                    Oct 2026                 results/v2/note_metrics.json :: holdout &gt; last_start</a:t>
            </a:r>
          </a:p>
          <a:p>
            <a:pPr algn="l"/>
            <a:r>
              <a:rPr sz="700" b="0" i="0">
                <a:solidFill>
                  <a:srgbClr val="0C1A28"/>
                </a:solidFill>
                <a:latin typeface="Courier New"/>
              </a:rPr>
              <a:t>1 Title                    Nakashima                results/viz/viz_data.json :: tape &gt; out0</a:t>
            </a:r>
          </a:p>
          <a:p>
            <a:pPr algn="l"/>
            <a:r>
              <a:rPr sz="700" b="0" i="0">
                <a:solidFill>
                  <a:srgbClr val="0C1A28"/>
                </a:solidFill>
                <a:latin typeface="Courier New"/>
              </a:rPr>
              <a:t>1 Title                    Medvedev                 results/viz/viz_data.json :: tape &gt; out1</a:t>
            </a:r>
          </a:p>
          <a:p>
            <a:pPr algn="l"/>
            <a:r>
              <a:rPr sz="700" b="0" i="0">
                <a:solidFill>
                  <a:srgbClr val="0C1A28"/>
                </a:solidFill>
                <a:latin typeface="Courier New"/>
              </a:rPr>
              <a:t>1 Title                    2026-08-18               results/viz/viz_data.json :: tape &gt; date</a:t>
            </a:r>
          </a:p>
          <a:p>
            <a:pPr algn="l"/>
            <a:r>
              <a:rPr sz="700" b="0" i="0">
                <a:solidFill>
                  <a:srgbClr val="0C1A28"/>
                </a:solidFill>
                <a:latin typeface="Courier New"/>
              </a:rPr>
              <a:t>1 Title                    2.6¢                     results/leverage_stats.json :: atp  [total_abs_move_per_match / points_per_match, per $1 share]</a:t>
            </a:r>
          </a:p>
          <a:p>
            <a:pPr algn="l"/>
            <a:r>
              <a:rPr sz="700" b="0" i="0">
                <a:solidFill>
                  <a:srgbClr val="0C1A28"/>
                </a:solidFill>
                <a:latin typeface="Courier New"/>
              </a:rPr>
              <a:t>1 Title                    5.7¢                     results/leverage_stats.json :: atp &gt; mean_abs_leverage  [swing in fair value between winning and losing the point]</a:t>
            </a:r>
          </a:p>
          <a:p>
            <a:pPr algn="l"/>
            <a:r>
              <a:rPr sz="700" b="0" i="0">
                <a:solidFill>
                  <a:srgbClr val="0C1A28"/>
                </a:solidFill>
                <a:latin typeface="Courier New"/>
              </a:rPr>
              <a:t>2 Economics                ±2.4 cm                  results/summary.json :: tracking_tennis_physics &gt; [lead_ms=100] &gt; pred_err_sd_cm</a:t>
            </a:r>
          </a:p>
          <a:p>
            <a:pPr algn="l"/>
            <a:r>
              <a:rPr sz="700" b="0" i="0">
                <a:solidFill>
                  <a:srgbClr val="0C1A28"/>
                </a:solidFill>
                <a:latin typeface="Courier New"/>
              </a:rPr>
              <a:t>2 Economics                158 ms                   results/engine/demo_run.json :: latency_budget &gt; [stage 'vision…'] &gt; ms  [processing only; laptop benchmark]</a:t>
            </a:r>
          </a:p>
          <a:p>
            <a:pPr algn="l"/>
            <a:r>
              <a:rPr sz="700" b="0" i="0">
                <a:solidFill>
                  <a:srgbClr val="0C1A28"/>
                </a:solidFill>
                <a:latin typeface="Courier New"/>
              </a:rPr>
              <a:t>2 Economics                −1.32 s                  results/tier0/results.json :: timing &gt; median_t_reprice_minus_t_stamp_s</a:t>
            </a:r>
          </a:p>
          <a:p>
            <a:pPr algn="l"/>
            <a:r>
              <a:rPr sz="700" b="0" i="0">
                <a:solidFill>
                  <a:srgbClr val="0C1A28"/>
                </a:solidFill>
                <a:latin typeface="Courier New"/>
              </a:rPr>
              <a:t>2 Economics                ≈3.1 s                   results/tier0/results.json :: timing &gt; calibrated_stamp_lag_s (inference)  [post hoc inference; assumes courtside humans]</a:t>
            </a:r>
          </a:p>
          <a:p>
            <a:pPr algn="l"/>
            <a:r>
              <a:rPr sz="700" b="0" i="0">
                <a:solidFill>
                  <a:srgbClr val="0C1A28"/>
                </a:solidFill>
                <a:latin typeface="Courier New"/>
              </a:rPr>
              <a:t>2 Economics                +28.2 s                  results/decay/decay.json :: latency_inputs &gt; espn_behind_book_s</a:t>
            </a:r>
          </a:p>
          <a:p>
            <a:pPr algn="l"/>
            <a:r>
              <a:rPr sz="700" b="0" i="0">
                <a:solidFill>
                  <a:srgbClr val="0C1A28"/>
                </a:solidFill>
                <a:latin typeface="Courier New"/>
              </a:rPr>
              <a:t>2 Economics                93%                      results/summary.json :: h4 &gt; share_book_first</a:t>
            </a:r>
          </a:p>
          <a:p>
            <a:pPr algn="l"/>
            <a:r>
              <a:rPr sz="700" b="0" i="0">
                <a:solidFill>
                  <a:srgbClr val="0C1A28"/>
                </a:solidFill>
                <a:latin typeface="Courier New"/>
              </a:rPr>
              <a:t>2 Economics                75                       results/summary.json :: h4 &gt; n</a:t>
            </a:r>
          </a:p>
          <a:p>
            <a:pPr algn="l"/>
            <a:r>
              <a:rPr sz="700" b="0" i="0">
                <a:solidFill>
                  <a:srgbClr val="0C1A28"/>
                </a:solidFill>
                <a:latin typeface="Courier New"/>
              </a:rPr>
              <a:t>2 Economics                44.5 s                   results/summary.json :: h4 &gt; median_lead_s</a:t>
            </a:r>
          </a:p>
          <a:p>
            <a:pPr algn="l"/>
            <a:r>
              <a:rPr sz="700" b="0" i="0">
                <a:solidFill>
                  <a:srgbClr val="0C1A28"/>
                </a:solidFill>
                <a:latin typeface="Courier New"/>
              </a:rPr>
              <a:t>2 Economics                +5–30 s                  results/decay/decay.json :: latency_inputs &gt; stream_delay_s_assumed</a:t>
            </a:r>
          </a:p>
          <a:p>
            <a:pPr algn="l"/>
            <a:r>
              <a:rPr sz="700" b="0" i="0">
                <a:solidFill>
                  <a:srgbClr val="0C1A28"/>
                </a:solidFill>
                <a:latin typeface="Courier New"/>
              </a:rPr>
              <a:t>2 Economics                $4.2                     results/leverage_stats.json :: atp &gt; total_abs_move_per_match</a:t>
            </a:r>
          </a:p>
          <a:p>
            <a:pPr algn="l"/>
            <a:r>
              <a:rPr sz="700" b="0" i="0">
                <a:solidFill>
                  <a:srgbClr val="0C1A28"/>
                </a:solidFill>
                <a:latin typeface="Courier New"/>
              </a:rPr>
              <a:t>2 Economics                161                      results/leverage_stats.json :: atp &gt; points_per_match</a:t>
            </a:r>
          </a:p>
          <a:p>
            <a:pPr algn="l"/>
            <a:r>
              <a:rPr sz="700" b="0" i="0">
                <a:solidFill>
                  <a:srgbClr val="0C1A28"/>
                </a:solidFill>
                <a:latin typeface="Courier New"/>
              </a:rPr>
              <a:t>2 Economics                2.6¢                     results/leverage_stats.json :: atp  [total_abs_move_per_match / points_per_match, per $1 share]</a:t>
            </a:r>
          </a:p>
          <a:p>
            <a:pPr algn="l"/>
            <a:r>
              <a:rPr sz="700" b="0" i="0">
                <a:solidFill>
                  <a:srgbClr val="0C1A28"/>
                </a:solidFill>
                <a:latin typeface="Courier New"/>
              </a:rPr>
              <a:t>2 Economics                5.7¢                     results/leverage_stats.json :: atp &gt; mean_abs_leverage  [swing in fair value between winning and losing the point]</a:t>
            </a:r>
          </a:p>
          <a:p>
            <a:pPr algn="l"/>
            <a:r>
              <a:rPr sz="700" b="0" i="0">
                <a:solidFill>
                  <a:srgbClr val="0C1A28"/>
                </a:solidFill>
                <a:latin typeface="Courier New"/>
              </a:rPr>
              <a:t>2 Economics                1s/5%                    results/risk/risk_stats.json :: regime &gt; burned_oos  [regime key: order delay / taker fee rate]</a:t>
            </a:r>
          </a:p>
          <a:p>
            <a:pPr algn="l"/>
            <a:r>
              <a:rPr sz="700" b="0" i="0">
                <a:solidFill>
                  <a:srgbClr val="0C1A28"/>
                </a:solidFill>
                <a:latin typeface="Courier New"/>
              </a:rPr>
              <a:t>3 Evidence                 11/11                    results/summary.json :: is &gt; h6_walkforward (months before universe &gt; oos_start) + oos &gt; h6_walkforward  [months with fast-ti…</a:t>
            </a:r>
          </a:p>
          <a:p>
            <a:pPr algn="l"/>
            <a:r>
              <a:rPr sz="700" b="0" i="0">
                <a:solidFill>
                  <a:srgbClr val="0C1A28"/>
                </a:solidFill>
                <a:latin typeface="Courier New"/>
              </a:rPr>
              <a:t>3 Evidence                 3/3                      results/summary.json :: oos &gt; h6_walkforward  [months with net30_c &gt; 0]</a:t>
            </a:r>
          </a:p>
          <a:p>
            <a:pPr algn="l"/>
            <a:r>
              <a:rPr sz="700" b="0" i="0">
                <a:solidFill>
                  <a:srgbClr val="0C1A28"/>
                </a:solidFill>
                <a:latin typeface="Courier New"/>
              </a:rPr>
              <a:t>3 Evidence                 11/11                    results/summary.json :: is &gt; h6_walkforward (months before universe &gt; oos_start) + oos &gt; h6_walkforward  [months with follow_…</a:t>
            </a:r>
          </a:p>
          <a:p>
            <a:pPr algn="l"/>
            <a:r>
              <a:rPr sz="700" b="0" i="0">
                <a:solidFill>
                  <a:srgbClr val="0C1A28"/>
                </a:solidFill>
                <a:latin typeface="Courier New"/>
              </a:rPr>
              <a:t>3 Evidence                 11/11                    results/summary.json :: is &gt; h6_walkforward (months before universe &gt; oos_start) + oos &gt; h6_walkforward  [months with others_…</a:t>
            </a:r>
          </a:p>
          <a:p>
            <a:pPr algn="l"/>
            <a:r>
              <a:rPr sz="700" b="0" i="0">
                <a:solidFill>
                  <a:srgbClr val="0C1A28"/>
                </a:solidFill>
                <a:latin typeface="Courier New"/>
              </a:rPr>
              <a:t>3 Evidence                 +1.97¢                   results/summary.json :: is &gt; h6_walkforward &gt; [month=2025-12] &gt; net30_c</a:t>
            </a:r>
          </a:p>
          <a:p>
            <a:pPr algn="l"/>
            <a:r>
              <a:rPr sz="700" b="0" i="0">
                <a:solidFill>
                  <a:srgbClr val="0C1A28"/>
                </a:solidFill>
                <a:latin typeface="Courier New"/>
              </a:rPr>
              <a:t>3 Evidence                 −0.48¢                   results/summary.json :: is &gt; h6_walkforward &gt; [month=2025-12] &gt; others_net30_c</a:t>
            </a:r>
          </a:p>
          <a:p>
            <a:pPr algn="l"/>
            <a:r>
              <a:rPr sz="700" b="0" i="0">
                <a:solidFill>
                  <a:srgbClr val="0C1A28"/>
                </a:solidFill>
                <a:latin typeface="Courier New"/>
              </a:rPr>
              <a:t>3 Evidence                 −0.37¢                   results/summary.json :: is &gt; h6_walkforward &gt; [month=2025-12] &gt; follow_res_c</a:t>
            </a:r>
          </a:p>
          <a:p>
            <a:pPr algn="l"/>
            <a:r>
              <a:rPr sz="700" b="0" i="0">
                <a:solidFill>
                  <a:srgbClr val="0C1A28"/>
                </a:solidFill>
                <a:latin typeface="Courier New"/>
              </a:rPr>
              <a:t>3 Evidence                 +2.41¢                   results/summary.json :: is &gt; h6_walkforward &gt; [month=2026-01] &gt; net30_c</a:t>
            </a:r>
          </a:p>
          <a:p>
            <a:pPr algn="l"/>
            <a:r>
              <a:rPr sz="700" b="0" i="0">
                <a:solidFill>
                  <a:srgbClr val="0C1A28"/>
                </a:solidFill>
                <a:latin typeface="Courier New"/>
              </a:rPr>
              <a:t>3 Evidence                 −0.56¢                   results/summary.json :: is &gt; h6_walkforward &gt; [month=2026-01] &gt; others_net30_c</a:t>
            </a:r>
          </a:p>
          <a:p>
            <a:pPr algn="l"/>
            <a:r>
              <a:rPr sz="700" b="0" i="0">
                <a:solidFill>
                  <a:srgbClr val="0C1A28"/>
                </a:solidFill>
                <a:latin typeface="Courier New"/>
              </a:rPr>
              <a:t>3 Evidence                 −2.10¢                   results/summary.json :: is &gt; h6_walkforward &gt; [month=2026-01] &gt; follow_res_c</a:t>
            </a:r>
          </a:p>
        </p:txBody>
      </p:sp>
      <p:sp>
        <p:nvSpPr>
          <p:cNvPr id="6"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7"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25</a:t>
            </a:fld>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1"/>
          <p:cNvSpPr>
            <a:spLocks noGrp="1"/>
          </p:cNvSpPr>
          <p:nvPr>
            <p:ph type="title"/>
          </p:nvPr>
        </p:nvSpPr>
        <p:spPr/>
        <p:txBody>
          <a:bodyPr lIns="0" tIns="0" rIns="0" bIns="0"/>
          <a:lstStyle/>
          <a:p>
            <a:r>
              <a:rPr sz="2600" b="1" i="0">
                <a:solidFill>
                  <a:srgbClr val="0C1A28"/>
                </a:solidFill>
                <a:latin typeface="Arial Narrow" panose="020B0606020202030204" pitchFamily="34" charset="0"/>
              </a:rPr>
              <a:t>Every number on screen, and where it was read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HIDDEN MANIFEST  ·  PAGE 2 OF 12</a:t>
            </a:r>
          </a:p>
        </p:txBody>
      </p:sp>
      <p:sp>
        <p:nvSpPr>
          <p:cNvPr id="5" name="Manifest"/>
          <p:cNvSpPr txBox="1"/>
          <p:nvPr/>
        </p:nvSpPr>
        <p:spPr>
          <a:xfrm>
            <a:off x="548640" y="1554480"/>
            <a:ext cx="11094415" cy="4846320"/>
          </a:xfrm>
          <a:prstGeom prst="rect">
            <a:avLst/>
          </a:prstGeom>
          <a:noFill/>
        </p:spPr>
        <p:txBody>
          <a:bodyPr wrap="square" anchor="t" lIns="0" tIns="0" rIns="0" bIns="0">
            <a:noAutofit/>
          </a:bodyPr>
          <a:lstStyle/>
          <a:p>
            <a:pPr algn="l"/>
            <a:r>
              <a:rPr sz="700" b="0" i="0">
                <a:solidFill>
                  <a:srgbClr val="0C1A28"/>
                </a:solidFill>
                <a:latin typeface="Courier New"/>
              </a:rPr>
              <a:t>3 Evidence                 +1.21¢                   results/summary.json :: is &gt; h6_walkforward &gt; [month=2026-02] &gt; net30_c</a:t>
            </a:r>
          </a:p>
          <a:p>
            <a:pPr algn="l"/>
            <a:r>
              <a:rPr sz="700" b="0" i="0">
                <a:solidFill>
                  <a:srgbClr val="0C1A28"/>
                </a:solidFill>
                <a:latin typeface="Courier New"/>
              </a:rPr>
              <a:t>3 Evidence                 −0.63¢                   results/summary.json :: is &gt; h6_walkforward &gt; [month=2026-02] &gt; others_net30_c</a:t>
            </a:r>
          </a:p>
          <a:p>
            <a:pPr algn="l"/>
            <a:r>
              <a:rPr sz="700" b="0" i="0">
                <a:solidFill>
                  <a:srgbClr val="0C1A28"/>
                </a:solidFill>
                <a:latin typeface="Courier New"/>
              </a:rPr>
              <a:t>3 Evidence                 −0.06¢                   results/summary.json :: is &gt; h6_walkforward &gt; [month=2026-02] &gt; follow_res_c</a:t>
            </a:r>
          </a:p>
          <a:p>
            <a:pPr algn="l"/>
            <a:r>
              <a:rPr sz="700" b="0" i="0">
                <a:solidFill>
                  <a:srgbClr val="0C1A28"/>
                </a:solidFill>
                <a:latin typeface="Courier New"/>
              </a:rPr>
              <a:t>3 Evidence                 +2.02¢                   results/summary.json :: is &gt; h6_walkforward &gt; [month=2026-03] &gt; net30_c</a:t>
            </a:r>
          </a:p>
          <a:p>
            <a:pPr algn="l"/>
            <a:r>
              <a:rPr sz="700" b="0" i="0">
                <a:solidFill>
                  <a:srgbClr val="0C1A28"/>
                </a:solidFill>
                <a:latin typeface="Courier New"/>
              </a:rPr>
              <a:t>3 Evidence                 −0.49¢                   results/summary.json :: is &gt; h6_walkforward &gt; [month=2026-03] &gt; others_net30_c</a:t>
            </a:r>
          </a:p>
          <a:p>
            <a:pPr algn="l"/>
            <a:r>
              <a:rPr sz="700" b="0" i="0">
                <a:solidFill>
                  <a:srgbClr val="0C1A28"/>
                </a:solidFill>
                <a:latin typeface="Courier New"/>
              </a:rPr>
              <a:t>3 Evidence                 −2.53¢                   results/summary.json :: is &gt; h6_walkforward &gt; [month=2026-03] &gt; follow_res_c</a:t>
            </a:r>
          </a:p>
          <a:p>
            <a:pPr algn="l"/>
            <a:r>
              <a:rPr sz="700" b="0" i="0">
                <a:solidFill>
                  <a:srgbClr val="0C1A28"/>
                </a:solidFill>
                <a:latin typeface="Courier New"/>
              </a:rPr>
              <a:t>3 Evidence                 +1.43¢                   results/summary.json :: is &gt; h6_walkforward &gt; [month=2026-04] &gt; net30_c</a:t>
            </a:r>
          </a:p>
          <a:p>
            <a:pPr algn="l"/>
            <a:r>
              <a:rPr sz="700" b="0" i="0">
                <a:solidFill>
                  <a:srgbClr val="0C1A28"/>
                </a:solidFill>
                <a:latin typeface="Courier New"/>
              </a:rPr>
              <a:t>3 Evidence                 −0.87¢                   results/summary.json :: is &gt; h6_walkforward &gt; [month=2026-04] &gt; others_net30_c</a:t>
            </a:r>
          </a:p>
          <a:p>
            <a:pPr algn="l"/>
            <a:r>
              <a:rPr sz="700" b="0" i="0">
                <a:solidFill>
                  <a:srgbClr val="0C1A28"/>
                </a:solidFill>
                <a:latin typeface="Courier New"/>
              </a:rPr>
              <a:t>3 Evidence                 −1.02¢                   results/summary.json :: is &gt; h6_walkforward &gt; [month=2026-04] &gt; follow_res_c</a:t>
            </a:r>
          </a:p>
          <a:p>
            <a:pPr algn="l"/>
            <a:r>
              <a:rPr sz="700" b="0" i="0">
                <a:solidFill>
                  <a:srgbClr val="0C1A28"/>
                </a:solidFill>
                <a:latin typeface="Courier New"/>
              </a:rPr>
              <a:t>3 Evidence                 +0.80¢                   results/summary.json :: is &gt; h6_walkforward &gt; [month=2026-05] &gt; net30_c</a:t>
            </a:r>
          </a:p>
          <a:p>
            <a:pPr algn="l"/>
            <a:r>
              <a:rPr sz="700" b="0" i="0">
                <a:solidFill>
                  <a:srgbClr val="0C1A28"/>
                </a:solidFill>
                <a:latin typeface="Courier New"/>
              </a:rPr>
              <a:t>3 Evidence                 −1.68¢                   results/summary.json :: is &gt; h6_walkforward &gt; [month=2026-05] &gt; others_net30_c</a:t>
            </a:r>
          </a:p>
          <a:p>
            <a:pPr algn="l"/>
            <a:r>
              <a:rPr sz="700" b="0" i="0">
                <a:solidFill>
                  <a:srgbClr val="0C1A28"/>
                </a:solidFill>
                <a:latin typeface="Courier New"/>
              </a:rPr>
              <a:t>3 Evidence                 −1.03¢                   results/summary.json :: is &gt; h6_walkforward &gt; [month=2026-05] &gt; follow_res_c</a:t>
            </a:r>
          </a:p>
          <a:p>
            <a:pPr algn="l"/>
            <a:r>
              <a:rPr sz="700" b="0" i="0">
                <a:solidFill>
                  <a:srgbClr val="0C1A28"/>
                </a:solidFill>
                <a:latin typeface="Courier New"/>
              </a:rPr>
              <a:t>3 Evidence                 +0.73¢                   results/summary.json :: is &gt; h6_walkforward &gt; [month=2026-06] &gt; net30_c</a:t>
            </a:r>
          </a:p>
          <a:p>
            <a:pPr algn="l"/>
            <a:r>
              <a:rPr sz="700" b="0" i="0">
                <a:solidFill>
                  <a:srgbClr val="0C1A28"/>
                </a:solidFill>
                <a:latin typeface="Courier New"/>
              </a:rPr>
              <a:t>3 Evidence                 −0.84¢                   results/summary.json :: is &gt; h6_walkforward &gt; [month=2026-06] &gt; others_net30_c</a:t>
            </a:r>
          </a:p>
          <a:p>
            <a:pPr algn="l"/>
            <a:r>
              <a:rPr sz="700" b="0" i="0">
                <a:solidFill>
                  <a:srgbClr val="0C1A28"/>
                </a:solidFill>
                <a:latin typeface="Courier New"/>
              </a:rPr>
              <a:t>3 Evidence                 −0.70¢                   results/summary.json :: is &gt; h6_walkforward &gt; [month=2026-06] &gt; follow_res_c</a:t>
            </a:r>
          </a:p>
          <a:p>
            <a:pPr algn="l"/>
            <a:r>
              <a:rPr sz="700" b="0" i="0">
                <a:solidFill>
                  <a:srgbClr val="0C1A28"/>
                </a:solidFill>
                <a:latin typeface="Courier New"/>
              </a:rPr>
              <a:t>3 Evidence                 +0.60¢                   results/summary.json :: is &gt; h6_walkforward &gt; [month=2026-07] &gt; net30_c</a:t>
            </a:r>
          </a:p>
          <a:p>
            <a:pPr algn="l"/>
            <a:r>
              <a:rPr sz="700" b="0" i="0">
                <a:solidFill>
                  <a:srgbClr val="0C1A28"/>
                </a:solidFill>
                <a:latin typeface="Courier New"/>
              </a:rPr>
              <a:t>3 Evidence                 −1.27¢                   results/summary.json :: is &gt; h6_walkforward &gt; [month=2026-07] &gt; others_net30_c</a:t>
            </a:r>
          </a:p>
          <a:p>
            <a:pPr algn="l"/>
            <a:r>
              <a:rPr sz="700" b="0" i="0">
                <a:solidFill>
                  <a:srgbClr val="0C1A28"/>
                </a:solidFill>
                <a:latin typeface="Courier New"/>
              </a:rPr>
              <a:t>3 Evidence                 −0.97¢                   results/summary.json :: is &gt; h6_walkforward &gt; [month=2026-07] &gt; follow_res_c</a:t>
            </a:r>
          </a:p>
          <a:p>
            <a:pPr algn="l"/>
            <a:r>
              <a:rPr sz="700" b="0" i="0">
                <a:solidFill>
                  <a:srgbClr val="0C1A28"/>
                </a:solidFill>
                <a:latin typeface="Courier New"/>
              </a:rPr>
              <a:t>3 Evidence                 +0.83¢                   results/summary.json :: oos &gt; h6_walkforward &gt; [month=2026-08] &gt; net30_c</a:t>
            </a:r>
          </a:p>
          <a:p>
            <a:pPr algn="l"/>
            <a:r>
              <a:rPr sz="700" b="0" i="0">
                <a:solidFill>
                  <a:srgbClr val="0C1A28"/>
                </a:solidFill>
                <a:latin typeface="Courier New"/>
              </a:rPr>
              <a:t>3 Evidence                 −1.20¢                   results/summary.json :: oos &gt; h6_walkforward &gt; [month=2026-08] &gt; others_net30_c</a:t>
            </a:r>
          </a:p>
          <a:p>
            <a:pPr algn="l"/>
            <a:r>
              <a:rPr sz="700" b="0" i="0">
                <a:solidFill>
                  <a:srgbClr val="0C1A28"/>
                </a:solidFill>
                <a:latin typeface="Courier New"/>
              </a:rPr>
              <a:t>3 Evidence                 −1.53¢                   results/summary.json :: oos &gt; h6_walkforward &gt; [month=2026-08] &gt; follow_res_c</a:t>
            </a:r>
          </a:p>
          <a:p>
            <a:pPr algn="l"/>
            <a:r>
              <a:rPr sz="700" b="0" i="0">
                <a:solidFill>
                  <a:srgbClr val="0C1A28"/>
                </a:solidFill>
                <a:latin typeface="Courier New"/>
              </a:rPr>
              <a:t>3 Evidence                 +0.70¢                   results/summary.json :: oos &gt; h6_walkforward &gt; [month=2026-09] &gt; net30_c</a:t>
            </a:r>
          </a:p>
          <a:p>
            <a:pPr algn="l"/>
            <a:r>
              <a:rPr sz="700" b="0" i="0">
                <a:solidFill>
                  <a:srgbClr val="0C1A28"/>
                </a:solidFill>
                <a:latin typeface="Courier New"/>
              </a:rPr>
              <a:t>3 Evidence                 −1.22¢                   results/summary.json :: oos &gt; h6_walkforward &gt; [month=2026-09] &gt; others_net30_c</a:t>
            </a:r>
          </a:p>
          <a:p>
            <a:pPr algn="l"/>
            <a:r>
              <a:rPr sz="700" b="0" i="0">
                <a:solidFill>
                  <a:srgbClr val="0C1A28"/>
                </a:solidFill>
                <a:latin typeface="Courier New"/>
              </a:rPr>
              <a:t>3 Evidence                 −1.57¢                   results/summary.json :: oos &gt; h6_walkforward &gt; [month=2026-09] &gt; follow_res_c</a:t>
            </a:r>
          </a:p>
          <a:p>
            <a:pPr algn="l"/>
            <a:r>
              <a:rPr sz="700" b="0" i="0">
                <a:solidFill>
                  <a:srgbClr val="0C1A28"/>
                </a:solidFill>
                <a:latin typeface="Courier New"/>
              </a:rPr>
              <a:t>3 Evidence                 +0.44¢                   results/summary.json :: oos &gt; h6_walkforward &gt; [month=2026-10] &gt; net30_c</a:t>
            </a:r>
          </a:p>
          <a:p>
            <a:pPr algn="l"/>
            <a:r>
              <a:rPr sz="700" b="0" i="0">
                <a:solidFill>
                  <a:srgbClr val="0C1A28"/>
                </a:solidFill>
                <a:latin typeface="Courier New"/>
              </a:rPr>
              <a:t>3 Evidence                 −1.86¢                   results/summary.json :: oos &gt; h6_walkforward &gt; [month=2026-10] &gt; others_net30_c</a:t>
            </a:r>
          </a:p>
          <a:p>
            <a:pPr algn="l"/>
            <a:r>
              <a:rPr sz="700" b="0" i="0">
                <a:solidFill>
                  <a:srgbClr val="0C1A28"/>
                </a:solidFill>
                <a:latin typeface="Courier New"/>
              </a:rPr>
              <a:t>3 Evidence                 −2.42¢                   results/summary.json :: oos &gt; h6_walkforward &gt; [month=2026-10] &gt; follow_res_c</a:t>
            </a:r>
          </a:p>
          <a:p>
            <a:pPr algn="l"/>
            <a:r>
              <a:rPr sz="700" b="0" i="0">
                <a:solidFill>
                  <a:srgbClr val="0C1A28"/>
                </a:solidFill>
                <a:latin typeface="Courier New"/>
              </a:rPr>
              <a:t>3 Evidence                 +3.09¢                   results/expand/results.json :: fast_minus_others_u2 &gt; u2_is &gt; fast_minus_others_c</a:t>
            </a:r>
          </a:p>
          <a:p>
            <a:pPr algn="l"/>
            <a:r>
              <a:rPr sz="700" b="0" i="0">
                <a:solidFill>
                  <a:srgbClr val="0C1A28"/>
                </a:solidFill>
                <a:latin typeface="Courier New"/>
              </a:rPr>
              <a:t>3 Evidence                 +2.16¢                   results/expand/results.json :: fast_minus_others_u2 &gt; u2_oos &gt; fast_minus_others_c</a:t>
            </a:r>
          </a:p>
          <a:p>
            <a:pPr algn="l"/>
            <a:r>
              <a:rPr sz="700" b="0" i="0">
                <a:solidFill>
                  <a:srgbClr val="0C1A28"/>
                </a:solidFill>
                <a:latin typeface="Courier New"/>
              </a:rPr>
              <a:t>3 Evidence                 [1.79, 2.53]             results/expand/results.json :: fast_minus_others_u2 &gt; u2_oos &gt; ci_c</a:t>
            </a:r>
          </a:p>
          <a:p>
            <a:pPr algn="l"/>
            <a:r>
              <a:rPr sz="700" b="0" i="0">
                <a:solidFill>
                  <a:srgbClr val="0C1A28"/>
                </a:solidFill>
                <a:latin typeface="Courier New"/>
              </a:rPr>
              <a:t>3 Evidence                 11,307                   results/expand/results.json :: universe &gt; u2_markets</a:t>
            </a:r>
          </a:p>
          <a:p>
            <a:pPr algn="l"/>
            <a:r>
              <a:rPr sz="700" b="0" i="0">
                <a:solidFill>
                  <a:srgbClr val="0C1A28"/>
                </a:solidFill>
                <a:latin typeface="Courier New"/>
              </a:rPr>
              <a:t>4 CV in action             11                       results/tracking/summary.json :: early_call &gt; precision_recall_test_snapshot &gt; 50ms &gt; tp</a:t>
            </a:r>
          </a:p>
          <a:p>
            <a:pPr algn="l"/>
            <a:r>
              <a:rPr sz="700" b="0" i="0">
                <a:solidFill>
                  <a:srgbClr val="0C1A28"/>
                </a:solidFill>
                <a:latin typeface="Courier New"/>
              </a:rPr>
              <a:t>4 CV in action             11/11                    results/tracking/summary.json :: early_call &gt; precision_recall_test_snapshot &gt; 50ms  [tp/(tp+fp)]</a:t>
            </a:r>
          </a:p>
          <a:p>
            <a:pPr algn="l"/>
            <a:r>
              <a:rPr sz="700" b="0" i="0">
                <a:solidFill>
                  <a:srgbClr val="0C1A28"/>
                </a:solidFill>
                <a:latin typeface="Courier New"/>
              </a:rPr>
              <a:t>4 CV in action             41                       results/tracking/summary.json :: early_call &gt; precision_recall_test_snapshot &gt; 50ms  [tp+fn]</a:t>
            </a:r>
          </a:p>
        </p:txBody>
      </p:sp>
      <p:sp>
        <p:nvSpPr>
          <p:cNvPr id="6"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7"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26</a:t>
            </a:fld>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1"/>
          <p:cNvSpPr>
            <a:spLocks noGrp="1"/>
          </p:cNvSpPr>
          <p:nvPr>
            <p:ph type="title"/>
          </p:nvPr>
        </p:nvSpPr>
        <p:spPr/>
        <p:txBody>
          <a:bodyPr lIns="0" tIns="0" rIns="0" bIns="0"/>
          <a:lstStyle/>
          <a:p>
            <a:r>
              <a:rPr sz="2600" b="1" i="0">
                <a:solidFill>
                  <a:srgbClr val="0C1A28"/>
                </a:solidFill>
                <a:latin typeface="Arial Narrow" panose="020B0606020202030204" pitchFamily="34" charset="0"/>
              </a:rPr>
              <a:t>Every number on screen, and where it was read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HIDDEN MANIFEST  ·  PAGE 3 OF 12</a:t>
            </a:r>
          </a:p>
        </p:txBody>
      </p:sp>
      <p:sp>
        <p:nvSpPr>
          <p:cNvPr id="5" name="Manifest"/>
          <p:cNvSpPr txBox="1"/>
          <p:nvPr/>
        </p:nvSpPr>
        <p:spPr>
          <a:xfrm>
            <a:off x="548640" y="1554480"/>
            <a:ext cx="11094415" cy="4846320"/>
          </a:xfrm>
          <a:prstGeom prst="rect">
            <a:avLst/>
          </a:prstGeom>
          <a:noFill/>
        </p:spPr>
        <p:txBody>
          <a:bodyPr wrap="square" anchor="t" lIns="0" tIns="0" rIns="0" bIns="0">
            <a:noAutofit/>
          </a:bodyPr>
          <a:lstStyle/>
          <a:p>
            <a:pPr algn="l"/>
            <a:r>
              <a:rPr sz="700" b="0" i="0">
                <a:solidFill>
                  <a:srgbClr val="0C1A28"/>
                </a:solidFill>
                <a:latin typeface="Courier New"/>
              </a:rPr>
              <a:t>4 CV in action             27%                      results/tracking/summary.json :: early_call &gt; precision_recall_test_snapshot &gt; 50ms &gt; recall</a:t>
            </a:r>
          </a:p>
          <a:p>
            <a:pPr algn="l"/>
            <a:r>
              <a:rPr sz="700" b="0" i="0">
                <a:solidFill>
                  <a:srgbClr val="0C1A28"/>
                </a:solidFill>
                <a:latin typeface="Courier New"/>
              </a:rPr>
              <a:t>4 CV in action             74%                      results/tracking/summary.json :: early_call &gt; precision_recall_test_snapshot &gt; 50ms &gt; precision_wilson95</a:t>
            </a:r>
          </a:p>
          <a:p>
            <a:pPr algn="l"/>
            <a:r>
              <a:rPr sz="700" b="0" i="0">
                <a:solidFill>
                  <a:srgbClr val="0C1A28"/>
                </a:solidFill>
                <a:latin typeface="Courier New"/>
              </a:rPr>
              <a:t>4 CV in action             94.0%                    results/tracking/summary.json :: detection_accuracy_pooled &gt; [split=test, source=tracked] &gt; within5</a:t>
            </a:r>
          </a:p>
          <a:p>
            <a:pPr algn="l"/>
            <a:r>
              <a:rPr sz="700" b="0" i="0">
                <a:solidFill>
                  <a:srgbClr val="0C1A28"/>
                </a:solidFill>
                <a:latin typeface="Courier New"/>
              </a:rPr>
              <a:t>4 CV in action             96.7%                    results/tracking/summary.json :: detection_accuracy_pooled &gt; [split=test, source=tracked] &gt; recall</a:t>
            </a:r>
          </a:p>
          <a:p>
            <a:pPr algn="l"/>
            <a:r>
              <a:rPr sz="700" b="0" i="0">
                <a:solidFill>
                  <a:srgbClr val="0C1A28"/>
                </a:solidFill>
                <a:latin typeface="Courier New"/>
              </a:rPr>
              <a:t>4 CV in action             6,833                    results/tracking/summary.json :: detection_accuracy_pooled &gt; [split=test, source=tracked] &gt; n_visible</a:t>
            </a:r>
          </a:p>
          <a:p>
            <a:pPr algn="l"/>
            <a:r>
              <a:rPr sz="700" b="0" i="0">
                <a:solidFill>
                  <a:srgbClr val="0C1A28"/>
                </a:solidFill>
                <a:latin typeface="Courier New"/>
              </a:rPr>
              <a:t>4 CV in action             25 ms                    results/tracking/summary.json :: early_call &gt; miss_first_call_lead_test_ms &gt; median</a:t>
            </a:r>
          </a:p>
          <a:p>
            <a:pPr algn="l"/>
            <a:r>
              <a:rPr sz="700" b="0" i="0">
                <a:solidFill>
                  <a:srgbClr val="0C1A28"/>
                </a:solidFill>
                <a:latin typeface="Courier New"/>
              </a:rPr>
              <a:t>4 CV in action             408 ms                   results/tracking/demo/manifest.json :: clips &gt; 0 &gt; call_lead_ms</a:t>
            </a:r>
          </a:p>
          <a:p>
            <a:pPr algn="l"/>
            <a:r>
              <a:rPr sz="700" b="0" i="0">
                <a:solidFill>
                  <a:srgbClr val="0C1A28"/>
                </a:solidFill>
                <a:latin typeface="Courier New"/>
              </a:rPr>
              <a:t>4 CV in action             158 ms                   results/engine/demo_run.json :: latency_budget &gt; [stage 'vision…'] &gt; ms</a:t>
            </a:r>
          </a:p>
          <a:p>
            <a:pPr algn="l"/>
            <a:r>
              <a:rPr sz="700" b="0" i="0">
                <a:solidFill>
                  <a:srgbClr val="0C1A28"/>
                </a:solidFill>
                <a:latin typeface="Courier New"/>
              </a:rPr>
              <a:t>4 CV in action             219 ms                   results/engine/demo_run.json :: latency_budget &gt; [stage 'vision…'] &gt; p90</a:t>
            </a:r>
          </a:p>
          <a:p>
            <a:pPr algn="l"/>
            <a:r>
              <a:rPr sz="700" b="0" i="0">
                <a:solidFill>
                  <a:srgbClr val="0C1A28"/>
                </a:solidFill>
                <a:latin typeface="Courier New"/>
              </a:rPr>
              <a:t>4 CV in action             51 fps                   results/engine/vision_bench.json :: summary &gt; 0 &gt; fps_sustained</a:t>
            </a:r>
          </a:p>
          <a:p>
            <a:pPr algn="l"/>
            <a:r>
              <a:rPr sz="700" b="0" i="0">
                <a:solidFill>
                  <a:srgbClr val="0C1A28"/>
                </a:solidFill>
                <a:latin typeface="Courier New"/>
              </a:rPr>
              <a:t>4 CV in action             4                        results/engine/online_vs_offline.json :: runs &gt; fp16_cl_fuse_compile_b1_realtime &gt; A_engine_calls &gt; online &gt; 50ms &gt; tp</a:t>
            </a:r>
          </a:p>
          <a:p>
            <a:pPr algn="l"/>
            <a:r>
              <a:rPr sz="700" b="0" i="0">
                <a:solidFill>
                  <a:srgbClr val="0C1A28"/>
                </a:solidFill>
                <a:latin typeface="Courier New"/>
              </a:rPr>
              <a:t>4 CV in action             4/4                      results/engine/online_vs_offline.json :: runs &gt; fp16_cl_fuse_compile_b1_realtime &gt; A_engine_calls &gt; online &gt; 50ms  [tp/(tp+fp…</a:t>
            </a:r>
          </a:p>
          <a:p>
            <a:pPr algn="l"/>
            <a:r>
              <a:rPr sz="700" b="0" i="0">
                <a:solidFill>
                  <a:srgbClr val="0C1A28"/>
                </a:solidFill>
                <a:latin typeface="Courier New"/>
              </a:rPr>
              <a:t>4 CV in action             41                       results/engine/online_vs_offline.json :: runs &gt; fp16_cl_fuse_compile_b1_realtime &gt; A_engine_calls &gt; miss_first_call_lead_ms &gt;…</a:t>
            </a:r>
          </a:p>
          <a:p>
            <a:pPr algn="l"/>
            <a:r>
              <a:rPr sz="700" b="0" i="0">
                <a:solidFill>
                  <a:srgbClr val="0C1A28"/>
                </a:solidFill>
                <a:latin typeface="Courier New"/>
              </a:rPr>
              <a:t>4 CV in action             162.5 ms                 results/engine/online_vs_offline.json :: runs &gt; fp16_cl_fuse_compile_b1_realtime &gt; A_engine_calls &gt; miss_first_call_lead_ms &gt;…</a:t>
            </a:r>
          </a:p>
          <a:p>
            <a:pPr algn="l"/>
            <a:r>
              <a:rPr sz="700" b="0" i="0">
                <a:solidFill>
                  <a:srgbClr val="0C1A28"/>
                </a:solidFill>
                <a:latin typeface="Courier New"/>
              </a:rPr>
              <a:t>4 CV in action             51%                      results/engine/online_vs_offline.json :: runs &gt; fp16_cl_fuse_compile_b1_realtime &gt; A_engine_calls &gt; online &gt; 50ms &gt; precision…</a:t>
            </a:r>
          </a:p>
          <a:p>
            <a:pPr algn="l"/>
            <a:r>
              <a:rPr sz="700" b="0" i="0">
                <a:solidFill>
                  <a:srgbClr val="0C1A28"/>
                </a:solidFill>
                <a:latin typeface="Courier New"/>
              </a:rPr>
              <a:t>4 CV in action             325 ms                   results/engine/online_vs_offline.json :: runs &gt; fp16_cl_fuse_compile_b1_realtime &gt; flights_called_or_miss  [video=test_2, f_n…</a:t>
            </a:r>
          </a:p>
          <a:p>
            <a:pPr algn="l"/>
            <a:r>
              <a:rPr sz="700" b="0" i="0">
                <a:solidFill>
                  <a:srgbClr val="0C1A28"/>
                </a:solidFill>
                <a:latin typeface="Courier New"/>
              </a:rPr>
              <a:t>4 CV in action             4.6 ms                   results/engine/online_vs_offline.json :: headline &gt; fp16_cl_fuse_compile_b1_realtime &gt; stream &gt; after_startup &gt; call_ready_ms…</a:t>
            </a:r>
          </a:p>
          <a:p>
            <a:pPr algn="l"/>
            <a:r>
              <a:rPr sz="700" b="0" i="0">
                <a:solidFill>
                  <a:srgbClr val="0C1A28"/>
                </a:solidFill>
                <a:latin typeface="Courier New"/>
              </a:rPr>
              <a:t>4 CV in action             12.2 ms                  results/engine/online_vs_offline.json :: headline &gt; fp16_cl_fuse_compile_b1_realtime &gt; stream &gt; after_startup &gt; call_ready_ms…</a:t>
            </a:r>
          </a:p>
          <a:p>
            <a:pPr algn="l"/>
            <a:r>
              <a:rPr sz="700" b="0" i="0">
                <a:solidFill>
                  <a:srgbClr val="0C1A28"/>
                </a:solidFill>
                <a:latin typeface="Courier New"/>
              </a:rPr>
              <a:t>4 CV in action             102,120                  results/engine/online_vs_offline.json :: headline &gt; fp16_cl_fuse_compile_b1_realtime &gt; stream &gt; frames</a:t>
            </a:r>
          </a:p>
          <a:p>
            <a:pPr algn="l"/>
            <a:r>
              <a:rPr sz="700" b="0" i="0">
                <a:solidFill>
                  <a:srgbClr val="0C1A28"/>
                </a:solidFill>
                <a:latin typeface="Courier New"/>
              </a:rPr>
              <a:t>4 CV in action             0                        results/engine/online_vs_offline.json :: headline &gt; fp16_cl_fuse_compile_b1_realtime &gt; stream &gt; dropped</a:t>
            </a:r>
          </a:p>
          <a:p>
            <a:pPr algn="l"/>
            <a:r>
              <a:rPr sz="700" b="0" i="0">
                <a:solidFill>
                  <a:srgbClr val="0C1A28"/>
                </a:solidFill>
                <a:latin typeface="Courier New"/>
              </a:rPr>
              <a:t>5 Backtest                 +1.38¢                   results/v2/causal.json :: causal/is_eval/slip0.0 &gt; per_share_c</a:t>
            </a:r>
          </a:p>
          <a:p>
            <a:pPr algn="l"/>
            <a:r>
              <a:rPr sz="700" b="0" i="0">
                <a:solidFill>
                  <a:srgbClr val="0C1A28"/>
                </a:solidFill>
                <a:latin typeface="Courier New"/>
              </a:rPr>
              <a:t>5 Backtest                 +0.88¢                   results/v2/causal.json :: causal/is_eval/slip0.005 &gt; per_share_c</a:t>
            </a:r>
          </a:p>
          <a:p>
            <a:pPr algn="l"/>
            <a:r>
              <a:rPr sz="700" b="0" i="0">
                <a:solidFill>
                  <a:srgbClr val="0C1A28"/>
                </a:solidFill>
                <a:latin typeface="Courier New"/>
              </a:rPr>
              <a:t>5 Backtest                 +0.38¢                   results/v2/causal.json :: causal/is_eval/slip0.01 &gt; per_share_c</a:t>
            </a:r>
          </a:p>
          <a:p>
            <a:pPr algn="l"/>
            <a:r>
              <a:rPr sz="700" b="0" i="0">
                <a:solidFill>
                  <a:srgbClr val="0C1A28"/>
                </a:solidFill>
                <a:latin typeface="Courier New"/>
              </a:rPr>
              <a:t>5 Backtest                 +0.77¢                   results/v2/cost_stress.json :: is_eval/fee_x2 &gt; per_share_c</a:t>
            </a:r>
          </a:p>
          <a:p>
            <a:pPr algn="l"/>
            <a:r>
              <a:rPr sz="700" b="0" i="0">
                <a:solidFill>
                  <a:srgbClr val="0C1A28"/>
                </a:solidFill>
                <a:latin typeface="Courier New"/>
              </a:rPr>
              <a:t>5 Backtest                 +0.27¢                   results/v2/cost_stress.json :: is_eval/costs_x2 &gt; per_share_c</a:t>
            </a:r>
          </a:p>
          <a:p>
            <a:pPr algn="l"/>
            <a:r>
              <a:rPr sz="700" b="0" i="0">
                <a:solidFill>
                  <a:srgbClr val="0C1A28"/>
                </a:solidFill>
                <a:latin typeface="Courier New"/>
              </a:rPr>
              <a:t>5 Backtest                 +0.60¢                   results/v2/causal.json :: causal/burned_oos/slip0.0 &gt; per_share_c</a:t>
            </a:r>
          </a:p>
          <a:p>
            <a:pPr algn="l"/>
            <a:r>
              <a:rPr sz="700" b="0" i="0">
                <a:solidFill>
                  <a:srgbClr val="0C1A28"/>
                </a:solidFill>
                <a:latin typeface="Courier New"/>
              </a:rPr>
              <a:t>5 Backtest                 +0.10¢                   results/v2/causal.json :: causal/burned_oos/slip0.005 &gt; per_share_c</a:t>
            </a:r>
          </a:p>
          <a:p>
            <a:pPr algn="l"/>
            <a:r>
              <a:rPr sz="700" b="0" i="0">
                <a:solidFill>
                  <a:srgbClr val="0C1A28"/>
                </a:solidFill>
                <a:latin typeface="Courier New"/>
              </a:rPr>
              <a:t>5 Backtest                 −0.40¢                   results/v2/causal.json :: causal/burned_oos/slip0.01 &gt; per_share_c</a:t>
            </a:r>
          </a:p>
          <a:p>
            <a:pPr algn="l"/>
            <a:r>
              <a:rPr sz="700" b="0" i="0">
                <a:solidFill>
                  <a:srgbClr val="0C1A28"/>
                </a:solidFill>
                <a:latin typeface="Courier New"/>
              </a:rPr>
              <a:t>5 Backtest                 −0.34¢                   results/v2/cost_stress.json :: burned_oos/fee_x2 &gt; per_share_c</a:t>
            </a:r>
          </a:p>
          <a:p>
            <a:pPr algn="l"/>
            <a:r>
              <a:rPr sz="700" b="0" i="0">
                <a:solidFill>
                  <a:srgbClr val="0C1A28"/>
                </a:solidFill>
                <a:latin typeface="Courier New"/>
              </a:rPr>
              <a:t>5 Backtest                 −0.84¢                   results/v2/cost_stress.json :: burned_oos/costs_x2 &gt; per_share_c</a:t>
            </a:r>
          </a:p>
          <a:p>
            <a:pPr algn="l"/>
            <a:r>
              <a:rPr sz="700" b="0" i="0">
                <a:solidFill>
                  <a:srgbClr val="0C1A28"/>
                </a:solidFill>
                <a:latin typeface="Courier New"/>
              </a:rPr>
              <a:t>5 Backtest                 206                      results/v2/causal.json :: causal/is_eval/slip0.0 &gt; days</a:t>
            </a:r>
          </a:p>
          <a:p>
            <a:pPr algn="l"/>
            <a:r>
              <a:rPr sz="700" b="0" i="0">
                <a:solidFill>
                  <a:srgbClr val="0C1A28"/>
                </a:solidFill>
                <a:latin typeface="Courier New"/>
              </a:rPr>
              <a:t>5 Backtest                 40                       results/v2/causal.json :: causal/burned_oos/slip0.0 &gt; days</a:t>
            </a:r>
          </a:p>
          <a:p>
            <a:pPr algn="l"/>
            <a:r>
              <a:rPr sz="700" b="0" i="0">
                <a:solidFill>
                  <a:srgbClr val="0C1A28"/>
                </a:solidFill>
                <a:latin typeface="Courier New"/>
              </a:rPr>
              <a:t>5 Backtest                 pending                  results/v2/forward.json  [blind forward test: one run, pre-registered in HYPOTHESIS_V2.md]</a:t>
            </a:r>
          </a:p>
          <a:p>
            <a:pPr algn="l"/>
            <a:r>
              <a:rPr sz="700" b="0" i="0">
                <a:solidFill>
                  <a:srgbClr val="0C1A28"/>
                </a:solidFill>
                <a:latin typeface="Courier New"/>
              </a:rPr>
              <a:t>5 Backtest                 2026-10-04 11:30 UTC     HYPOTHESIS_V2.md :: Forward test 'planned ~&lt;date&gt; UTC'</a:t>
            </a:r>
          </a:p>
        </p:txBody>
      </p:sp>
      <p:sp>
        <p:nvSpPr>
          <p:cNvPr id="6"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7"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27</a:t>
            </a:fld>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1"/>
          <p:cNvSpPr>
            <a:spLocks noGrp="1"/>
          </p:cNvSpPr>
          <p:nvPr>
            <p:ph type="title"/>
          </p:nvPr>
        </p:nvSpPr>
        <p:spPr/>
        <p:txBody>
          <a:bodyPr lIns="0" tIns="0" rIns="0" bIns="0"/>
          <a:lstStyle/>
          <a:p>
            <a:r>
              <a:rPr sz="2600" b="1" i="0">
                <a:solidFill>
                  <a:srgbClr val="0C1A28"/>
                </a:solidFill>
                <a:latin typeface="Arial Narrow" panose="020B0606020202030204" pitchFamily="34" charset="0"/>
              </a:rPr>
              <a:t>Every number on screen, and where it was read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HIDDEN MANIFEST  ·  PAGE 4 OF 12</a:t>
            </a:r>
          </a:p>
        </p:txBody>
      </p:sp>
      <p:sp>
        <p:nvSpPr>
          <p:cNvPr id="5" name="Manifest"/>
          <p:cNvSpPr txBox="1"/>
          <p:nvPr/>
        </p:nvSpPr>
        <p:spPr>
          <a:xfrm>
            <a:off x="548640" y="1554480"/>
            <a:ext cx="11094415" cy="4846320"/>
          </a:xfrm>
          <a:prstGeom prst="rect">
            <a:avLst/>
          </a:prstGeom>
          <a:noFill/>
        </p:spPr>
        <p:txBody>
          <a:bodyPr wrap="square" anchor="t" lIns="0" tIns="0" rIns="0" bIns="0">
            <a:noAutofit/>
          </a:bodyPr>
          <a:lstStyle/>
          <a:p>
            <a:pPr algn="l"/>
            <a:r>
              <a:rPr sz="700" b="0" i="0">
                <a:solidFill>
                  <a:srgbClr val="0C1A28"/>
                </a:solidFill>
                <a:latin typeface="Courier New"/>
              </a:rPr>
              <a:t>5 Backtest                 [1.17, 1.59]             results/v2/causal.json :: causal/is_eval/slip0.0 &gt; per_share_ci_c</a:t>
            </a:r>
          </a:p>
          <a:p>
            <a:pPr algn="l"/>
            <a:r>
              <a:rPr sz="700" b="0" i="0">
                <a:solidFill>
                  <a:srgbClr val="0C1A28"/>
                </a:solidFill>
                <a:latin typeface="Courier New"/>
              </a:rPr>
              <a:t>5 Backtest                 [0.09, 1.13]             results/v2/causal.json :: causal/burned_oos/slip0.0 &gt; per_share_ci_c</a:t>
            </a:r>
          </a:p>
          <a:p>
            <a:pPr algn="l"/>
            <a:r>
              <a:rPr sz="700" b="0" i="0">
                <a:solidFill>
                  <a:srgbClr val="0C1A28"/>
                </a:solidFill>
                <a:latin typeface="Courier New"/>
              </a:rPr>
              <a:t>5 Backtest                 14.5                     results/v2/causal.json :: causal/is_eval/slip0.0 &gt; sharpe_ann</a:t>
            </a:r>
          </a:p>
          <a:p>
            <a:pPr algn="l"/>
            <a:r>
              <a:rPr sz="700" b="0" i="0">
                <a:solidFill>
                  <a:srgbClr val="0C1A28"/>
                </a:solidFill>
                <a:latin typeface="Courier New"/>
              </a:rPr>
              <a:t>5 Backtest                 −2.0%                    results/v2/causal.json :: causal/is_eval/slip0.0 &gt; max_dd_pct</a:t>
            </a:r>
          </a:p>
          <a:p>
            <a:pPr algn="l"/>
            <a:r>
              <a:rPr sz="700" b="0" i="0">
                <a:solidFill>
                  <a:srgbClr val="0C1A28"/>
                </a:solidFill>
                <a:latin typeface="Courier New"/>
              </a:rPr>
              <a:t>5 Backtest                 6.7                      results/v2/causal.json :: causal/burned_oos/slip0.0 &gt; sharpe_ann</a:t>
            </a:r>
          </a:p>
          <a:p>
            <a:pPr algn="l"/>
            <a:r>
              <a:rPr sz="700" b="0" i="0">
                <a:solidFill>
                  <a:srgbClr val="0C1A28"/>
                </a:solidFill>
                <a:latin typeface="Courier New"/>
              </a:rPr>
              <a:t>5 Backtest                 −2.1%                    results/v2/causal.json :: causal/burned_oos/slip0.0 &gt; max_dd_pct</a:t>
            </a:r>
          </a:p>
          <a:p>
            <a:pPr algn="l"/>
            <a:r>
              <a:rPr sz="700" b="0" i="0">
                <a:solidFill>
                  <a:srgbClr val="0C1A28"/>
                </a:solidFill>
                <a:latin typeface="Courier New"/>
              </a:rPr>
              <a:t>5 Backtest                 7                        results/v2/causal.json :: causal/is_eval/slip0.0 &gt; months_positive</a:t>
            </a:r>
          </a:p>
          <a:p>
            <a:pPr algn="l"/>
            <a:r>
              <a:rPr sz="700" b="0" i="0">
                <a:solidFill>
                  <a:srgbClr val="0C1A28"/>
                </a:solidFill>
                <a:latin typeface="Courier New"/>
              </a:rPr>
              <a:t>5 Backtest                 7                        results/v2/causal.json :: causal/is_eval/slip0.0 &gt; months_total</a:t>
            </a:r>
          </a:p>
          <a:p>
            <a:pPr algn="l"/>
            <a:r>
              <a:rPr sz="700" b="0" i="0">
                <a:solidFill>
                  <a:srgbClr val="0C1A28"/>
                </a:solidFill>
                <a:latin typeface="Courier New"/>
              </a:rPr>
              <a:t>5 Backtest                 2                        results/v2/causal.json :: causal/burned_oos/slip0.0 &gt; months_positive</a:t>
            </a:r>
          </a:p>
          <a:p>
            <a:pPr algn="l"/>
            <a:r>
              <a:rPr sz="700" b="0" i="0">
                <a:solidFill>
                  <a:srgbClr val="0C1A28"/>
                </a:solidFill>
                <a:latin typeface="Courier New"/>
              </a:rPr>
              <a:t>5 Backtest                 3                        results/v2/causal.json :: causal/burned_oos/slip0.0 &gt; months_total</a:t>
            </a:r>
          </a:p>
          <a:p>
            <a:pPr algn="l"/>
            <a:r>
              <a:rPr sz="700" b="0" i="0">
                <a:solidFill>
                  <a:srgbClr val="0C1A28"/>
                </a:solidFill>
                <a:latin typeface="Courier New"/>
              </a:rPr>
              <a:t>5 Backtest                 +$40.4k                  results/v2/causal.json :: causal/is_eval/slip0.0 &gt; total_pnl_usd</a:t>
            </a:r>
          </a:p>
          <a:p>
            <a:pPr algn="l"/>
            <a:r>
              <a:rPr sz="700" b="0" i="0">
                <a:solidFill>
                  <a:srgbClr val="0C1A28"/>
                </a:solidFill>
                <a:latin typeface="Courier New"/>
              </a:rPr>
              <a:t>5 Backtest                 $28.3k                   results/v2/causal.json :: causal/is_eval/slip0.0 &gt; capital_usd</a:t>
            </a:r>
          </a:p>
          <a:p>
            <a:pPr algn="l"/>
            <a:r>
              <a:rPr sz="700" b="0" i="0">
                <a:solidFill>
                  <a:srgbClr val="0C1A28"/>
                </a:solidFill>
                <a:latin typeface="Courier New"/>
              </a:rPr>
              <a:t>5 Backtest                 +$3.7k                   results/v2/causal.json :: causal/burned_oos/slip0.0 &gt; total_pnl_usd</a:t>
            </a:r>
          </a:p>
          <a:p>
            <a:pPr algn="l"/>
            <a:r>
              <a:rPr sz="700" b="0" i="0">
                <a:solidFill>
                  <a:srgbClr val="0C1A28"/>
                </a:solidFill>
                <a:latin typeface="Courier New"/>
              </a:rPr>
              <a:t>5 Backtest                 $22.8k                   results/v2/causal.json :: causal/burned_oos/slip0.0 &gt; capital_usd</a:t>
            </a:r>
          </a:p>
          <a:p>
            <a:pPr algn="l"/>
            <a:r>
              <a:rPr sz="700" b="0" i="0">
                <a:solidFill>
                  <a:srgbClr val="0C1A28"/>
                </a:solidFill>
                <a:latin typeface="Courier New"/>
              </a:rPr>
              <a:t>5 Backtest                 lost $36.1k              results/summary.json :: oos &gt; h6_shadow &gt; total_pnl_usd</a:t>
            </a:r>
          </a:p>
          <a:p>
            <a:pPr algn="l"/>
            <a:r>
              <a:rPr sz="700" b="0" i="0">
                <a:solidFill>
                  <a:srgbClr val="0C1A28"/>
                </a:solidFill>
                <a:latin typeface="Courier New"/>
              </a:rPr>
              <a:t>5 Backtest                 −75%                     results/summary.json :: oos &gt; h6_shadow &gt; max_dd</a:t>
            </a:r>
          </a:p>
          <a:p>
            <a:pPr algn="l"/>
            <a:r>
              <a:rPr sz="700" b="0" i="0">
                <a:solidFill>
                  <a:srgbClr val="0C1A28"/>
                </a:solidFill>
                <a:latin typeface="Courier New"/>
              </a:rPr>
              <a:t>6 Rigor                    3,410                    results/rigor/rigor.json :: psr_dsr &gt; N &gt; all_plus_v2safe_grid  [NOTE section 8 counts 3,386; plus the 24-variant v2-safe gri…</a:t>
            </a:r>
          </a:p>
          <a:p>
            <a:pPr algn="l"/>
            <a:r>
              <a:rPr sz="700" b="0" i="0">
                <a:solidFill>
                  <a:srgbClr val="0C1A28"/>
                </a:solidFill>
                <a:latin typeface="Courier New"/>
              </a:rPr>
              <a:t>6 Rigor                    44                       results/rigor/rigor.json :: psr_dsr &gt; N &gt; H1_H6</a:t>
            </a:r>
          </a:p>
          <a:p>
            <a:pPr algn="l"/>
            <a:r>
              <a:rPr sz="700" b="0" i="0">
                <a:solidFill>
                  <a:srgbClr val="0C1A28"/>
                </a:solidFill>
                <a:latin typeface="Courier New"/>
              </a:rPr>
              <a:t>6 Rigor                    0.997                    results/rigor/rigor.json :: psr_dsr &gt; rows &gt; [series=v2_is] &gt; dsr_min_N3410</a:t>
            </a:r>
          </a:p>
          <a:p>
            <a:pPr algn="l"/>
            <a:r>
              <a:rPr sz="700" b="0" i="0">
                <a:solidFill>
                  <a:srgbClr val="0C1A28"/>
                </a:solidFill>
                <a:latin typeface="Courier New"/>
              </a:rPr>
              <a:t>6 Rigor                    0.075                    results/rigor/rigor.json :: psr_dsr &gt; rows &gt; [series=v2_oos] &gt; dsr_min_N3410</a:t>
            </a:r>
          </a:p>
          <a:p>
            <a:pPr algn="l"/>
            <a:r>
              <a:rPr sz="700" b="0" i="0">
                <a:solidFill>
                  <a:srgbClr val="0C1A28"/>
                </a:solidFill>
                <a:latin typeface="Courier New"/>
              </a:rPr>
              <a:t>6 Rigor                    0.481                    results/rigor/rigor.json :: psr_dsr &gt; rows &gt; [series=v2_oos] &gt; dsr_min_N44</a:t>
            </a:r>
          </a:p>
          <a:p>
            <a:pPr algn="l"/>
            <a:r>
              <a:rPr sz="700" b="0" i="0">
                <a:solidFill>
                  <a:srgbClr val="0C1A28"/>
                </a:solidFill>
                <a:latin typeface="Courier New"/>
              </a:rPr>
              <a:t>6 Rigor                    15.4%                    results/rigor/rigor.json :: pbo_cscv &gt; lowloss_24_sharpe &gt; pbo</a:t>
            </a:r>
          </a:p>
          <a:p>
            <a:pPr algn="l"/>
            <a:r>
              <a:rPr sz="700" b="0" i="0">
                <a:solidFill>
                  <a:srgbClr val="0C1A28"/>
                </a:solidFill>
                <a:latin typeface="Courier New"/>
              </a:rPr>
              <a:t>6 Rigor                    0.0%                     results/rigor/rigor.json :: pbo_cscv &gt; sizing_55_res_actual_sharpe &gt; pbo</a:t>
            </a:r>
          </a:p>
          <a:p>
            <a:pPr algn="l"/>
            <a:r>
              <a:rPr sz="700" b="0" i="0">
                <a:solidFill>
                  <a:srgbClr val="0C1A28"/>
                </a:solidFill>
                <a:latin typeface="Courier New"/>
              </a:rPr>
              <a:t>6 Rigor                    [1.9, 12.3]              results/rigor/rigor.json :: bootstrap &gt; v2_oos &gt; sharpe_ann_ci95</a:t>
            </a:r>
          </a:p>
          <a:p>
            <a:pPr algn="l"/>
            <a:r>
              <a:rPr sz="700" b="0" i="0">
                <a:solidFill>
                  <a:srgbClr val="0C1A28"/>
                </a:solidFill>
                <a:latin typeface="Courier New"/>
              </a:rPr>
              <a:t>6 Rigor                    40                       results/rigor/rigor.json :: sharpe_moments &gt; v2_oos &gt; T_days</a:t>
            </a:r>
          </a:p>
          <a:p>
            <a:pPr algn="l"/>
            <a:r>
              <a:rPr sz="700" b="0" i="0">
                <a:solidFill>
                  <a:srgbClr val="0C1A28"/>
                </a:solidFill>
                <a:latin typeface="Courier New"/>
              </a:rPr>
              <a:t>6 Rigor                    FAIL                     results/tt/results.json :: TT1 &gt; verdict</a:t>
            </a:r>
          </a:p>
          <a:p>
            <a:pPr algn="l"/>
            <a:r>
              <a:rPr sz="700" b="0" i="0">
                <a:solidFill>
                  <a:srgbClr val="0C1A28"/>
                </a:solidFill>
                <a:latin typeface="Courier New"/>
              </a:rPr>
              <a:t>6 Rigor                    FAIL (no fast tier detec results/tt/results.json :: TT2 &gt; verdict</a:t>
            </a:r>
          </a:p>
          <a:p>
            <a:pPr algn="l"/>
            <a:r>
              <a:rPr sz="700" b="0" i="0">
                <a:solidFill>
                  <a:srgbClr val="0C1A28"/>
                </a:solidFill>
                <a:latin typeface="Courier New"/>
              </a:rPr>
              <a:t>6 Rigor                    FAIL (no trades)         results/tt/results.json :: TT3 &gt; verdict</a:t>
            </a:r>
          </a:p>
          <a:p>
            <a:pPr algn="l"/>
            <a:r>
              <a:rPr sz="700" b="0" i="0">
                <a:solidFill>
                  <a:srgbClr val="0C1A28"/>
                </a:solidFill>
                <a:latin typeface="Courier New"/>
              </a:rPr>
              <a:t>6 Rigor                    PASS                     results/expand/results.json :: primary &gt; u2_is &gt; label</a:t>
            </a:r>
          </a:p>
          <a:p>
            <a:pPr algn="l"/>
            <a:r>
              <a:rPr sz="700" b="0" i="0">
                <a:solidFill>
                  <a:srgbClr val="0C1A28"/>
                </a:solidFill>
                <a:latin typeface="Courier New"/>
              </a:rPr>
              <a:t>6 Rigor                    FAILURE                  results/expand/results.json :: primary &gt; u2_oos &gt; label</a:t>
            </a:r>
          </a:p>
          <a:p>
            <a:pPr algn="l"/>
            <a:r>
              <a:rPr sz="700" b="0" i="0">
                <a:solidFill>
                  <a:srgbClr val="0C1A28"/>
                </a:solidFill>
                <a:latin typeface="Courier New"/>
              </a:rPr>
              <a:t>6 Rigor                    FAILURE                  results/maker/oos.json :: primary &gt; verdict</a:t>
            </a:r>
          </a:p>
          <a:p>
            <a:pPr algn="l"/>
            <a:r>
              <a:rPr sz="700" b="0" i="0">
                <a:solidFill>
                  <a:srgbClr val="0C1A28"/>
                </a:solidFill>
                <a:latin typeface="Courier New"/>
              </a:rPr>
              <a:t>6 Rigor                    pending                  results/v2/forward.json  [verdict_B_v2_book]</a:t>
            </a:r>
          </a:p>
          <a:p>
            <a:pPr algn="l"/>
            <a:r>
              <a:rPr sz="700" b="0" i="0">
                <a:solidFill>
                  <a:srgbClr val="0C1A28"/>
                </a:solidFill>
                <a:latin typeface="Courier New"/>
              </a:rPr>
              <a:t>6 Rigor                    −0.22¢ / −0.52¢; burned  results/tier0_v3/blind.json :: sets &gt; u2_is|u2_oos|burned_oos &gt; primary &gt; per_share_c (+ burned CI)</a:t>
            </a:r>
          </a:p>
          <a:p>
            <a:pPr algn="l"/>
            <a:r>
              <a:rPr sz="700" b="0" i="0">
                <a:solidFill>
                  <a:srgbClr val="0C1A28"/>
                </a:solidFill>
                <a:latin typeface="Courier New"/>
              </a:rPr>
              <a:t>6 Rigor                    FAIL                     results/tier0_v3/blind.json :: verdicts &gt; U2 (primary, test b) &gt; overall; sets &gt; burned_oos &gt; reading &gt; verdict</a:t>
            </a:r>
          </a:p>
        </p:txBody>
      </p:sp>
      <p:sp>
        <p:nvSpPr>
          <p:cNvPr id="6"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7"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28</a:t>
            </a:fld>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1"/>
          <p:cNvSpPr>
            <a:spLocks noGrp="1"/>
          </p:cNvSpPr>
          <p:nvPr>
            <p:ph type="title"/>
          </p:nvPr>
        </p:nvSpPr>
        <p:spPr/>
        <p:txBody>
          <a:bodyPr lIns="0" tIns="0" rIns="0" bIns="0"/>
          <a:lstStyle/>
          <a:p>
            <a:r>
              <a:rPr sz="2600" b="1" i="0">
                <a:solidFill>
                  <a:srgbClr val="0C1A28"/>
                </a:solidFill>
                <a:latin typeface="Arial Narrow" panose="020B0606020202030204" pitchFamily="34" charset="0"/>
              </a:rPr>
              <a:t>Every number on screen, and where it was read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HIDDEN MANIFEST  ·  PAGE 5 OF 12</a:t>
            </a:r>
          </a:p>
        </p:txBody>
      </p:sp>
      <p:sp>
        <p:nvSpPr>
          <p:cNvPr id="5" name="Manifest"/>
          <p:cNvSpPr txBox="1"/>
          <p:nvPr/>
        </p:nvSpPr>
        <p:spPr>
          <a:xfrm>
            <a:off x="548640" y="1554480"/>
            <a:ext cx="11094415" cy="4846320"/>
          </a:xfrm>
          <a:prstGeom prst="rect">
            <a:avLst/>
          </a:prstGeom>
          <a:noFill/>
        </p:spPr>
        <p:txBody>
          <a:bodyPr wrap="square" anchor="t" lIns="0" tIns="0" rIns="0" bIns="0">
            <a:noAutofit/>
          </a:bodyPr>
          <a:lstStyle/>
          <a:p>
            <a:pPr algn="l"/>
            <a:r>
              <a:rPr sz="700" b="0" i="0">
                <a:solidFill>
                  <a:srgbClr val="0C1A28"/>
                </a:solidFill>
                <a:latin typeface="Courier New"/>
              </a:rPr>
              <a:t>6 Rigor                    3/3 months &gt; 0           results/summary.json :: oos &gt; h6_walkforward  [months net30_c &gt; 0]</a:t>
            </a:r>
          </a:p>
          <a:p>
            <a:pPr algn="l"/>
            <a:r>
              <a:rPr sz="700" b="0" i="0">
                <a:solidFill>
                  <a:srgbClr val="0C1A28"/>
                </a:solidFill>
                <a:latin typeface="Courier New"/>
              </a:rPr>
              <a:t>6 Rigor                    +0.60¢                   results/v2/causal.json :: causal/burned_oos/slip0.0 &gt; per_share_c</a:t>
            </a:r>
          </a:p>
          <a:p>
            <a:pPr algn="l"/>
            <a:r>
              <a:rPr sz="700" b="0" i="0">
                <a:solidFill>
                  <a:srgbClr val="0C1A28"/>
                </a:solidFill>
                <a:latin typeface="Courier New"/>
              </a:rPr>
              <a:t>6 Rigor                    [0.09, 1.13]             results/v2/causal.json :: causal/burned_oos/slip0.0 &gt; per_share_ci_c</a:t>
            </a:r>
          </a:p>
          <a:p>
            <a:pPr algn="l"/>
            <a:r>
              <a:rPr sz="700" b="0" i="0">
                <a:solidFill>
                  <a:srgbClr val="0C1A28"/>
                </a:solidFill>
                <a:latin typeface="Courier New"/>
              </a:rPr>
              <a:t>6 Rigor                    −0.34¢                   results/v2/cost_stress.json :: burned_oos/fee_x2 &gt; per_share_c</a:t>
            </a:r>
          </a:p>
          <a:p>
            <a:pPr algn="l"/>
            <a:r>
              <a:rPr sz="700" b="0" i="0">
                <a:solidFill>
                  <a:srgbClr val="0C1A28"/>
                </a:solidFill>
                <a:latin typeface="Courier New"/>
              </a:rPr>
              <a:t>6 Rigor                    [−0.86, 0.19]            results/v2/cost_stress.json :: burned_oos/fee_x2 &gt; per_share_ci_c</a:t>
            </a:r>
          </a:p>
          <a:p>
            <a:pPr algn="l"/>
            <a:r>
              <a:rPr sz="700" b="0" i="0">
                <a:solidFill>
                  <a:srgbClr val="0C1A28"/>
                </a:solidFill>
                <a:latin typeface="Courier New"/>
              </a:rPr>
              <a:t>6 Rigor                    +2.02¢                   results/expand/results.json :: primary &gt; u2_is &gt; per_share_c</a:t>
            </a:r>
          </a:p>
          <a:p>
            <a:pPr algn="l"/>
            <a:r>
              <a:rPr sz="700" b="0" i="0">
                <a:solidFill>
                  <a:srgbClr val="0C1A28"/>
                </a:solidFill>
                <a:latin typeface="Courier New"/>
              </a:rPr>
              <a:t>6 Rigor                    [1.14, 2.93]             results/expand/results.json :: primary &gt; u2_is &gt; per_share_ci_c</a:t>
            </a:r>
          </a:p>
          <a:p>
            <a:pPr algn="l"/>
            <a:r>
              <a:rPr sz="700" b="0" i="0">
                <a:solidFill>
                  <a:srgbClr val="0C1A28"/>
                </a:solidFill>
                <a:latin typeface="Courier New"/>
              </a:rPr>
              <a:t>6 Rigor                    +1.22¢                   results/expand/results.json :: primary &gt; u2_oos &gt; per_share_c</a:t>
            </a:r>
          </a:p>
          <a:p>
            <a:pPr algn="l"/>
            <a:r>
              <a:rPr sz="700" b="0" i="0">
                <a:solidFill>
                  <a:srgbClr val="0C1A28"/>
                </a:solidFill>
                <a:latin typeface="Courier New"/>
              </a:rPr>
              <a:t>6 Rigor                    [−0.19, 2.65]            results/expand/results.json :: primary &gt; u2_oos &gt; per_share_ci_c</a:t>
            </a:r>
          </a:p>
          <a:p>
            <a:pPr algn="l"/>
            <a:r>
              <a:rPr sz="700" b="0" i="0">
                <a:solidFill>
                  <a:srgbClr val="0C1A28"/>
                </a:solidFill>
                <a:latin typeface="Courier New"/>
              </a:rPr>
              <a:t>6 Rigor                    +1.87¢                   results/maker/oos.json :: primary &gt; value_c</a:t>
            </a:r>
          </a:p>
          <a:p>
            <a:pPr algn="l"/>
            <a:r>
              <a:rPr sz="700" b="0" i="0">
                <a:solidFill>
                  <a:srgbClr val="0C1A28"/>
                </a:solidFill>
                <a:latin typeface="Courier New"/>
              </a:rPr>
              <a:t>6 Rigor                    [−0.14, 3.86]            results/maker/oos.json :: primary &gt; ci95_c</a:t>
            </a:r>
          </a:p>
          <a:p>
            <a:pPr algn="l"/>
            <a:r>
              <a:rPr sz="700" b="0" i="0">
                <a:solidFill>
                  <a:srgbClr val="0C1A28"/>
                </a:solidFill>
                <a:latin typeface="Courier New"/>
              </a:rPr>
              <a:t>6 Rigor                    −$379                    results/maker/oos.json :: headline &gt; total_pnl_usd</a:t>
            </a:r>
          </a:p>
          <a:p>
            <a:pPr algn="l"/>
            <a:r>
              <a:rPr sz="700" b="0" i="0">
                <a:solidFill>
                  <a:srgbClr val="0C1A28"/>
                </a:solidFill>
                <a:latin typeface="Courier New"/>
              </a:rPr>
              <a:t>6 Rigor                    2026-10-04 11:30 UTC     HYPOTHESIS_V2.md :: Forward test 'planned ~&lt;date&gt; UTC'</a:t>
            </a:r>
          </a:p>
          <a:p>
            <a:pPr algn="l"/>
            <a:r>
              <a:rPr sz="700" b="0" i="0">
                <a:solidFill>
                  <a:srgbClr val="0C1A28"/>
                </a:solidFill>
                <a:latin typeface="Courier New"/>
              </a:rPr>
              <a:t>6 Rigor                    77                       results/oos_peeks.log  [non-empty lines at build time]</a:t>
            </a:r>
          </a:p>
          <a:p>
            <a:pPr algn="l"/>
            <a:r>
              <a:rPr sz="700" b="0" i="0">
                <a:solidFill>
                  <a:srgbClr val="0C1A28"/>
                </a:solidFill>
                <a:latin typeface="Courier New"/>
              </a:rPr>
              <a:t>7 The 1 s baseline         SIMULATED label          build_deck.py TIER0_LABEL  [must contain SIMULATED, not ex ante, not purchased; checked at build]</a:t>
            </a:r>
          </a:p>
          <a:p>
            <a:pPr algn="l"/>
            <a:r>
              <a:rPr sz="700" b="0" i="0">
                <a:solidFill>
                  <a:srgbClr val="0C1A28"/>
                </a:solidFill>
                <a:latin typeface="Courier New"/>
              </a:rPr>
              <a:t>7 The 1 s baseline         +$15                     results/tier0/latency_sweep.json :: video_own120 &gt; tournament &gt; 1 &gt; IS &gt; usd_per_day</a:t>
            </a:r>
          </a:p>
          <a:p>
            <a:pPr algn="l"/>
            <a:r>
              <a:rPr sz="700" b="0" i="0">
                <a:solidFill>
                  <a:srgbClr val="0C1A28"/>
                </a:solidFill>
                <a:latin typeface="Courier New"/>
              </a:rPr>
              <a:t>7 The 1 s baseline         +$4                      results/tier0/latency_sweep.json :: video_own120 &gt; tournament &gt; 1 &gt; burned_OOS &gt; usd_per_day</a:t>
            </a:r>
          </a:p>
          <a:p>
            <a:pPr algn="l"/>
            <a:r>
              <a:rPr sz="700" b="0" i="0">
                <a:solidFill>
                  <a:srgbClr val="0C1A28"/>
                </a:solidFill>
                <a:latin typeface="Courier New"/>
              </a:rPr>
              <a:t>7 The 1 s baseline         −0.38¢                   results/tier0/latency_sweep.json :: video_own120 &gt; tournament &gt; 1 &gt; burned_OOS &gt; net_c_per_share</a:t>
            </a:r>
          </a:p>
          <a:p>
            <a:pPr algn="l"/>
            <a:r>
              <a:rPr sz="700" b="0" i="0">
                <a:solidFill>
                  <a:srgbClr val="0C1A28"/>
                </a:solidFill>
                <a:latin typeface="Courier New"/>
              </a:rPr>
              <a:t>7 The 1 s baseline         [−2.08, 1.21]            results/tier0/latency_sweep.json :: video_own120 &gt; tournament &gt; 1 &gt; burned_OOS &gt; net_c_per_share_ci95</a:t>
            </a:r>
          </a:p>
          <a:p>
            <a:pPr algn="l"/>
            <a:r>
              <a:rPr sz="700" b="0" i="0">
                <a:solidFill>
                  <a:srgbClr val="0C1A28"/>
                </a:solidFill>
                <a:latin typeface="Courier New"/>
              </a:rPr>
              <a:t>7 The 1 s baseline         1.09 s                   results/tier0/latency_sweep.json :: breakeven_video_delay &gt; tournament &gt; IS &gt; breakeven_V_s_seed_mean_curve</a:t>
            </a:r>
          </a:p>
          <a:p>
            <a:pPr algn="l"/>
            <a:r>
              <a:rPr sz="700" b="0" i="0">
                <a:solidFill>
                  <a:srgbClr val="0C1A28"/>
                </a:solidFill>
                <a:latin typeface="Courier New"/>
              </a:rPr>
              <a:t>7 The 1 s baseline         1.01 s                   results/tier0/latency_sweep.json :: breakeven_video_delay &gt; tournament &gt; burned_OOS &gt; breakeven_V_s_seed_mean_curve</a:t>
            </a:r>
          </a:p>
          <a:p>
            <a:pPr algn="l"/>
            <a:r>
              <a:rPr sz="700" b="0" i="0">
                <a:solidFill>
                  <a:srgbClr val="0C1A28"/>
                </a:solidFill>
                <a:latin typeface="Courier New"/>
              </a:rPr>
              <a:t>7 The 1 s baseline         +$94                     results/tier0/latency_sweep.json :: video_own120 &gt; tournament_lagcal &gt; 1 &gt; IS &gt; usd_per_day</a:t>
            </a:r>
          </a:p>
          <a:p>
            <a:pPr algn="l"/>
            <a:r>
              <a:rPr sz="700" b="0" i="0">
                <a:solidFill>
                  <a:srgbClr val="0C1A28"/>
                </a:solidFill>
                <a:latin typeface="Courier New"/>
              </a:rPr>
              <a:t>7 The 1 s baseline         +$57                     results/tier0/latency_sweep.json :: video_own120 &gt; tournament_lagcal &gt; 1 &gt; burned_OOS &gt; usd_per_day</a:t>
            </a:r>
          </a:p>
          <a:p>
            <a:pPr algn="l"/>
            <a:r>
              <a:rPr sz="700" b="0" i="0">
                <a:solidFill>
                  <a:srgbClr val="0C1A28"/>
                </a:solidFill>
                <a:latin typeface="Courier New"/>
              </a:rPr>
              <a:t>7 The 1 s baseline         3.14 s                   results/tier0/results.json :: timing &gt; calibrated_stamp_lag_s (inference)</a:t>
            </a:r>
          </a:p>
          <a:p>
            <a:pPr algn="l"/>
            <a:r>
              <a:rPr sz="700" b="0" i="0">
                <a:solidFill>
                  <a:srgbClr val="0C1A28"/>
                </a:solidFill>
                <a:latin typeface="Courier New"/>
              </a:rPr>
              <a:t>7 The 1 s baseline         [2.23, 3.22] s           results/redteam/derived.json :: keys &gt; cv.L_boot_ci &gt; value</a:t>
            </a:r>
          </a:p>
          <a:p>
            <a:pPr algn="l"/>
            <a:r>
              <a:rPr sz="700" b="0" i="0">
                <a:solidFill>
                  <a:srgbClr val="0C1A28"/>
                </a:solidFill>
                <a:latin typeface="Courier New"/>
              </a:rPr>
              <a:t>7 The 1 s baseline         −$17                     results/tier0/latency_sweep.json :: video_own120 &gt; stamp_calibrated &gt; 1 &gt; IS &gt; usd_per_day</a:t>
            </a:r>
          </a:p>
          <a:p>
            <a:pPr algn="l"/>
            <a:r>
              <a:rPr sz="700" b="0" i="0">
                <a:solidFill>
                  <a:srgbClr val="0C1A28"/>
                </a:solidFill>
                <a:latin typeface="Courier New"/>
              </a:rPr>
              <a:t>7 The 1 s baseline         −$17                     results/tier0/latency_sweep.json :: video_own120 &gt; stamp_calibrated &gt; 1 &gt; burned_OOS &gt; usd_per_day</a:t>
            </a:r>
          </a:p>
          <a:p>
            <a:pPr algn="l"/>
            <a:r>
              <a:rPr sz="700" b="0" i="0">
                <a:solidFill>
                  <a:srgbClr val="0C1A28"/>
                </a:solidFill>
                <a:latin typeface="Courier New"/>
              </a:rPr>
              <a:t>7 The 1 s baseline         0.34 s                   results/tier0/latency_sweep.json :: breakeven_video_delay &gt; stamp_calibrated &gt; IS &gt; breakeven_V_s_seed_mean_curve</a:t>
            </a:r>
          </a:p>
          <a:p>
            <a:pPr algn="l"/>
            <a:r>
              <a:rPr sz="700" b="0" i="0">
                <a:solidFill>
                  <a:srgbClr val="0C1A28"/>
                </a:solidFill>
                <a:latin typeface="Courier New"/>
              </a:rPr>
              <a:t>7 The 1 s baseline         0.29 s                   results/tier0/latency_sweep.json :: breakeven_video_delay &gt; stamp_calibrated &gt; burned_OOS &gt; breakeven_V_s_seed_mean_curve</a:t>
            </a:r>
          </a:p>
          <a:p>
            <a:pPr algn="l"/>
            <a:r>
              <a:rPr sz="700" b="0" i="0">
                <a:solidFill>
                  <a:srgbClr val="0C1A28"/>
                </a:solidFill>
                <a:latin typeface="Courier New"/>
              </a:rPr>
              <a:t>7 The 1 s baseline         −0.94¢                   results/replay/replay.json :: headline_by_V &gt; V1 &gt; all &gt; per_share_mark_c</a:t>
            </a:r>
          </a:p>
          <a:p>
            <a:pPr algn="l"/>
            <a:r>
              <a:rPr sz="700" b="0" i="0">
                <a:solidFill>
                  <a:srgbClr val="0C1A28"/>
                </a:solidFill>
                <a:latin typeface="Courier New"/>
              </a:rPr>
              <a:t>7 The 1 s baseline         [−1.28, −0.58]           results/replay/replay.json :: headline_by_V &gt; V1 &gt; all &gt; per_share_mark_ci95_c</a:t>
            </a:r>
          </a:p>
          <a:p>
            <a:pPr algn="l"/>
            <a:r>
              <a:rPr sz="700" b="0" i="0">
                <a:solidFill>
                  <a:srgbClr val="0C1A28"/>
                </a:solidFill>
                <a:latin typeface="Courier New"/>
              </a:rPr>
              <a:t>7 The 1 s baseline         36/36                    results/replay/replay.json :: cells  [cells with per_share_mark_c &lt; 0]</a:t>
            </a:r>
          </a:p>
          <a:p>
            <a:pPr algn="l"/>
            <a:r>
              <a:rPr sz="700" b="0" i="0">
                <a:solidFill>
                  <a:srgbClr val="0C1A28"/>
                </a:solidFill>
                <a:latin typeface="Courier New"/>
              </a:rPr>
              <a:t>7 The 1 s baseline         +$46                     results/tier0/latency_sweep.json :: video_own120 &gt; tournament &gt; 0 &gt; burned_OOS &gt; usd_per_day</a:t>
            </a:r>
          </a:p>
          <a:p>
            <a:pPr algn="l"/>
            <a:r>
              <a:rPr sz="700" b="0" i="0">
                <a:solidFill>
                  <a:srgbClr val="0C1A28"/>
                </a:solidFill>
                <a:latin typeface="Courier New"/>
              </a:rPr>
              <a:t>7 The 1 s baseline         +$36                     results/tier0/latency_sweep.json :: video_own120 &gt; tournament &gt; 0.05 &gt; burned_OOS &gt; usd_per_day</a:t>
            </a:r>
          </a:p>
        </p:txBody>
      </p:sp>
      <p:sp>
        <p:nvSpPr>
          <p:cNvPr id="6"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7"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29</a:t>
            </a:fld>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1"/>
          <p:cNvSpPr>
            <a:spLocks noGrp="1"/>
          </p:cNvSpPr>
          <p:nvPr>
            <p:ph type="title"/>
          </p:nvPr>
        </p:nvSpPr>
        <p:spPr/>
        <p:txBody>
          <a:bodyPr lIns="0" tIns="0" rIns="0" bIns="0"/>
          <a:lstStyle/>
          <a:p>
            <a:r>
              <a:rPr sz="2600" b="1" i="0">
                <a:solidFill>
                  <a:srgbClr val="0C1A28"/>
                </a:solidFill>
                <a:latin typeface="Arial Narrow" panose="020B0606020202030204" pitchFamily="34" charset="0"/>
              </a:rPr>
              <a:t>Every number on screen, and where it was read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HIDDEN MANIFEST  ·  PAGE 6 OF 12</a:t>
            </a:r>
          </a:p>
        </p:txBody>
      </p:sp>
      <p:sp>
        <p:nvSpPr>
          <p:cNvPr id="5" name="Manifest"/>
          <p:cNvSpPr txBox="1"/>
          <p:nvPr/>
        </p:nvSpPr>
        <p:spPr>
          <a:xfrm>
            <a:off x="548640" y="1554480"/>
            <a:ext cx="11094415" cy="4846320"/>
          </a:xfrm>
          <a:prstGeom prst="rect">
            <a:avLst/>
          </a:prstGeom>
          <a:noFill/>
        </p:spPr>
        <p:txBody>
          <a:bodyPr wrap="square" anchor="t" lIns="0" tIns="0" rIns="0" bIns="0">
            <a:noAutofit/>
          </a:bodyPr>
          <a:lstStyle/>
          <a:p>
            <a:pPr algn="l"/>
            <a:r>
              <a:rPr sz="700" b="0" i="0">
                <a:solidFill>
                  <a:srgbClr val="0C1A28"/>
                </a:solidFill>
                <a:latin typeface="Courier New"/>
              </a:rPr>
              <a:t>7 The 1 s baseline         +$24                     results/tier0/latency_sweep.json :: video_own120 &gt; tournament &gt; 0.25 &gt; burned_OOS &gt; usd_per_day</a:t>
            </a:r>
          </a:p>
          <a:p>
            <a:pPr algn="l"/>
            <a:r>
              <a:rPr sz="700" b="0" i="0">
                <a:solidFill>
                  <a:srgbClr val="0C1A28"/>
                </a:solidFill>
                <a:latin typeface="Courier New"/>
              </a:rPr>
              <a:t>7 The 1 s baseline         +$15                     results/tier0/latency_sweep.json :: video_own120 &gt; tournament &gt; 0.5 &gt; burned_OOS &gt; usd_per_day</a:t>
            </a:r>
          </a:p>
          <a:p>
            <a:pPr algn="l"/>
            <a:r>
              <a:rPr sz="700" b="0" i="0">
                <a:solidFill>
                  <a:srgbClr val="0C1A28"/>
                </a:solidFill>
                <a:latin typeface="Courier New"/>
              </a:rPr>
              <a:t>7 The 1 s baseline         +$9                      results/tier0/latency_sweep.json :: video_own120 &gt; tournament &gt; 0.75 &gt; burned_OOS &gt; usd_per_day</a:t>
            </a:r>
          </a:p>
          <a:p>
            <a:pPr algn="l"/>
            <a:r>
              <a:rPr sz="700" b="0" i="0">
                <a:solidFill>
                  <a:srgbClr val="0C1A28"/>
                </a:solidFill>
                <a:latin typeface="Courier New"/>
              </a:rPr>
              <a:t>7 The 1 s baseline         −$11                     results/tier0/latency_sweep.json :: video_own120 &gt; tournament &gt; 1.5 &gt; burned_OOS &gt; usd_per_day</a:t>
            </a:r>
          </a:p>
          <a:p>
            <a:pPr algn="l"/>
            <a:r>
              <a:rPr sz="700" b="0" i="0">
                <a:solidFill>
                  <a:srgbClr val="0C1A28"/>
                </a:solidFill>
                <a:latin typeface="Courier New"/>
              </a:rPr>
              <a:t>7 The 1 s baseline         −$11                     results/tier0/latency_sweep.json :: video_own120 &gt; tournament &gt; 2 &gt; burned_OOS &gt; usd_per_day</a:t>
            </a:r>
          </a:p>
          <a:p>
            <a:pPr algn="l"/>
            <a:r>
              <a:rPr sz="700" b="0" i="0">
                <a:solidFill>
                  <a:srgbClr val="0C1A28"/>
                </a:solidFill>
                <a:latin typeface="Courier New"/>
              </a:rPr>
              <a:t>7 The 1 s baseline         −$13                     results/tier0/latency_sweep.json :: video_own120 &gt; tournament &gt; 3 &gt; burned_OOS &gt; usd_per_day</a:t>
            </a:r>
          </a:p>
          <a:p>
            <a:pPr algn="l"/>
            <a:r>
              <a:rPr sz="700" b="0" i="0">
                <a:solidFill>
                  <a:srgbClr val="0C1A28"/>
                </a:solidFill>
                <a:latin typeface="Courier New"/>
              </a:rPr>
              <a:t>7 The 1 s baseline         +$129                    results/tier0/latency_sweep.json :: video_own120 &gt; tournament_lagcal &gt; 0 &gt; burned_OOS &gt; usd_per_day</a:t>
            </a:r>
          </a:p>
          <a:p>
            <a:pPr algn="l"/>
            <a:r>
              <a:rPr sz="700" b="0" i="0">
                <a:solidFill>
                  <a:srgbClr val="0C1A28"/>
                </a:solidFill>
                <a:latin typeface="Courier New"/>
              </a:rPr>
              <a:t>7 The 1 s baseline         +$125                    results/tier0/latency_sweep.json :: video_own120 &gt; tournament_lagcal &gt; 0.05 &gt; burned_OOS &gt; usd_per_day</a:t>
            </a:r>
          </a:p>
          <a:p>
            <a:pPr algn="l"/>
            <a:r>
              <a:rPr sz="700" b="0" i="0">
                <a:solidFill>
                  <a:srgbClr val="0C1A28"/>
                </a:solidFill>
                <a:latin typeface="Courier New"/>
              </a:rPr>
              <a:t>7 The 1 s baseline         +$91                     results/tier0/latency_sweep.json :: video_own120 &gt; tournament_lagcal &gt; 0.25 &gt; burned_OOS &gt; usd_per_day</a:t>
            </a:r>
          </a:p>
          <a:p>
            <a:pPr algn="l"/>
            <a:r>
              <a:rPr sz="700" b="0" i="0">
                <a:solidFill>
                  <a:srgbClr val="0C1A28"/>
                </a:solidFill>
                <a:latin typeface="Courier New"/>
              </a:rPr>
              <a:t>7 The 1 s baseline         +$81                     results/tier0/latency_sweep.json :: video_own120 &gt; tournament_lagcal &gt; 0.5 &gt; burned_OOS &gt; usd_per_day</a:t>
            </a:r>
          </a:p>
          <a:p>
            <a:pPr algn="l"/>
            <a:r>
              <a:rPr sz="700" b="0" i="0">
                <a:solidFill>
                  <a:srgbClr val="0C1A28"/>
                </a:solidFill>
                <a:latin typeface="Courier New"/>
              </a:rPr>
              <a:t>7 The 1 s baseline         +$70                     results/tier0/latency_sweep.json :: video_own120 &gt; tournament_lagcal &gt; 0.75 &gt; burned_OOS &gt; usd_per_day</a:t>
            </a:r>
          </a:p>
          <a:p>
            <a:pPr algn="l"/>
            <a:r>
              <a:rPr sz="700" b="0" i="0">
                <a:solidFill>
                  <a:srgbClr val="0C1A28"/>
                </a:solidFill>
                <a:latin typeface="Courier New"/>
              </a:rPr>
              <a:t>7 The 1 s baseline         +$19                     results/tier0/latency_sweep.json :: video_own120 &gt; tournament_lagcal &gt; 1.5 &gt; burned_OOS &gt; usd_per_day</a:t>
            </a:r>
          </a:p>
          <a:p>
            <a:pPr algn="l"/>
            <a:r>
              <a:rPr sz="700" b="0" i="0">
                <a:solidFill>
                  <a:srgbClr val="0C1A28"/>
                </a:solidFill>
                <a:latin typeface="Courier New"/>
              </a:rPr>
              <a:t>7 The 1 s baseline         +$7                      results/tier0/latency_sweep.json :: video_own120 &gt; tournament_lagcal &gt; 2 &gt; burned_OOS &gt; usd_per_day</a:t>
            </a:r>
          </a:p>
          <a:p>
            <a:pPr algn="l"/>
            <a:r>
              <a:rPr sz="700" b="0" i="0">
                <a:solidFill>
                  <a:srgbClr val="0C1A28"/>
                </a:solidFill>
                <a:latin typeface="Courier New"/>
              </a:rPr>
              <a:t>7 The 1 s baseline         −$11                     results/tier0/latency_sweep.json :: video_own120 &gt; tournament_lagcal &gt; 3 &gt; burned_OOS &gt; usd_per_day</a:t>
            </a:r>
          </a:p>
          <a:p>
            <a:pPr algn="l"/>
            <a:r>
              <a:rPr sz="700" b="0" i="0">
                <a:solidFill>
                  <a:srgbClr val="0C1A28"/>
                </a:solidFill>
                <a:latin typeface="Courier New"/>
              </a:rPr>
              <a:t>7 The 1 s baseline         +$133                    results/tier0/latency_sweep.json :: video_own120 &gt; stamp_calibrated &gt; 0 &gt; burned_OOS &gt; usd_per_day</a:t>
            </a:r>
          </a:p>
          <a:p>
            <a:pPr algn="l"/>
            <a:r>
              <a:rPr sz="700" b="0" i="0">
                <a:solidFill>
                  <a:srgbClr val="0C1A28"/>
                </a:solidFill>
                <a:latin typeface="Courier New"/>
              </a:rPr>
              <a:t>7 The 1 s baseline         +$129                    results/tier0/latency_sweep.json :: video_own120 &gt; stamp_calibrated &gt; 0.05 &gt; burned_OOS &gt; usd_per_day</a:t>
            </a:r>
          </a:p>
          <a:p>
            <a:pPr algn="l"/>
            <a:r>
              <a:rPr sz="700" b="0" i="0">
                <a:solidFill>
                  <a:srgbClr val="0C1A28"/>
                </a:solidFill>
                <a:latin typeface="Courier New"/>
              </a:rPr>
              <a:t>7 The 1 s baseline         +$78                     results/tier0/latency_sweep.json :: video_own120 &gt; stamp_calibrated &gt; 0.25 &gt; burned_OOS &gt; usd_per_day</a:t>
            </a:r>
          </a:p>
          <a:p>
            <a:pPr algn="l"/>
            <a:r>
              <a:rPr sz="700" b="0" i="0">
                <a:solidFill>
                  <a:srgbClr val="0C1A28"/>
                </a:solidFill>
                <a:latin typeface="Courier New"/>
              </a:rPr>
              <a:t>7 The 1 s baseline         −$40                     results/tier0/latency_sweep.json :: video_own120 &gt; stamp_calibrated &gt; 0.5 &gt; burned_OOS &gt; usd_per_day</a:t>
            </a:r>
          </a:p>
          <a:p>
            <a:pPr algn="l"/>
            <a:r>
              <a:rPr sz="700" b="0" i="0">
                <a:solidFill>
                  <a:srgbClr val="0C1A28"/>
                </a:solidFill>
                <a:latin typeface="Courier New"/>
              </a:rPr>
              <a:t>7 The 1 s baseline         −$20                     results/tier0/latency_sweep.json :: video_own120 &gt; stamp_calibrated &gt; 0.75 &gt; burned_OOS &gt; usd_per_day</a:t>
            </a:r>
          </a:p>
          <a:p>
            <a:pPr algn="l"/>
            <a:r>
              <a:rPr sz="700" b="0" i="0">
                <a:solidFill>
                  <a:srgbClr val="0C1A28"/>
                </a:solidFill>
                <a:latin typeface="Courier New"/>
              </a:rPr>
              <a:t>7 The 1 s baseline         −$17                     results/tier0/latency_sweep.json :: video_own120 &gt; stamp_calibrated &gt; 1.5 &gt; burned_OOS &gt; usd_per_day</a:t>
            </a:r>
          </a:p>
          <a:p>
            <a:pPr algn="l"/>
            <a:r>
              <a:rPr sz="700" b="0" i="0">
                <a:solidFill>
                  <a:srgbClr val="0C1A28"/>
                </a:solidFill>
                <a:latin typeface="Courier New"/>
              </a:rPr>
              <a:t>7 The 1 s baseline         −$17                     results/tier0/latency_sweep.json :: video_own120 &gt; stamp_calibrated &gt; 2 &gt; burned_OOS &gt; usd_per_day</a:t>
            </a:r>
          </a:p>
          <a:p>
            <a:pPr algn="l"/>
            <a:r>
              <a:rPr sz="700" b="0" i="0">
                <a:solidFill>
                  <a:srgbClr val="0C1A28"/>
                </a:solidFill>
                <a:latin typeface="Courier New"/>
              </a:rPr>
              <a:t>7 The 1 s baseline         −$17                     results/tier0/latency_sweep.json :: video_own120 &gt; stamp_calibrated &gt; 3 &gt; burned_OOS &gt; usd_per_day</a:t>
            </a:r>
          </a:p>
          <a:p>
            <a:pPr algn="l"/>
            <a:r>
              <a:rPr sz="700" b="0" i="0">
                <a:solidFill>
                  <a:srgbClr val="0C1A28"/>
                </a:solidFill>
                <a:latin typeface="Courier New"/>
              </a:rPr>
              <a:t>7 The 1 s baseline         1.99 s                   results/redteam/derived.json :: keys &gt; cv.L_breakeven.oos &gt; value</a:t>
            </a:r>
          </a:p>
          <a:p>
            <a:pPr algn="l"/>
            <a:r>
              <a:rPr sz="700" b="0" i="0">
                <a:solidFill>
                  <a:srgbClr val="0C1A28"/>
                </a:solidFill>
                <a:latin typeface="Courier New"/>
              </a:rPr>
              <a:t>7 The 1 s baseline         2.98 s                   results/redteam/derived.json :: keys &gt; cv.L_for_low.oos &gt; value</a:t>
            </a:r>
          </a:p>
          <a:p>
            <a:pPr algn="l"/>
            <a:r>
              <a:rPr sz="700" b="0" i="0">
                <a:solidFill>
                  <a:srgbClr val="0C1A28"/>
                </a:solidFill>
                <a:latin typeface="Courier New"/>
              </a:rPr>
              <a:t>7 The 1 s baseline         $1,644                   results/redteam/derived.json :: keys &gt; cv.cal.oos.maxlic &gt; value</a:t>
            </a:r>
          </a:p>
          <a:p>
            <a:pPr algn="l"/>
            <a:r>
              <a:rPr sz="700" b="0" i="0">
                <a:solidFill>
                  <a:srgbClr val="0C1A28"/>
                </a:solidFill>
                <a:latin typeface="Courier New"/>
              </a:rPr>
              <a:t>7 The 1 s baseline         $55                      results/redteam/derived.json :: keys &gt; cv.pre.oos.maxlic &gt; value</a:t>
            </a:r>
          </a:p>
          <a:p>
            <a:pPr algn="l"/>
            <a:r>
              <a:rPr sz="700" b="0" i="0">
                <a:solidFill>
                  <a:srgbClr val="0C1A28"/>
                </a:solidFill>
                <a:latin typeface="Courier New"/>
              </a:rPr>
              <a:t>7 The 1 s baseline         $1,250                   results/financials/financials.json :: cost_assumptions &gt; feed_licence &gt; low</a:t>
            </a:r>
          </a:p>
          <a:p>
            <a:pPr algn="l"/>
            <a:r>
              <a:rPr sz="700" b="0" i="0">
                <a:solidFill>
                  <a:srgbClr val="0C1A28"/>
                </a:solidFill>
                <a:latin typeface="Courier New"/>
              </a:rPr>
              <a:t>7 The 1 s baseline         $10,000                  results/financials/financials.json :: cost_assumptions &gt; feed_licence &gt; high</a:t>
            </a:r>
          </a:p>
          <a:p>
            <a:pPr algn="l"/>
            <a:r>
              <a:rPr sz="700" b="0" i="0">
                <a:solidFill>
                  <a:srgbClr val="0C1A28"/>
                </a:solidFill>
                <a:latin typeface="Courier New"/>
              </a:rPr>
              <a:t>7 The 1 s baseline         −0.22¢                   results/tier0_v3/blind.json :: sets &gt; u2_is &gt; primary &gt; per_share_c</a:t>
            </a:r>
          </a:p>
          <a:p>
            <a:pPr algn="l"/>
            <a:r>
              <a:rPr sz="700" b="0" i="0">
                <a:solidFill>
                  <a:srgbClr val="0C1A28"/>
                </a:solidFill>
                <a:latin typeface="Courier New"/>
              </a:rPr>
              <a:t>7 The 1 s baseline         −0.52¢                   results/tier0_v3/blind.json :: sets &gt; u2_oos &gt; primary &gt; per_share_c</a:t>
            </a:r>
          </a:p>
          <a:p>
            <a:pPr algn="l"/>
            <a:r>
              <a:rPr sz="700" b="0" i="0">
                <a:solidFill>
                  <a:srgbClr val="0C1A28"/>
                </a:solidFill>
                <a:latin typeface="Courier New"/>
              </a:rPr>
              <a:t>7 The 1 s baseline         FAIL                     results/tier0_v3/blind.json :: verdicts &gt; U2 (primary, test b) &gt; overall</a:t>
            </a:r>
          </a:p>
          <a:p>
            <a:pPr algn="l"/>
            <a:r>
              <a:rPr sz="700" b="0" i="0">
                <a:solidFill>
                  <a:srgbClr val="0C1A28"/>
                </a:solidFill>
                <a:latin typeface="Courier New"/>
              </a:rPr>
              <a:t>8 Live engine              60 s                     results/engine/live_market_run.json :: seconds</a:t>
            </a:r>
          </a:p>
          <a:p>
            <a:pPr algn="l"/>
            <a:r>
              <a:rPr sz="700" b="0" i="0">
                <a:solidFill>
                  <a:srgbClr val="0C1A28"/>
                </a:solidFill>
                <a:latin typeface="Courier New"/>
              </a:rPr>
              <a:t>8 Live engine              7,785                    results/engine/live_market_run.json :: feed &gt; msgs</a:t>
            </a:r>
          </a:p>
          <a:p>
            <a:pPr algn="l"/>
            <a:r>
              <a:rPr sz="700" b="0" i="0">
                <a:solidFill>
                  <a:srgbClr val="0C1A28"/>
                </a:solidFill>
                <a:latin typeface="Courier New"/>
              </a:rPr>
              <a:t>8 Live engine              54                       results/engine/live_market_run.json :: feed &gt; assets</a:t>
            </a:r>
          </a:p>
        </p:txBody>
      </p:sp>
      <p:sp>
        <p:nvSpPr>
          <p:cNvPr id="6"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7"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30</a:t>
            </a:fld>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1"/>
          <p:cNvSpPr>
            <a:spLocks noGrp="1"/>
          </p:cNvSpPr>
          <p:nvPr>
            <p:ph type="title"/>
          </p:nvPr>
        </p:nvSpPr>
        <p:spPr/>
        <p:txBody>
          <a:bodyPr lIns="0" tIns="0" rIns="0" bIns="0"/>
          <a:lstStyle/>
          <a:p>
            <a:r>
              <a:rPr sz="2600" b="1" i="0">
                <a:solidFill>
                  <a:srgbClr val="0C1A28"/>
                </a:solidFill>
                <a:latin typeface="Arial Narrow" panose="020B0606020202030204" pitchFamily="34" charset="0"/>
              </a:rPr>
              <a:t>Every number on screen, and where it was read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HIDDEN MANIFEST  ·  PAGE 7 OF 12</a:t>
            </a:r>
          </a:p>
        </p:txBody>
      </p:sp>
      <p:sp>
        <p:nvSpPr>
          <p:cNvPr id="5" name="Manifest"/>
          <p:cNvSpPr txBox="1"/>
          <p:nvPr/>
        </p:nvSpPr>
        <p:spPr>
          <a:xfrm>
            <a:off x="548640" y="1554480"/>
            <a:ext cx="11094415" cy="4846320"/>
          </a:xfrm>
          <a:prstGeom prst="rect">
            <a:avLst/>
          </a:prstGeom>
          <a:noFill/>
        </p:spPr>
        <p:txBody>
          <a:bodyPr wrap="square" anchor="t" lIns="0" tIns="0" rIns="0" bIns="0">
            <a:noAutofit/>
          </a:bodyPr>
          <a:lstStyle/>
          <a:p>
            <a:pPr algn="l"/>
            <a:r>
              <a:rPr sz="700" b="0" i="0">
                <a:solidFill>
                  <a:srgbClr val="0C1A28"/>
                </a:solidFill>
                <a:latin typeface="Courier New"/>
              </a:rPr>
              <a:t>8 Live engine              27                       results/engine/live_market_run.json :: markets_discovered</a:t>
            </a:r>
          </a:p>
          <a:p>
            <a:pPr algn="l"/>
            <a:r>
              <a:rPr sz="700" b="0" i="0">
                <a:solidFill>
                  <a:srgbClr val="0C1A28"/>
                </a:solidFill>
                <a:latin typeface="Courier New"/>
              </a:rPr>
              <a:t>8 Live engine              65                       results/engine/live_market_run.json :: feed &gt; latency &gt; p50_ms</a:t>
            </a:r>
          </a:p>
          <a:p>
            <a:pPr algn="l"/>
            <a:r>
              <a:rPr sz="700" b="0" i="0">
                <a:solidFill>
                  <a:srgbClr val="0C1A28"/>
                </a:solidFill>
                <a:latin typeface="Courier New"/>
              </a:rPr>
              <a:t>8 Live engine              84                       results/engine/live_market_run.json :: feed &gt; latency &gt; p95_ms</a:t>
            </a:r>
          </a:p>
          <a:p>
            <a:pPr algn="l"/>
            <a:r>
              <a:rPr sz="700" b="0" i="0">
                <a:solidFill>
                  <a:srgbClr val="0C1A28"/>
                </a:solidFill>
                <a:latin typeface="Courier New"/>
              </a:rPr>
              <a:t>8 Live engine              123                      results/engine/live_market_run.json :: feed &gt; latency &gt; p99_ms</a:t>
            </a:r>
          </a:p>
          <a:p>
            <a:pPr algn="l"/>
            <a:r>
              <a:rPr sz="700" b="0" i="0">
                <a:solidFill>
                  <a:srgbClr val="0C1A28"/>
                </a:solidFill>
                <a:latin typeface="Courier New"/>
              </a:rPr>
              <a:t>8 Live engine              0                        results/engine/live_market_run.json :: feed &gt; snapshots_mismatched</a:t>
            </a:r>
          </a:p>
          <a:p>
            <a:pPr algn="l"/>
            <a:r>
              <a:rPr sz="700" b="0" i="0">
                <a:solidFill>
                  <a:srgbClr val="0C1A28"/>
                </a:solidFill>
                <a:latin typeface="Courier New"/>
              </a:rPr>
              <a:t>8 Live engine              8                        results/engine/live_market_run.json :: feed &gt; snapshots_checked</a:t>
            </a:r>
          </a:p>
          <a:p>
            <a:pPr algn="l"/>
            <a:r>
              <a:rPr sz="700" b="0" i="0">
                <a:solidFill>
                  <a:srgbClr val="0C1A28"/>
                </a:solidFill>
                <a:latin typeface="Courier New"/>
              </a:rPr>
              <a:t>8 Live engine              0                        results/engine/live_market_run.json :: feed &gt; gaps</a:t>
            </a:r>
          </a:p>
          <a:p>
            <a:pPr algn="l"/>
            <a:r>
              <a:rPr sz="700" b="0" i="0">
                <a:solidFill>
                  <a:srgbClr val="0C1A28"/>
                </a:solidFill>
                <a:latin typeface="Courier New"/>
              </a:rPr>
              <a:t>8 Live engine              0                        results/engine/live_market_run.json :: reconnects</a:t>
            </a:r>
          </a:p>
          <a:p>
            <a:pPr algn="l"/>
            <a:r>
              <a:rPr sz="700" b="0" i="0">
                <a:solidFill>
                  <a:srgbClr val="0C1A28"/>
                </a:solidFill>
                <a:latin typeface="Courier New"/>
              </a:rPr>
              <a:t>8 Live engine              2 / 34                   results/engine/live_market_run.json :: what_if_tally  [sum SEND* / SKIP*]</a:t>
            </a:r>
          </a:p>
          <a:p>
            <a:pPr algn="l"/>
            <a:r>
              <a:rPr sz="700" b="0" i="0">
                <a:solidFill>
                  <a:srgbClr val="0C1A28"/>
                </a:solidFill>
                <a:latin typeface="Courier New"/>
              </a:rPr>
              <a:t>8 Live engine              0                        results/engine/live_market_run.json :: orders_sent</a:t>
            </a:r>
          </a:p>
          <a:p>
            <a:pPr algn="l"/>
            <a:r>
              <a:rPr sz="700" b="0" i="0">
                <a:solidFill>
                  <a:srgbClr val="0C1A28"/>
                </a:solidFill>
                <a:latin typeface="Courier New"/>
              </a:rPr>
              <a:t>8 Live engine              PAPER TRADING - LIVE MAR results/live/summary.json :: label</a:t>
            </a:r>
          </a:p>
          <a:p>
            <a:pPr algn="l"/>
            <a:r>
              <a:rPr sz="700" b="0" i="0">
                <a:solidFill>
                  <a:srgbClr val="0C1A28"/>
                </a:solidFill>
                <a:latin typeface="Courier New"/>
              </a:rPr>
              <a:t>8 Live engine              FINISHED                 results/live/summary.json :: status, run, started_process, now, counters  [+ STOPPED_&lt;run&gt; marker and file age; 1970 'now' or…</a:t>
            </a:r>
          </a:p>
          <a:p>
            <a:pPr algn="l"/>
            <a:r>
              <a:rPr sz="700" b="0" i="0">
                <a:solidFill>
                  <a:srgbClr val="0C1A28"/>
                </a:solidFill>
                <a:latin typeface="Courier New"/>
              </a:rPr>
              <a:t>8 Live engine              final                    results/live/summary.json :: status</a:t>
            </a:r>
          </a:p>
          <a:p>
            <a:pPr algn="l"/>
            <a:r>
              <a:rPr sz="700" b="0" i="0">
                <a:solidFill>
                  <a:srgbClr val="0C1A28"/>
                </a:solidFill>
                <a:latin typeface="Courier New"/>
              </a:rPr>
              <a:t>8 Live engine              20261003T204812Z         results/live/summary.json :: run</a:t>
            </a:r>
          </a:p>
          <a:p>
            <a:pPr algn="l"/>
            <a:r>
              <a:rPr sz="700" b="0" i="0">
                <a:solidFill>
                  <a:srgbClr val="0C1A28"/>
                </a:solidFill>
                <a:latin typeface="Courier New"/>
              </a:rPr>
              <a:t>8 Live engine              2026-10-03 20:48 UTC     results/live/summary.json :: started_process</a:t>
            </a:r>
          </a:p>
          <a:p>
            <a:pPr algn="l"/>
            <a:r>
              <a:rPr sz="700" b="0" i="0">
                <a:solidFill>
                  <a:srgbClr val="0C1A28"/>
                </a:solidFill>
                <a:latin typeface="Courier New"/>
              </a:rPr>
              <a:t>8 Live engine              2026-10-04 02:18 UTC     results/live/summary.json :: now  [file modification time when now is 1970]</a:t>
            </a:r>
          </a:p>
          <a:p>
            <a:pPr algn="l"/>
            <a:r>
              <a:rPr sz="700" b="0" i="0">
                <a:solidFill>
                  <a:srgbClr val="0C1A28"/>
                </a:solidFill>
                <a:latin typeface="Courier New"/>
              </a:rPr>
              <a:t>8 Live engine              0                        results/live/summary.json :: books &gt; B1 &gt; fills</a:t>
            </a:r>
          </a:p>
          <a:p>
            <a:pPr algn="l"/>
            <a:r>
              <a:rPr sz="700" b="0" i="0">
                <a:solidFill>
                  <a:srgbClr val="0C1A28"/>
                </a:solidFill>
                <a:latin typeface="Courier New"/>
              </a:rPr>
              <a:t>8 Live engine              +$0.00                   results/live/summary.json :: books &gt; B1 &gt; pnl</a:t>
            </a:r>
          </a:p>
          <a:p>
            <a:pPr algn="l"/>
            <a:r>
              <a:rPr sz="700" b="0" i="0">
                <a:solidFill>
                  <a:srgbClr val="0C1A28"/>
                </a:solidFill>
                <a:latin typeface="Courier New"/>
              </a:rPr>
              <a:t>8 Live engine              0                        results/live/summary.json :: books &gt; CTRL-taker &gt; fills</a:t>
            </a:r>
          </a:p>
          <a:p>
            <a:pPr algn="l"/>
            <a:r>
              <a:rPr sz="700" b="0" i="0">
                <a:solidFill>
                  <a:srgbClr val="0C1A28"/>
                </a:solidFill>
                <a:latin typeface="Courier New"/>
              </a:rPr>
              <a:t>8 Live engine              $10,000                  results/live/summary.json :: capital_per_book</a:t>
            </a:r>
          </a:p>
          <a:p>
            <a:pPr algn="l"/>
            <a:r>
              <a:rPr sz="700" b="0" i="0">
                <a:solidFill>
                  <a:srgbClr val="0C1A28"/>
                </a:solidFill>
                <a:latin typeface="Courier New"/>
              </a:rPr>
              <a:t>8 Live engine              133,717                  results/live/summary.json :: counters  [sum msg_*]</a:t>
            </a:r>
          </a:p>
          <a:p>
            <a:pPr algn="l"/>
            <a:r>
              <a:rPr sz="700" b="0" i="0">
                <a:solidFill>
                  <a:srgbClr val="0C1A28"/>
                </a:solidFill>
                <a:latin typeface="Courier New"/>
              </a:rPr>
              <a:t>8 Live engine              4                        results/live/summary.json :: matches_in_play</a:t>
            </a:r>
          </a:p>
          <a:p>
            <a:pPr algn="l"/>
            <a:r>
              <a:rPr sz="700" b="0" i="0">
                <a:solidFill>
                  <a:srgbClr val="0C1A28"/>
                </a:solidFill>
                <a:latin typeface="Courier New"/>
              </a:rPr>
              <a:t>8 Live engine              4.6 ms                   results/engine/online_vs_offline.json :: headline &gt; fp16_cl_fuse_compile_b1_realtime &gt; stream &gt; after_startup &gt; call_ready_ms…</a:t>
            </a:r>
          </a:p>
          <a:p>
            <a:pPr algn="l"/>
            <a:r>
              <a:rPr sz="700" b="0" i="0">
                <a:solidFill>
                  <a:srgbClr val="0C1A28"/>
                </a:solidFill>
                <a:latin typeface="Courier New"/>
              </a:rPr>
              <a:t>8 Live engine              1,000 ms                 results/e2e/summary.json :: budget_with_1s_simulated_feed &gt; feed_simulated_ms</a:t>
            </a:r>
          </a:p>
          <a:p>
            <a:pPr algn="l"/>
            <a:r>
              <a:rPr sz="700" b="0" i="0">
                <a:solidFill>
                  <a:srgbClr val="0C1A28"/>
                </a:solidFill>
                <a:latin typeface="Courier New"/>
              </a:rPr>
              <a:t>8 Live engine              54 ms                    results/e2e/summary.json :: budget_with_1s_simulated_feed &gt; ours_capture_to_order_ready_ms &gt; p50</a:t>
            </a:r>
          </a:p>
          <a:p>
            <a:pPr algn="l"/>
            <a:r>
              <a:rPr sz="700" b="0" i="0">
                <a:solidFill>
                  <a:srgbClr val="0C1A28"/>
                </a:solidFill>
                <a:latin typeface="Courier New"/>
              </a:rPr>
              <a:t>8 Live engine              65 ms                    results/e2e/summary.json :: budget_with_1s_simulated_feed &gt; network_one_way_ms &gt; p50</a:t>
            </a:r>
          </a:p>
          <a:p>
            <a:pPr algn="l"/>
            <a:r>
              <a:rPr sz="700" b="0" i="0">
                <a:solidFill>
                  <a:srgbClr val="0C1A28"/>
                </a:solidFill>
                <a:latin typeface="Courier New"/>
              </a:rPr>
              <a:t>8 Live engine              1,000 ms                 results/e2e/summary.json :: budget_with_1s_simulated_feed &gt; venue_delay_ms &gt; p50</a:t>
            </a:r>
          </a:p>
          <a:p>
            <a:pPr algn="l"/>
            <a:r>
              <a:rPr sz="700" b="0" i="0">
                <a:solidFill>
                  <a:srgbClr val="0C1A28"/>
                </a:solidFill>
                <a:latin typeface="Courier New"/>
              </a:rPr>
              <a:t>8 Live engine              2,119 ms                 results/e2e/summary.json :: budget_with_1s_simulated_feed &gt; total_ms &gt; p50</a:t>
            </a:r>
          </a:p>
          <a:p>
            <a:pPr algn="l"/>
            <a:r>
              <a:rPr sz="700" b="0" i="0">
                <a:solidFill>
                  <a:srgbClr val="0C1A28"/>
                </a:solidFill>
                <a:latin typeface="Courier New"/>
              </a:rPr>
              <a:t>8 Live engine              24                       results/e2e/summary.json :: our_pipeline_frame_to_order_ready_ms &gt; n</a:t>
            </a:r>
          </a:p>
          <a:p>
            <a:pPr algn="l"/>
            <a:r>
              <a:rPr sz="700" b="0" i="0">
                <a:solidFill>
                  <a:srgbClr val="0C1A28"/>
                </a:solidFill>
                <a:latin typeface="Courier New"/>
              </a:rPr>
              <a:t>8 Live engine              CV fed at 10 frames/s, e results/e2e/summary.json :: budget_with_1s_simulated_feed &gt; conditions</a:t>
            </a:r>
          </a:p>
          <a:p>
            <a:pPr algn="l"/>
            <a:r>
              <a:rPr sz="700" b="0" i="0">
                <a:solidFill>
                  <a:srgbClr val="0C1A28"/>
                </a:solidFill>
                <a:latin typeface="Courier New"/>
              </a:rPr>
              <a:t>9 Risk + liquidity + finan $1,000                   results/engine/demo_run.json :: risk_config &gt; max_order_usd</a:t>
            </a:r>
          </a:p>
          <a:p>
            <a:pPr algn="l"/>
            <a:r>
              <a:rPr sz="700" b="0" i="0">
                <a:solidFill>
                  <a:srgbClr val="0C1A28"/>
                </a:solidFill>
                <a:latin typeface="Courier New"/>
              </a:rPr>
              <a:t>9 Risk + liquidity + finan 100                      results/engine/demo_run.json :: risk_config &gt; net_cap_shares</a:t>
            </a:r>
          </a:p>
          <a:p>
            <a:pPr algn="l"/>
            <a:r>
              <a:rPr sz="700" b="0" i="0">
                <a:solidFill>
                  <a:srgbClr val="0C1A28"/>
                </a:solidFill>
                <a:latin typeface="Courier New"/>
              </a:rPr>
              <a:t>9 Risk + liquidity + finan 0.05–0.95                results/engine/demo_run.json :: risk_config &gt; zone</a:t>
            </a:r>
          </a:p>
          <a:p>
            <a:pPr algn="l"/>
            <a:r>
              <a:rPr sz="700" b="0" i="0">
                <a:solidFill>
                  <a:srgbClr val="0C1A28"/>
                </a:solidFill>
                <a:latin typeface="Courier New"/>
              </a:rPr>
              <a:t>9 Risk + liquidity + finan $1,000                   results/engine/demo_run.json :: risk_config &gt; daily_stop_usd</a:t>
            </a:r>
          </a:p>
        </p:txBody>
      </p:sp>
      <p:sp>
        <p:nvSpPr>
          <p:cNvPr id="6"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7"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31</a:t>
            </a:fld>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1"/>
          <p:cNvSpPr>
            <a:spLocks noGrp="1"/>
          </p:cNvSpPr>
          <p:nvPr>
            <p:ph type="title"/>
          </p:nvPr>
        </p:nvSpPr>
        <p:spPr/>
        <p:txBody>
          <a:bodyPr lIns="0" tIns="0" rIns="0" bIns="0"/>
          <a:lstStyle/>
          <a:p>
            <a:r>
              <a:rPr sz="2600" b="1" i="0">
                <a:solidFill>
                  <a:srgbClr val="0C1A28"/>
                </a:solidFill>
                <a:latin typeface="Arial Narrow" panose="020B0606020202030204" pitchFamily="34" charset="0"/>
              </a:rPr>
              <a:t>Every number on screen, and where it was read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HIDDEN MANIFEST  ·  PAGE 8 OF 12</a:t>
            </a:r>
          </a:p>
        </p:txBody>
      </p:sp>
      <p:sp>
        <p:nvSpPr>
          <p:cNvPr id="5" name="Manifest"/>
          <p:cNvSpPr txBox="1"/>
          <p:nvPr/>
        </p:nvSpPr>
        <p:spPr>
          <a:xfrm>
            <a:off x="548640" y="1554480"/>
            <a:ext cx="11094415" cy="4846320"/>
          </a:xfrm>
          <a:prstGeom prst="rect">
            <a:avLst/>
          </a:prstGeom>
          <a:noFill/>
        </p:spPr>
        <p:txBody>
          <a:bodyPr wrap="square" anchor="t" lIns="0" tIns="0" rIns="0" bIns="0">
            <a:noAutofit/>
          </a:bodyPr>
          <a:lstStyle/>
          <a:p>
            <a:pPr algn="l"/>
            <a:r>
              <a:rPr sz="700" b="0" i="0">
                <a:solidFill>
                  <a:srgbClr val="0C1A28"/>
                </a:solidFill>
                <a:latin typeface="Courier New"/>
              </a:rPr>
              <a:t>9 Risk + liquidity + finan 2 s                      results/engine/demo_run.json :: risk_config &gt; feed_stale_ms</a:t>
            </a:r>
          </a:p>
          <a:p>
            <a:pPr algn="l"/>
            <a:r>
              <a:rPr sz="700" b="0" i="0">
                <a:solidFill>
                  <a:srgbClr val="0C1A28"/>
                </a:solidFill>
                <a:latin typeface="Courier New"/>
              </a:rPr>
              <a:t>9 Risk + liquidity + finan 1 s                      results/engine/demo_run.json :: risk_config &gt; vision_stale_ms</a:t>
            </a:r>
          </a:p>
          <a:p>
            <a:pPr algn="l"/>
            <a:r>
              <a:rPr sz="700" b="0" i="0">
                <a:solidFill>
                  <a:srgbClr val="0C1A28"/>
                </a:solidFill>
                <a:latin typeface="Courier New"/>
              </a:rPr>
              <a:t>9 Risk + liquidity + finan $11.17                   results/risk/risk_stats.json :: liquidity_capital &gt; is_eval &gt; usd_per_trade_quantiles &gt; 0.5</a:t>
            </a:r>
          </a:p>
          <a:p>
            <a:pPr algn="l"/>
            <a:r>
              <a:rPr sz="700" b="0" i="0">
                <a:solidFill>
                  <a:srgbClr val="0C1A28"/>
                </a:solidFill>
                <a:latin typeface="Courier New"/>
              </a:rPr>
              <a:t>9 Risk + liquidity + finan $28.3k                   results/v2/causal.json :: causal/is_eval/slip0.0 &gt; capital_usd</a:t>
            </a:r>
          </a:p>
          <a:p>
            <a:pPr algn="l"/>
            <a:r>
              <a:rPr sz="700" b="0" i="0">
                <a:solidFill>
                  <a:srgbClr val="0C1A28"/>
                </a:solidFill>
                <a:latin typeface="Courier New"/>
              </a:rPr>
              <a:t>9 Risk + liquidity + finan $9.4k                    results/v2/causal.json :: causal/is_eval/slip0.0 &gt; peak_locked_usd</a:t>
            </a:r>
          </a:p>
          <a:p>
            <a:pPr algn="l"/>
            <a:r>
              <a:rPr sz="700" b="0" i="0">
                <a:solidFill>
                  <a:srgbClr val="0C1A28"/>
                </a:solidFill>
                <a:latin typeface="Courier New"/>
              </a:rPr>
              <a:t>9 Risk + liquidity + finan $7.2k                    results/v2/note_metrics.json :: is &gt; usd_traded_per_day</a:t>
            </a:r>
          </a:p>
          <a:p>
            <a:pPr algn="l"/>
            <a:r>
              <a:rPr sz="700" b="0" i="0">
                <a:solidFill>
                  <a:srgbClr val="0C1A28"/>
                </a:solidFill>
                <a:latin typeface="Courier New"/>
              </a:rPr>
              <a:t>9 Risk + liquidity + finan 18.1%                    results/risk/risk_stats.json :: liquidity_capital &gt; v2_share_of_fast_tier_usd_is_pct  [max over months]</a:t>
            </a:r>
          </a:p>
          <a:p>
            <a:pPr algn="l"/>
            <a:r>
              <a:rPr sz="700" b="0" i="0">
                <a:solidFill>
                  <a:srgbClr val="0C1A28"/>
                </a:solidFill>
                <a:latin typeface="Courier New"/>
              </a:rPr>
              <a:t>9 Risk + liquidity + finan $82.3k                   results/financials/financials.json :: strategies &gt; v2 &gt; ceiling &gt; IS &gt; fast_tier_qualified_print_usd_per_day</a:t>
            </a:r>
          </a:p>
          <a:p>
            <a:pPr algn="l"/>
            <a:r>
              <a:rPr sz="700" b="0" i="0">
                <a:solidFill>
                  <a:srgbClr val="0C1A28"/>
                </a:solidFill>
                <a:latin typeface="Courier New"/>
              </a:rPr>
              <a:t>9 Risk + liquidity + finan 41.7%                    results/risk/risk_stats.json :: concentration &gt; is_eval &gt; wallet &gt; top1_share_of_net_pct</a:t>
            </a:r>
          </a:p>
          <a:p>
            <a:pPr algn="l"/>
            <a:r>
              <a:rPr sz="700" b="0" i="0">
                <a:solidFill>
                  <a:srgbClr val="0C1A28"/>
                </a:solidFill>
                <a:latin typeface="Courier New"/>
              </a:rPr>
              <a:t>9 Risk + liquidity + finan $22.8k–$33.9k            results/alpha/alpha.json :: headline &gt; oos_capital_capacity_usd</a:t>
            </a:r>
          </a:p>
          <a:p>
            <a:pPr algn="l"/>
            <a:r>
              <a:rPr sz="700" b="0" i="0">
                <a:solidFill>
                  <a:srgbClr val="0C1A28"/>
                </a:solidFill>
                <a:latin typeface="Courier New"/>
              </a:rPr>
              <a:t>9 Risk + liquidity + finan $13.8k–$22.6k            results/redteam/derived.json :: keys &gt; cv.pre.oos.cap / cv.cal.oos.cap  [latency_sweep.csv capital_usd at V = 1]</a:t>
            </a:r>
          </a:p>
          <a:p>
            <a:pPr algn="l"/>
            <a:r>
              <a:rPr sz="700" b="0" i="0">
                <a:solidFill>
                  <a:srgbClr val="0C1A28"/>
                </a:solidFill>
                <a:latin typeface="Courier New"/>
              </a:rPr>
              <a:t>9 Risk + liquidity + finan +$196                    results/financials/financials.json :: headline &gt; 0 &gt; net_trading_usd_per_day  [row v2 ( / IS]</a:t>
            </a:r>
          </a:p>
          <a:p>
            <a:pPr algn="l"/>
            <a:r>
              <a:rPr sz="700" b="0" i="0">
                <a:solidFill>
                  <a:srgbClr val="0C1A28"/>
                </a:solidFill>
                <a:latin typeface="Courier New"/>
              </a:rPr>
              <a:t>9 Risk + liquidity + finan $167                     results/financials/financials.json :: headline &gt; 0 &gt; fixed_cost_usd_per_day &gt; central  [row v2 ( / IS]</a:t>
            </a:r>
          </a:p>
          <a:p>
            <a:pPr algn="l"/>
            <a:r>
              <a:rPr sz="700" b="0" i="0">
                <a:solidFill>
                  <a:srgbClr val="0C1A28"/>
                </a:solidFill>
                <a:latin typeface="Courier New"/>
              </a:rPr>
              <a:t>9 Risk + liquidity + finan +$29                     results/financials/financials.json :: headline &gt; 0 &gt; net_after_costs_usd_per_day &gt; central  [row v2 ( / IS]</a:t>
            </a:r>
          </a:p>
          <a:p>
            <a:pPr algn="l"/>
            <a:r>
              <a:rPr sz="700" b="0" i="0">
                <a:solidFill>
                  <a:srgbClr val="0C1A28"/>
                </a:solidFill>
                <a:latin typeface="Courier New"/>
              </a:rPr>
              <a:t>9 Risk + liquidity + finan +$179                    results/financials/financials.json :: headline &gt; 1 &gt; net_trading_usd_per_day  [row v2 ( / IS, current 1 s / 5% regime only]</a:t>
            </a:r>
          </a:p>
          <a:p>
            <a:pPr algn="l"/>
            <a:r>
              <a:rPr sz="700" b="0" i="0">
                <a:solidFill>
                  <a:srgbClr val="0C1A28"/>
                </a:solidFill>
                <a:latin typeface="Courier New"/>
              </a:rPr>
              <a:t>9 Risk + liquidity + finan $167                     results/financials/financials.json :: headline &gt; 1 &gt; fixed_cost_usd_per_day &gt; central  [row v2 ( / IS, current 1 s / 5% regim…</a:t>
            </a:r>
          </a:p>
          <a:p>
            <a:pPr algn="l"/>
            <a:r>
              <a:rPr sz="700" b="0" i="0">
                <a:solidFill>
                  <a:srgbClr val="0C1A28"/>
                </a:solidFill>
                <a:latin typeface="Courier New"/>
              </a:rPr>
              <a:t>9 Risk + liquidity + finan +$12                     results/financials/financials.json :: headline &gt; 1 &gt; net_after_costs_usd_per_day &gt; central  [row v2 ( / IS, current 1 s / 5% …</a:t>
            </a:r>
          </a:p>
          <a:p>
            <a:pPr algn="l"/>
            <a:r>
              <a:rPr sz="700" b="0" i="0">
                <a:solidFill>
                  <a:srgbClr val="0C1A28"/>
                </a:solidFill>
                <a:latin typeface="Courier New"/>
              </a:rPr>
              <a:t>9 Risk + liquidity + finan +$92                     results/financials/financials.json :: headline &gt; 2 &gt; net_trading_usd_per_day  [row v2 ( / OOS (burned, non-blind)]</a:t>
            </a:r>
          </a:p>
          <a:p>
            <a:pPr algn="l"/>
            <a:r>
              <a:rPr sz="700" b="0" i="0">
                <a:solidFill>
                  <a:srgbClr val="0C1A28"/>
                </a:solidFill>
                <a:latin typeface="Courier New"/>
              </a:rPr>
              <a:t>9 Risk + liquidity + finan $167                     results/financials/financials.json :: headline &gt; 2 &gt; fixed_cost_usd_per_day &gt; central  [row v2 ( / OOS (burned, non-blind)]</a:t>
            </a:r>
          </a:p>
          <a:p>
            <a:pPr algn="l"/>
            <a:r>
              <a:rPr sz="700" b="0" i="0">
                <a:solidFill>
                  <a:srgbClr val="0C1A28"/>
                </a:solidFill>
                <a:latin typeface="Courier New"/>
              </a:rPr>
              <a:t>9 Risk + liquidity + finan −$75                     results/financials/financials.json :: headline &gt; 2 &gt; net_after_costs_usd_per_day &gt; central  [row v2 ( / OOS (burned, non-blin…</a:t>
            </a:r>
          </a:p>
          <a:p>
            <a:pPr algn="l"/>
            <a:r>
              <a:rPr sz="700" b="0" i="0">
                <a:solidFill>
                  <a:srgbClr val="0C1A28"/>
                </a:solidFill>
                <a:latin typeface="Courier New"/>
              </a:rPr>
              <a:t>9 Risk + liquidity + finan −$9                      results/financials/financials.json :: headline &gt; 13 &gt; net_trading_usd_per_day  [row Maker / OOS (blind)]</a:t>
            </a:r>
          </a:p>
          <a:p>
            <a:pPr algn="l"/>
            <a:r>
              <a:rPr sz="700" b="0" i="0">
                <a:solidFill>
                  <a:srgbClr val="0C1A28"/>
                </a:solidFill>
                <a:latin typeface="Courier New"/>
              </a:rPr>
              <a:t>9 Risk + liquidity + finan $3                       results/financials/financials.json :: headline &gt; 13 &gt; fixed_cost_usd_per_day &gt; central  [row Maker / OOS (blind)]</a:t>
            </a:r>
          </a:p>
          <a:p>
            <a:pPr algn="l"/>
            <a:r>
              <a:rPr sz="700" b="0" i="0">
                <a:solidFill>
                  <a:srgbClr val="0C1A28"/>
                </a:solidFill>
                <a:latin typeface="Courier New"/>
              </a:rPr>
              <a:t>9 Risk + liquidity + finan −$12                     results/financials/financials.json :: headline &gt; 13 &gt; net_after_costs_usd_per_day &gt; central  [row Maker / OOS (blind)]</a:t>
            </a:r>
          </a:p>
          <a:p>
            <a:pPr algn="l"/>
            <a:r>
              <a:rPr sz="700" b="0" i="0">
                <a:solidFill>
                  <a:srgbClr val="0C1A28"/>
                </a:solidFill>
                <a:latin typeface="Courier New"/>
              </a:rPr>
              <a:t>9 Risk + liquidity + finan +4 / +57                 results/redteam/derived.json :: keys &gt; cv.pre.oos.usd / cv.cal.oos.usd</a:t>
            </a:r>
          </a:p>
          <a:p>
            <a:pPr algn="l"/>
            <a:r>
              <a:rPr sz="700" b="0" i="0">
                <a:solidFill>
                  <a:srgbClr val="0C1A28"/>
                </a:solidFill>
                <a:latin typeface="Courier New"/>
              </a:rPr>
              <a:t>9 Risk + liquidity + finan $167                     results/redteam/derived.json :: keys &gt; fin.cost.central_day</a:t>
            </a:r>
          </a:p>
          <a:p>
            <a:pPr algn="l"/>
            <a:r>
              <a:rPr sz="700" b="0" i="0">
                <a:solidFill>
                  <a:srgbClr val="0C1A28"/>
                </a:solidFill>
                <a:latin typeface="Courier New"/>
              </a:rPr>
              <a:t>9 Risk + liquidity + finan −163 / −110              results/redteam/derived.json :: keys &gt; cv.pre.oos.net_central / cv.cal.oos.net_central</a:t>
            </a:r>
          </a:p>
          <a:p>
            <a:pPr algn="l"/>
            <a:r>
              <a:rPr sz="700" b="0" i="0">
                <a:solidFill>
                  <a:srgbClr val="0C1A28"/>
                </a:solidFill>
                <a:latin typeface="Courier New"/>
              </a:rPr>
              <a:t>9 Risk + liquidity + finan $5,000                   results/financials/financials.json :: cost_assumptions &gt; feed_licence &gt; central</a:t>
            </a:r>
          </a:p>
          <a:p>
            <a:pPr algn="l"/>
            <a:r>
              <a:rPr sz="700" b="0" i="0">
                <a:solidFill>
                  <a:srgbClr val="0C1A28"/>
                </a:solidFill>
                <a:latin typeface="Courier New"/>
              </a:rPr>
              <a:t>9 Risk + liquidity + finan $1,644                   results/redteam/derived.json :: keys &gt; cv.cal.oos.maxlic &gt; value</a:t>
            </a:r>
          </a:p>
          <a:p>
            <a:pPr algn="l"/>
            <a:r>
              <a:rPr sz="700" b="0" i="0">
                <a:solidFill>
                  <a:srgbClr val="0C1A28"/>
                </a:solidFill>
                <a:latin typeface="Courier New"/>
              </a:rPr>
              <a:t>9 Risk + liquidity + finan $55                      results/redteam/derived.json :: keys &gt; cv.pre.oos.maxlic &gt; value</a:t>
            </a:r>
          </a:p>
          <a:p>
            <a:pPr algn="l"/>
            <a:r>
              <a:rPr sz="700" b="0" i="0">
                <a:solidFill>
                  <a:srgbClr val="0C1A28"/>
                </a:solidFill>
                <a:latin typeface="Courier New"/>
              </a:rPr>
              <a:t>9 Risk + liquidity + finan $1,250                   results/financials/financials.json :: cost_assumptions &gt; feed_licence &gt; low</a:t>
            </a:r>
          </a:p>
          <a:p>
            <a:pPr algn="l"/>
            <a:r>
              <a:rPr sz="700" b="0" i="0">
                <a:solidFill>
                  <a:srgbClr val="0C1A28"/>
                </a:solidFill>
                <a:latin typeface="Courier New"/>
              </a:rPr>
              <a:t>9 Risk + liquidity + finan $10,000                  results/financials/financials.json :: cost_assumptions &gt; feed_licence &gt; high</a:t>
            </a:r>
          </a:p>
          <a:p>
            <a:pPr algn="l"/>
            <a:r>
              <a:rPr sz="700" b="0" i="0">
                <a:solidFill>
                  <a:srgbClr val="0C1A28"/>
                </a:solidFill>
                <a:latin typeface="Courier New"/>
              </a:rPr>
              <a:t>10 Close                   2026-10-04 11:30 UTC     HYPOTHESIS_V2.md :: Forward test 'planned ~&lt;date&gt; UTC'</a:t>
            </a:r>
          </a:p>
          <a:p>
            <a:pPr algn="l"/>
            <a:r>
              <a:rPr sz="700" b="0" i="0">
                <a:solidFill>
                  <a:srgbClr val="0C1A28"/>
                </a:solidFill>
                <a:latin typeface="Courier New"/>
              </a:rPr>
              <a:t>10 Close                   pending                  results/v2/forward.json  [forward test]</a:t>
            </a:r>
          </a:p>
          <a:p>
            <a:pPr algn="l"/>
            <a:r>
              <a:rPr sz="700" b="0" i="0">
                <a:solidFill>
                  <a:srgbClr val="0C1A28"/>
                </a:solidFill>
                <a:latin typeface="Courier New"/>
              </a:rPr>
              <a:t>10 Close                   finished (started 2026-1 results/live/summary.json :: status, run, started_process, now, counters  [+ STOPPED_&lt;run&gt; marker and file age; 1970 'now' or…</a:t>
            </a:r>
          </a:p>
        </p:txBody>
      </p:sp>
      <p:sp>
        <p:nvSpPr>
          <p:cNvPr id="6"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7"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32</a:t>
            </a:fld>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1"/>
          <p:cNvSpPr>
            <a:spLocks noGrp="1"/>
          </p:cNvSpPr>
          <p:nvPr>
            <p:ph type="title"/>
          </p:nvPr>
        </p:nvSpPr>
        <p:spPr/>
        <p:txBody>
          <a:bodyPr lIns="0" tIns="0" rIns="0" bIns="0"/>
          <a:lstStyle/>
          <a:p>
            <a:r>
              <a:rPr sz="2600" b="1" i="0">
                <a:solidFill>
                  <a:srgbClr val="0C1A28"/>
                </a:solidFill>
                <a:latin typeface="Arial Narrow" panose="020B0606020202030204" pitchFamily="34" charset="0"/>
              </a:rPr>
              <a:t>Every number on screen, and where it was read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HIDDEN MANIFEST  ·  PAGE 9 OF 12</a:t>
            </a:r>
          </a:p>
        </p:txBody>
      </p:sp>
      <p:sp>
        <p:nvSpPr>
          <p:cNvPr id="5" name="Manifest"/>
          <p:cNvSpPr txBox="1"/>
          <p:nvPr/>
        </p:nvSpPr>
        <p:spPr>
          <a:xfrm>
            <a:off x="548640" y="1554480"/>
            <a:ext cx="11094415" cy="4846320"/>
          </a:xfrm>
          <a:prstGeom prst="rect">
            <a:avLst/>
          </a:prstGeom>
          <a:noFill/>
        </p:spPr>
        <p:txBody>
          <a:bodyPr wrap="square" anchor="t" lIns="0" tIns="0" rIns="0" bIns="0">
            <a:noAutofit/>
          </a:bodyPr>
          <a:lstStyle/>
          <a:p>
            <a:pPr algn="l"/>
            <a:r>
              <a:rPr sz="700" b="0" i="0">
                <a:solidFill>
                  <a:srgbClr val="0C1A28"/>
                </a:solidFill>
                <a:latin typeface="Courier New"/>
              </a:rPr>
              <a:t>10 Close                   v2 (frozen fast-tier boo results/financials/financials.json :: pending</a:t>
            </a:r>
          </a:p>
          <a:p>
            <a:pPr algn="l"/>
            <a:r>
              <a:rPr sz="700" b="0" i="0">
                <a:solidFill>
                  <a:srgbClr val="0C1A28"/>
                </a:solidFill>
                <a:latin typeface="Courier New"/>
              </a:rPr>
              <a:t>11 Q1                      +0.10¢                   results/v2/causal.json :: causal/burned_oos/slip0.005 &gt; per_share_c</a:t>
            </a:r>
          </a:p>
          <a:p>
            <a:pPr algn="l"/>
            <a:r>
              <a:rPr sz="700" b="0" i="0">
                <a:solidFill>
                  <a:srgbClr val="0C1A28"/>
                </a:solidFill>
                <a:latin typeface="Courier New"/>
              </a:rPr>
              <a:t>11 Q1                      [−0.41, 0.63]            results/v2/causal.json :: causal/burned_oos/slip0.005 &gt; per_share_ci_c</a:t>
            </a:r>
          </a:p>
          <a:p>
            <a:pPr algn="l"/>
            <a:r>
              <a:rPr sz="700" b="0" i="0">
                <a:solidFill>
                  <a:srgbClr val="0C1A28"/>
                </a:solidFill>
                <a:latin typeface="Courier New"/>
              </a:rPr>
              <a:t>11 Q1                      11/11                    results/summary.json :: is &gt; h6_walkforward (months before universe &gt; oos_start) + oos &gt; h6_walkforward  [follow_res_c &lt; 0]</a:t>
            </a:r>
          </a:p>
          <a:p>
            <a:pPr algn="l"/>
            <a:r>
              <a:rPr sz="700" b="0" i="0">
                <a:solidFill>
                  <a:srgbClr val="0C1A28"/>
                </a:solidFill>
                <a:latin typeface="Courier New"/>
              </a:rPr>
              <a:t>12 Q2                      −$36.1k                  results/summary.json :: oos &gt; h6_shadow &gt; total_pnl_usd</a:t>
            </a:r>
          </a:p>
          <a:p>
            <a:pPr algn="l"/>
            <a:r>
              <a:rPr sz="700" b="0" i="0">
                <a:solidFill>
                  <a:srgbClr val="0C1A28"/>
                </a:solidFill>
                <a:latin typeface="Courier New"/>
              </a:rPr>
              <a:t>12 Q2                      2026-10-03 10:42 UTC     results/oos_peeks.log  [first line timestamp]</a:t>
            </a:r>
          </a:p>
          <a:p>
            <a:pPr algn="l"/>
            <a:r>
              <a:rPr sz="700" b="0" i="0">
                <a:solidFill>
                  <a:srgbClr val="0C1A28"/>
                </a:solidFill>
                <a:latin typeface="Courier New"/>
              </a:rPr>
              <a:t>12 Q2                      +2.02¢                   results/expand/results.json :: primary &gt; u2_is &gt; per_share_c</a:t>
            </a:r>
          </a:p>
          <a:p>
            <a:pPr algn="l"/>
            <a:r>
              <a:rPr sz="700" b="0" i="0">
                <a:solidFill>
                  <a:srgbClr val="0C1A28"/>
                </a:solidFill>
                <a:latin typeface="Courier New"/>
              </a:rPr>
              <a:t>12 Q2                      [1.14, 2.93]             results/expand/results.json :: primary &gt; u2_is &gt; per_share_ci_c</a:t>
            </a:r>
          </a:p>
          <a:p>
            <a:pPr algn="l"/>
            <a:r>
              <a:rPr sz="700" b="0" i="0">
                <a:solidFill>
                  <a:srgbClr val="0C1A28"/>
                </a:solidFill>
                <a:latin typeface="Courier New"/>
              </a:rPr>
              <a:t>12 Q2                      +1.22¢                   results/expand/results.json :: primary &gt; u2_oos &gt; per_share_c</a:t>
            </a:r>
          </a:p>
          <a:p>
            <a:pPr algn="l"/>
            <a:r>
              <a:rPr sz="700" b="0" i="0">
                <a:solidFill>
                  <a:srgbClr val="0C1A28"/>
                </a:solidFill>
                <a:latin typeface="Courier New"/>
              </a:rPr>
              <a:t>12 Q2                      [−0.19, 2.65]            results/expand/results.json :: primary &gt; u2_oos &gt; per_share_ci_c</a:t>
            </a:r>
          </a:p>
          <a:p>
            <a:pPr algn="l"/>
            <a:r>
              <a:rPr sz="700" b="0" i="0">
                <a:solidFill>
                  <a:srgbClr val="0C1A28"/>
                </a:solidFill>
                <a:latin typeface="Courier New"/>
              </a:rPr>
              <a:t>12 Q2                      11,307                   results/expand/results.json :: universe &gt; u2_markets</a:t>
            </a:r>
          </a:p>
          <a:p>
            <a:pPr algn="l"/>
            <a:r>
              <a:rPr sz="700" b="0" i="0">
                <a:solidFill>
                  <a:srgbClr val="0C1A28"/>
                </a:solidFill>
                <a:latin typeface="Courier New"/>
              </a:rPr>
              <a:t>12 Q2                      77                       results/oos_peeks.log  [non-empty lines]</a:t>
            </a:r>
          </a:p>
          <a:p>
            <a:pPr algn="l"/>
            <a:r>
              <a:rPr sz="700" b="0" i="0">
                <a:solidFill>
                  <a:srgbClr val="0C1A28"/>
                </a:solidFill>
                <a:latin typeface="Courier New"/>
              </a:rPr>
              <a:t>12 Q2                      2026-10-04 11:30 UTC     HYPOTHESIS_V2.md :: Forward test 'planned ~&lt;date&gt; UTC'</a:t>
            </a:r>
          </a:p>
          <a:p>
            <a:pPr algn="l"/>
            <a:r>
              <a:rPr sz="700" b="0" i="0">
                <a:solidFill>
                  <a:srgbClr val="0C1A28"/>
                </a:solidFill>
                <a:latin typeface="Courier New"/>
              </a:rPr>
              <a:t>13 Q3                      16.8                     results/summary.json :: v2_onset_superseded &gt; is_eval &gt; sharpe_ann</a:t>
            </a:r>
          </a:p>
          <a:p>
            <a:pPr algn="l"/>
            <a:r>
              <a:rPr sz="700" b="0" i="0">
                <a:solidFill>
                  <a:srgbClr val="0C1A28"/>
                </a:solidFill>
                <a:latin typeface="Courier New"/>
              </a:rPr>
              <a:t>13 Q3                      14.5                     results/v2/causal.json :: causal/is_eval/slip0.0 &gt; sharpe_ann</a:t>
            </a:r>
          </a:p>
          <a:p>
            <a:pPr algn="l"/>
            <a:r>
              <a:rPr sz="700" b="0" i="0">
                <a:solidFill>
                  <a:srgbClr val="0C1A28"/>
                </a:solidFill>
                <a:latin typeface="Courier New"/>
              </a:rPr>
              <a:t>13 Q3                      270                      results/v2/causal.json :: causal/is_eval/slip0.0  [n_trades / days]</a:t>
            </a:r>
          </a:p>
          <a:p>
            <a:pPr algn="l"/>
            <a:r>
              <a:rPr sz="700" b="0" i="0">
                <a:solidFill>
                  <a:srgbClr val="0C1A28"/>
                </a:solidFill>
                <a:latin typeface="Courier New"/>
              </a:rPr>
              <a:t>13 Q3                      0.53                     results/v2/note_metrics.json :: is &gt; skew</a:t>
            </a:r>
          </a:p>
          <a:p>
            <a:pPr algn="l"/>
            <a:r>
              <a:rPr sz="700" b="0" i="0">
                <a:solidFill>
                  <a:srgbClr val="0C1A28"/>
                </a:solidFill>
                <a:latin typeface="Courier New"/>
              </a:rPr>
              <a:t>13 Q3                      4.3                      results/v2/note_metrics.json :: is &gt; kurtosis_pearson</a:t>
            </a:r>
          </a:p>
          <a:p>
            <a:pPr algn="l"/>
            <a:r>
              <a:rPr sz="700" b="0" i="0">
                <a:solidFill>
                  <a:srgbClr val="0C1A28"/>
                </a:solidFill>
                <a:latin typeface="Courier New"/>
              </a:rPr>
              <a:t>13 Q3                      −1.9%                    results/v2/note_metrics.json :: is &gt; worst_day_pct</a:t>
            </a:r>
          </a:p>
          <a:p>
            <a:pPr algn="l"/>
            <a:r>
              <a:rPr sz="700" b="0" i="0">
                <a:solidFill>
                  <a:srgbClr val="0C1A28"/>
                </a:solidFill>
                <a:latin typeface="Courier New"/>
              </a:rPr>
              <a:t>13 Q3                      9.8                      results/v2/causal.json :: causal/is_eval/slip0.005 &gt; sharpe_ann</a:t>
            </a:r>
          </a:p>
          <a:p>
            <a:pPr algn="l"/>
            <a:r>
              <a:rPr sz="700" b="0" i="0">
                <a:solidFill>
                  <a:srgbClr val="0C1A28"/>
                </a:solidFill>
                <a:latin typeface="Courier New"/>
              </a:rPr>
              <a:t>13 Q3                      4.3                      results/v2/causal.json :: causal/is_eval/slip0.01 &gt; sharpe_ann</a:t>
            </a:r>
          </a:p>
          <a:p>
            <a:pPr algn="l"/>
            <a:r>
              <a:rPr sz="700" b="0" i="0">
                <a:solidFill>
                  <a:srgbClr val="0C1A28"/>
                </a:solidFill>
                <a:latin typeface="Courier New"/>
              </a:rPr>
              <a:t>13 Q3                      3.0                      results/v2/note_metrics.json :: is &gt; costs_x2_sharpe</a:t>
            </a:r>
          </a:p>
          <a:p>
            <a:pPr algn="l"/>
            <a:r>
              <a:rPr sz="700" b="0" i="0">
                <a:solidFill>
                  <a:srgbClr val="0C1A28"/>
                </a:solidFill>
                <a:latin typeface="Courier New"/>
              </a:rPr>
              <a:t>13 Q3                      6.7                      results/v2/causal.json :: causal/burned_oos/slip0.0 &gt; sharpe_ann</a:t>
            </a:r>
          </a:p>
          <a:p>
            <a:pPr algn="l"/>
            <a:r>
              <a:rPr sz="700" b="0" i="0">
                <a:solidFill>
                  <a:srgbClr val="0C1A28"/>
                </a:solidFill>
                <a:latin typeface="Courier New"/>
              </a:rPr>
              <a:t>13 Q3                      [1.9, 12.3]              results/rigor/rigor.json :: bootstrap &gt; v2_oos &gt; sharpe_ann_ci95</a:t>
            </a:r>
          </a:p>
          <a:p>
            <a:pPr algn="l"/>
            <a:r>
              <a:rPr sz="700" b="0" i="0">
                <a:solidFill>
                  <a:srgbClr val="0C1A28"/>
                </a:solidFill>
                <a:latin typeface="Courier New"/>
              </a:rPr>
              <a:t>13 Q3                      100                      results/engine/demo_run.json :: risk_config &gt; net_cap_shares</a:t>
            </a:r>
          </a:p>
          <a:p>
            <a:pPr algn="l"/>
            <a:r>
              <a:rPr sz="700" b="0" i="0">
                <a:solidFill>
                  <a:srgbClr val="0C1A28"/>
                </a:solidFill>
                <a:latin typeface="Courier New"/>
              </a:rPr>
              <a:t>14 Q4                      120 bps                  results/v2/note_metrics.json :: is &gt; fee_bps_of_notional</a:t>
            </a:r>
          </a:p>
          <a:p>
            <a:pPr algn="l"/>
            <a:r>
              <a:rPr sz="700" b="0" i="0">
                <a:solidFill>
                  <a:srgbClr val="0C1A28"/>
                </a:solidFill>
                <a:latin typeface="Courier New"/>
              </a:rPr>
              <a:t>14 Q4                      179 bps                  results/v2/note_metrics.json :: burned_oos &gt; fee_bps_of_notional</a:t>
            </a:r>
          </a:p>
          <a:p>
            <a:pPr algn="l"/>
            <a:r>
              <a:rPr sz="700" b="0" i="0">
                <a:solidFill>
                  <a:srgbClr val="0C1A28"/>
                </a:solidFill>
                <a:latin typeface="Courier New"/>
              </a:rPr>
              <a:t>14 Q4                      +0.77¢                   results/v2/cost_stress.json :: is_eval/fee_x2 &gt; per_share_c</a:t>
            </a:r>
          </a:p>
          <a:p>
            <a:pPr algn="l"/>
            <a:r>
              <a:rPr sz="700" b="0" i="0">
                <a:solidFill>
                  <a:srgbClr val="0C1A28"/>
                </a:solidFill>
                <a:latin typeface="Courier New"/>
              </a:rPr>
              <a:t>14 Q4                      7/7                      results/v2/cost_stress.json :: is_eval/fee_x2  [months_positive/months_total]</a:t>
            </a:r>
          </a:p>
          <a:p>
            <a:pPr algn="l"/>
            <a:r>
              <a:rPr sz="700" b="0" i="0">
                <a:solidFill>
                  <a:srgbClr val="0C1A28"/>
                </a:solidFill>
                <a:latin typeface="Courier New"/>
              </a:rPr>
              <a:t>14 Q4                      −0.34¢                   results/v2/cost_stress.json :: burned_oos/fee_x2 &gt; per_share_c</a:t>
            </a:r>
          </a:p>
          <a:p>
            <a:pPr algn="l"/>
            <a:r>
              <a:rPr sz="700" b="0" i="0">
                <a:solidFill>
                  <a:srgbClr val="0C1A28"/>
                </a:solidFill>
                <a:latin typeface="Courier New"/>
              </a:rPr>
              <a:t>14 Q4                      [−0.86, 0.19]            results/v2/cost_stress.json :: burned_oos/fee_x2 &gt; per_share_ci_c</a:t>
            </a:r>
          </a:p>
          <a:p>
            <a:pPr algn="l"/>
            <a:r>
              <a:rPr sz="700" b="0" i="0">
                <a:solidFill>
                  <a:srgbClr val="0C1A28"/>
                </a:solidFill>
                <a:latin typeface="Courier New"/>
              </a:rPr>
              <a:t>14 Q4                      0/3                      results/v2/cost_stress.json :: burned_oos/fee_x2  [months_positive/months_total]</a:t>
            </a:r>
          </a:p>
          <a:p>
            <a:pPr algn="l"/>
            <a:r>
              <a:rPr sz="700" b="0" i="0">
                <a:solidFill>
                  <a:srgbClr val="0C1A28"/>
                </a:solidFill>
                <a:latin typeface="Courier New"/>
              </a:rPr>
              <a:t>14 Q4                      +0.27¢                   results/v2/cost_stress.json :: is_eval/costs_x2 &gt; per_share_c</a:t>
            </a:r>
          </a:p>
          <a:p>
            <a:pPr algn="l"/>
            <a:r>
              <a:rPr sz="700" b="0" i="0">
                <a:solidFill>
                  <a:srgbClr val="0C1A28"/>
                </a:solidFill>
                <a:latin typeface="Courier New"/>
              </a:rPr>
              <a:t>14 Q4                      −0.84¢                   results/v2/cost_stress.json :: burned_oos/costs_x2 &gt; per_share_c</a:t>
            </a:r>
          </a:p>
        </p:txBody>
      </p:sp>
      <p:sp>
        <p:nvSpPr>
          <p:cNvPr id="6"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7"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33</a:t>
            </a:fld>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1"/>
          <p:cNvSpPr>
            <a:spLocks noGrp="1"/>
          </p:cNvSpPr>
          <p:nvPr>
            <p:ph type="title"/>
          </p:nvPr>
        </p:nvSpPr>
        <p:spPr/>
        <p:txBody>
          <a:bodyPr lIns="0" tIns="0" rIns="0" bIns="0"/>
          <a:lstStyle/>
          <a:p>
            <a:r>
              <a:rPr sz="2600" b="1" i="0">
                <a:solidFill>
                  <a:srgbClr val="0C1A28"/>
                </a:solidFill>
                <a:latin typeface="Arial Narrow" panose="020B0606020202030204" pitchFamily="34" charset="0"/>
              </a:rPr>
              <a:t>Every number on screen, and where it was read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HIDDEN MANIFEST  ·  PAGE 10 OF 12</a:t>
            </a:r>
          </a:p>
        </p:txBody>
      </p:sp>
      <p:sp>
        <p:nvSpPr>
          <p:cNvPr id="5" name="Manifest"/>
          <p:cNvSpPr txBox="1"/>
          <p:nvPr/>
        </p:nvSpPr>
        <p:spPr>
          <a:xfrm>
            <a:off x="548640" y="1554480"/>
            <a:ext cx="11094415" cy="4846320"/>
          </a:xfrm>
          <a:prstGeom prst="rect">
            <a:avLst/>
          </a:prstGeom>
          <a:noFill/>
        </p:spPr>
        <p:txBody>
          <a:bodyPr wrap="square" anchor="t" lIns="0" tIns="0" rIns="0" bIns="0">
            <a:noAutofit/>
          </a:bodyPr>
          <a:lstStyle/>
          <a:p>
            <a:pPr algn="l"/>
            <a:r>
              <a:rPr sz="700" b="0" i="0">
                <a:solidFill>
                  <a:srgbClr val="0C1A28"/>
                </a:solidFill>
                <a:latin typeface="Courier New"/>
              </a:rPr>
              <a:t>14 Q4                      8.2%                     results/financials/financials.json :: strategies &gt; v2 &gt; periods &gt; OOS &gt; breakeven_taker_fee &gt; rate_before_fixed_costs</a:t>
            </a:r>
          </a:p>
          <a:p>
            <a:pPr algn="l"/>
            <a:r>
              <a:rPr sz="700" b="0" i="0">
                <a:solidFill>
                  <a:srgbClr val="0C1A28"/>
                </a:solidFill>
                <a:latin typeface="Courier New"/>
              </a:rPr>
              <a:t>15 Q5                      $2.84B                   results/summary.json :: universe &gt; volume_usd</a:t>
            </a:r>
          </a:p>
          <a:p>
            <a:pPr algn="l"/>
            <a:r>
              <a:rPr sz="700" b="0" i="0">
                <a:solidFill>
                  <a:srgbClr val="0C1A28"/>
                </a:solidFill>
                <a:latin typeface="Courier New"/>
              </a:rPr>
              <a:t>15 Q5                      0                        results/engine/live_market_run.json :: orders_sent</a:t>
            </a:r>
          </a:p>
          <a:p>
            <a:pPr algn="l"/>
            <a:r>
              <a:rPr sz="700" b="0" i="0">
                <a:solidFill>
                  <a:srgbClr val="0C1A28"/>
                </a:solidFill>
                <a:latin typeface="Courier New"/>
              </a:rPr>
              <a:t>16 Q6                      11/11                    results/summary.json :: is &gt; h6_walkforward (months before universe &gt; oos_start) + oos &gt; h6_walkforward  [net30_c &gt; 0]</a:t>
            </a:r>
          </a:p>
          <a:p>
            <a:pPr algn="l"/>
            <a:r>
              <a:rPr sz="700" b="0" i="0">
                <a:solidFill>
                  <a:srgbClr val="0C1A28"/>
                </a:solidFill>
                <a:latin typeface="Courier New"/>
              </a:rPr>
              <a:t>16 Q6                      4                        results/summary.json :: is &gt; h6_walkforward (months before universe &gt; oos_start) + oos &gt; h6_walkforward  [first month n_walle…</a:t>
            </a:r>
          </a:p>
          <a:p>
            <a:pPr algn="l"/>
            <a:r>
              <a:rPr sz="700" b="0" i="0">
                <a:solidFill>
                  <a:srgbClr val="0C1A28"/>
                </a:solidFill>
                <a:latin typeface="Courier New"/>
              </a:rPr>
              <a:t>16 Q6                      131                      results/summary.json :: is &gt; h6_walkforward (months before universe &gt; oos_start) + oos &gt; h6_walkforward  [last month n_wallet…</a:t>
            </a:r>
          </a:p>
          <a:p>
            <a:pPr algn="l"/>
            <a:r>
              <a:rPr sz="700" b="0" i="0">
                <a:solidFill>
                  <a:srgbClr val="0C1A28"/>
                </a:solidFill>
                <a:latin typeface="Courier New"/>
              </a:rPr>
              <a:t>16 Q6                      +2.0¢                    results/summary.json :: is &gt; h6_walkforward (months before universe &gt; oos_start) + oos &gt; h6_walkforward  [first month net30_c]</a:t>
            </a:r>
          </a:p>
          <a:p>
            <a:pPr algn="l"/>
            <a:r>
              <a:rPr sz="700" b="0" i="0">
                <a:solidFill>
                  <a:srgbClr val="0C1A28"/>
                </a:solidFill>
                <a:latin typeface="Courier New"/>
              </a:rPr>
              <a:t>16 Q6                      +0.4¢                    results/summary.json :: is &gt; h6_walkforward (months before universe &gt; oos_start) + oos &gt; h6_walkforward  [last month net30_c]</a:t>
            </a:r>
          </a:p>
          <a:p>
            <a:pPr algn="l"/>
            <a:r>
              <a:rPr sz="700" b="0" i="0">
                <a:solidFill>
                  <a:srgbClr val="0C1A28"/>
                </a:solidFill>
                <a:latin typeface="Courier New"/>
              </a:rPr>
              <a:t>16 Q6                      +3.09¢                   results/expand/results.json :: fast_minus_others_u2 &gt; u2_is &gt; fast_minus_others_c</a:t>
            </a:r>
          </a:p>
          <a:p>
            <a:pPr algn="l"/>
            <a:r>
              <a:rPr sz="700" b="0" i="0">
                <a:solidFill>
                  <a:srgbClr val="0C1A28"/>
                </a:solidFill>
                <a:latin typeface="Courier New"/>
              </a:rPr>
              <a:t>16 Q6                      +2.16¢                   results/expand/results.json :: fast_minus_others_u2 &gt; u2_oos &gt; fast_minus_others_c</a:t>
            </a:r>
          </a:p>
          <a:p>
            <a:pPr algn="l"/>
            <a:r>
              <a:rPr sz="700" b="0" i="0">
                <a:solidFill>
                  <a:srgbClr val="0C1A28"/>
                </a:solidFill>
                <a:latin typeface="Courier New"/>
              </a:rPr>
              <a:t>16 Q6                      [1.79, 2.53]             results/expand/results.json :: fast_minus_others_u2 &gt; u2_oos &gt; ci_c</a:t>
            </a:r>
          </a:p>
          <a:p>
            <a:pPr algn="l"/>
            <a:r>
              <a:rPr sz="700" b="0" i="0">
                <a:solidFill>
                  <a:srgbClr val="0C1A28"/>
                </a:solidFill>
                <a:latin typeface="Courier New"/>
              </a:rPr>
              <a:t>16 Q6                      3.1 s                    results/tier0/results.json :: timing &gt; calibrated_stamp_lag_s (inference)</a:t>
            </a:r>
          </a:p>
          <a:p>
            <a:pPr algn="l"/>
            <a:r>
              <a:rPr sz="700" b="0" i="0">
                <a:solidFill>
                  <a:srgbClr val="0C1A28"/>
                </a:solidFill>
                <a:latin typeface="Courier New"/>
              </a:rPr>
              <a:t>17 Q7                      3,410                    results/rigor/rigor.json :: psr_dsr &gt; N &gt; all_plus_v2safe_grid  [NOTE section 8 counts 3,386; plus the 24-variant v2-safe gri…</a:t>
            </a:r>
          </a:p>
          <a:p>
            <a:pPr algn="l"/>
            <a:r>
              <a:rPr sz="700" b="0" i="0">
                <a:solidFill>
                  <a:srgbClr val="0C1A28"/>
                </a:solidFill>
                <a:latin typeface="Courier New"/>
              </a:rPr>
              <a:t>17 Q7                      44                       results/rigor/rigor.json :: psr_dsr &gt; N &gt; H1_H6</a:t>
            </a:r>
          </a:p>
          <a:p>
            <a:pPr algn="l"/>
            <a:r>
              <a:rPr sz="700" b="0" i="0">
                <a:solidFill>
                  <a:srgbClr val="0C1A28"/>
                </a:solidFill>
                <a:latin typeface="Courier New"/>
              </a:rPr>
              <a:t>17 Q7                      40                       results/rigor/rigor.json :: sharpe_moments &gt; v2_oos &gt; T_days</a:t>
            </a:r>
          </a:p>
          <a:p>
            <a:pPr algn="l"/>
            <a:r>
              <a:rPr sz="700" b="0" i="0">
                <a:solidFill>
                  <a:srgbClr val="0C1A28"/>
                </a:solidFill>
                <a:latin typeface="Courier New"/>
              </a:rPr>
              <a:t>17 Q7                      0.997                    results/rigor/rigor.json :: psr_dsr &gt; rows &gt; [series=v2_is] &gt; dsr_min_N3410</a:t>
            </a:r>
          </a:p>
          <a:p>
            <a:pPr algn="l"/>
            <a:r>
              <a:rPr sz="700" b="0" i="0">
                <a:solidFill>
                  <a:srgbClr val="0C1A28"/>
                </a:solidFill>
                <a:latin typeface="Courier New"/>
              </a:rPr>
              <a:t>17 Q7                      0.481                    results/rigor/rigor.json :: psr_dsr &gt; rows &gt; [series=v2_oos] &gt; dsr_min_N44</a:t>
            </a:r>
          </a:p>
          <a:p>
            <a:pPr algn="l"/>
            <a:r>
              <a:rPr sz="700" b="0" i="0">
                <a:solidFill>
                  <a:srgbClr val="0C1A28"/>
                </a:solidFill>
                <a:latin typeface="Courier New"/>
              </a:rPr>
              <a:t>17 Q7                      0.075                    results/rigor/rigor.json :: psr_dsr &gt; rows &gt; [series=v2_oos] &gt; dsr_min_N3410</a:t>
            </a:r>
          </a:p>
          <a:p>
            <a:pPr algn="l"/>
            <a:r>
              <a:rPr sz="700" b="0" i="0">
                <a:solidFill>
                  <a:srgbClr val="0C1A28"/>
                </a:solidFill>
                <a:latin typeface="Courier New"/>
              </a:rPr>
              <a:t>17 Q7                      0.0%                     results/rigor/rigor.json :: pbo_cscv &gt; sizing_55_res_actual_sharpe &gt; pbo</a:t>
            </a:r>
          </a:p>
          <a:p>
            <a:pPr algn="l"/>
            <a:r>
              <a:rPr sz="700" b="0" i="0">
                <a:solidFill>
                  <a:srgbClr val="0C1A28"/>
                </a:solidFill>
                <a:latin typeface="Courier New"/>
              </a:rPr>
              <a:t>17 Q7                      15.4%                    results/rigor/rigor.json :: pbo_cscv &gt; lowloss_24_sharpe &gt; pbo</a:t>
            </a:r>
          </a:p>
          <a:p>
            <a:pPr algn="l"/>
            <a:r>
              <a:rPr sz="700" b="0" i="0">
                <a:solidFill>
                  <a:srgbClr val="0C1A28"/>
                </a:solidFill>
                <a:latin typeface="Courier New"/>
              </a:rPr>
              <a:t>17 Q7                      42.0%                    results/rigor/rigor.json :: pbo_cscv &gt; lowloss_24_selection_rule &gt; pbo</a:t>
            </a:r>
          </a:p>
          <a:p>
            <a:pPr algn="l"/>
            <a:r>
              <a:rPr sz="700" b="0" i="0">
                <a:solidFill>
                  <a:srgbClr val="0C1A28"/>
                </a:solidFill>
                <a:latin typeface="Courier New"/>
              </a:rPr>
              <a:t>18 Q8                      2,617                    results/v2/note_metrics.json :: holdout &gt; oos_matches</a:t>
            </a:r>
          </a:p>
          <a:p>
            <a:pPr algn="l"/>
            <a:r>
              <a:rPr sz="700" b="0" i="0">
                <a:solidFill>
                  <a:srgbClr val="0C1A28"/>
                </a:solidFill>
                <a:latin typeface="Courier New"/>
              </a:rPr>
              <a:t>18 Q8                      13,084                   results/v2/note_metrics.json :: holdout &gt; matches</a:t>
            </a:r>
          </a:p>
          <a:p>
            <a:pPr algn="l"/>
            <a:r>
              <a:rPr sz="700" b="0" i="0">
                <a:solidFill>
                  <a:srgbClr val="0C1A28"/>
                </a:solidFill>
                <a:latin typeface="Courier New"/>
              </a:rPr>
              <a:t>18 Q8                      21%                      results/v2/note_metrics.json :: holdout &gt; oos_share_of_volume</a:t>
            </a:r>
          </a:p>
          <a:p>
            <a:pPr algn="l"/>
            <a:r>
              <a:rPr sz="700" b="0" i="0">
                <a:solidFill>
                  <a:srgbClr val="0C1A28"/>
                </a:solidFill>
                <a:latin typeface="Courier New"/>
              </a:rPr>
              <a:t>18 Q8                      38.7                     results/v2/note_metrics.json :: holdout &gt; oos_days</a:t>
            </a:r>
          </a:p>
          <a:p>
            <a:pPr algn="l"/>
            <a:r>
              <a:rPr sz="700" b="0" i="0">
                <a:solidFill>
                  <a:srgbClr val="0C1A28"/>
                </a:solidFill>
                <a:latin typeface="Courier New"/>
              </a:rPr>
              <a:t>18 Q8                      40                       results/v2/causal.json :: causal/burned_oos/slip0.0 &gt; days  [UTC dates with trades in the burned OOS window]</a:t>
            </a:r>
          </a:p>
          <a:p>
            <a:pPr algn="l"/>
            <a:r>
              <a:rPr sz="700" b="0" i="0">
                <a:solidFill>
                  <a:srgbClr val="0C1A28"/>
                </a:solidFill>
                <a:latin typeface="Courier New"/>
              </a:rPr>
              <a:t>18 Q8                      360                      results/v2/note_metrics.json :: holdout &gt; span_days</a:t>
            </a:r>
          </a:p>
          <a:p>
            <a:pPr algn="l"/>
            <a:r>
              <a:rPr sz="700" b="0" i="0">
                <a:solidFill>
                  <a:srgbClr val="0C1A28"/>
                </a:solidFill>
                <a:latin typeface="Courier New"/>
              </a:rPr>
              <a:t>18 Q8                      2026-07-23               results/v2/note_metrics.json :: holdout &gt; time_based_20pct_start</a:t>
            </a:r>
          </a:p>
          <a:p>
            <a:pPr algn="l"/>
            <a:r>
              <a:rPr sz="700" b="0" i="0">
                <a:solidFill>
                  <a:srgbClr val="0C1A28"/>
                </a:solidFill>
                <a:latin typeface="Courier New"/>
              </a:rPr>
              <a:t>18 Q8                      −1.96¢                   results/risk/risk_stats.json :: universe_volume_filter &gt; burned_oos &gt; $5-20k &gt; per_share_c</a:t>
            </a:r>
          </a:p>
          <a:p>
            <a:pPr algn="l"/>
            <a:r>
              <a:rPr sz="700" b="0" i="0">
                <a:solidFill>
                  <a:srgbClr val="0C1A28"/>
                </a:solidFill>
                <a:latin typeface="Courier New"/>
              </a:rPr>
              <a:t>18 Q8                      11,307                   results/expand/results.json :: universe &gt; u2_markets</a:t>
            </a:r>
          </a:p>
          <a:p>
            <a:pPr algn="l"/>
            <a:r>
              <a:rPr sz="700" b="0" i="0">
                <a:solidFill>
                  <a:srgbClr val="0C1A28"/>
                </a:solidFill>
                <a:latin typeface="Courier New"/>
              </a:rPr>
              <a:t>18 Q8                      20%                      results/v2/note_metrics.json :: holdout  [oos_matches / matches]</a:t>
            </a:r>
          </a:p>
          <a:p>
            <a:pPr algn="l"/>
            <a:r>
              <a:rPr sz="700" b="0" i="0">
                <a:solidFill>
                  <a:srgbClr val="0C1A28"/>
                </a:solidFill>
                <a:latin typeface="Courier New"/>
              </a:rPr>
              <a:t>18 Q8                      $5k                      results/risk/risk_stats.json :: universe_volume_filter &gt; note  [volume threshold quoted in the note field]</a:t>
            </a:r>
          </a:p>
          <a:p>
            <a:pPr algn="l"/>
            <a:r>
              <a:rPr sz="700" b="0" i="0">
                <a:solidFill>
                  <a:srgbClr val="0C1A28"/>
                </a:solidFill>
                <a:latin typeface="Courier New"/>
              </a:rPr>
              <a:t>19 Q9                      $7.2k                    results/v2/note_metrics.json :: is &gt; usd_traded_per_day</a:t>
            </a:r>
          </a:p>
          <a:p>
            <a:pPr algn="l"/>
            <a:r>
              <a:rPr sz="700" b="0" i="0">
                <a:solidFill>
                  <a:srgbClr val="0C1A28"/>
                </a:solidFill>
                <a:latin typeface="Courier New"/>
              </a:rPr>
              <a:t>19 Q9                      $1.48M                   results/v2/causal.json :: causal/is_eval/slip0.0 &gt; usd_traded</a:t>
            </a:r>
          </a:p>
        </p:txBody>
      </p:sp>
      <p:sp>
        <p:nvSpPr>
          <p:cNvPr id="6"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7"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34</a:t>
            </a:fld>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1"/>
          <p:cNvSpPr>
            <a:spLocks noGrp="1"/>
          </p:cNvSpPr>
          <p:nvPr>
            <p:ph type="title"/>
          </p:nvPr>
        </p:nvSpPr>
        <p:spPr/>
        <p:txBody>
          <a:bodyPr lIns="0" tIns="0" rIns="0" bIns="0"/>
          <a:lstStyle/>
          <a:p>
            <a:r>
              <a:rPr sz="2600" b="1" i="0">
                <a:solidFill>
                  <a:srgbClr val="0C1A28"/>
                </a:solidFill>
                <a:latin typeface="Arial Narrow" panose="020B0606020202030204" pitchFamily="34" charset="0"/>
              </a:rPr>
              <a:t>Every number on screen, and where it was read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HIDDEN MANIFEST  ·  PAGE 11 OF 12</a:t>
            </a:r>
          </a:p>
        </p:txBody>
      </p:sp>
      <p:sp>
        <p:nvSpPr>
          <p:cNvPr id="5" name="Manifest"/>
          <p:cNvSpPr txBox="1"/>
          <p:nvPr/>
        </p:nvSpPr>
        <p:spPr>
          <a:xfrm>
            <a:off x="548640" y="1554480"/>
            <a:ext cx="11094415" cy="4846320"/>
          </a:xfrm>
          <a:prstGeom prst="rect">
            <a:avLst/>
          </a:prstGeom>
          <a:noFill/>
        </p:spPr>
        <p:txBody>
          <a:bodyPr wrap="square" anchor="t" lIns="0" tIns="0" rIns="0" bIns="0">
            <a:noAutofit/>
          </a:bodyPr>
          <a:lstStyle/>
          <a:p>
            <a:pPr algn="l"/>
            <a:r>
              <a:rPr sz="700" b="0" i="0">
                <a:solidFill>
                  <a:srgbClr val="0C1A28"/>
                </a:solidFill>
                <a:latin typeface="Courier New"/>
              </a:rPr>
              <a:t>19 Q9                      206                      results/v2/causal.json :: causal/is_eval/slip0.0 &gt; days</a:t>
            </a:r>
          </a:p>
          <a:p>
            <a:pPr algn="l"/>
            <a:r>
              <a:rPr sz="700" b="0" i="0">
                <a:solidFill>
                  <a:srgbClr val="0C1A28"/>
                </a:solidFill>
                <a:latin typeface="Courier New"/>
              </a:rPr>
              <a:t>19 Q9                      $28.3k                   results/v2/causal.json :: causal/is_eval/slip0.0 &gt; capital_usd</a:t>
            </a:r>
          </a:p>
          <a:p>
            <a:pPr algn="l"/>
            <a:r>
              <a:rPr sz="700" b="0" i="0">
                <a:solidFill>
                  <a:srgbClr val="0C1A28"/>
                </a:solidFill>
                <a:latin typeface="Courier New"/>
              </a:rPr>
              <a:t>19 Q9                      $11.17                   results/risk/risk_stats.json :: liquidity_capital &gt; is_eval &gt; usd_per_trade_quantiles &gt; 0.5</a:t>
            </a:r>
          </a:p>
          <a:p>
            <a:pPr algn="l"/>
            <a:r>
              <a:rPr sz="700" b="0" i="0">
                <a:solidFill>
                  <a:srgbClr val="0C1A28"/>
                </a:solidFill>
                <a:latin typeface="Courier New"/>
              </a:rPr>
              <a:t>19 Q9                      $82.3k                   results/financials/financials.json :: strategies &gt; v2 &gt; ceiling &gt; IS &gt; fast_tier_qualified_print_usd_per_day</a:t>
            </a:r>
          </a:p>
          <a:p>
            <a:pPr algn="l"/>
            <a:r>
              <a:rPr sz="700" b="0" i="0">
                <a:solidFill>
                  <a:srgbClr val="0C1A28"/>
                </a:solidFill>
                <a:latin typeface="Courier New"/>
              </a:rPr>
              <a:t>19 Q9                      $105.5k                  results/financials/financials.json :: strategies &gt; v2 &gt; ceiling &gt; OOS &gt; fast_tier_qualified_print_usd_per_day</a:t>
            </a:r>
          </a:p>
          <a:p>
            <a:pPr algn="l"/>
            <a:r>
              <a:rPr sz="700" b="0" i="0">
                <a:solidFill>
                  <a:srgbClr val="0C1A28"/>
                </a:solidFill>
                <a:latin typeface="Courier New"/>
              </a:rPr>
              <a:t>19 Q9                      41.7%                    results/risk/risk_stats.json :: concentration &gt; is_eval &gt; wallet &gt; top1_share_of_net_pct</a:t>
            </a:r>
          </a:p>
          <a:p>
            <a:pPr algn="l"/>
            <a:r>
              <a:rPr sz="700" b="0" i="0">
                <a:solidFill>
                  <a:srgbClr val="0C1A28"/>
                </a:solidFill>
                <a:latin typeface="Courier New"/>
              </a:rPr>
              <a:t>19 Q9                      48.4%                    results/risk/risk_stats.json :: concentration &gt; burned_oos &gt; wallet &gt; top1_share_of_net_pct</a:t>
            </a:r>
          </a:p>
          <a:p>
            <a:pPr algn="l"/>
            <a:r>
              <a:rPr sz="700" b="0" i="0">
                <a:solidFill>
                  <a:srgbClr val="0C1A28"/>
                </a:solidFill>
                <a:latin typeface="Courier New"/>
              </a:rPr>
              <a:t>19 Q9                      [−0.45, 2.38]            results/financials/pm_compute.json :: p07_wallet_clustered_ci &gt; burned_oos &gt; ci95_c_wallet_clustered</a:t>
            </a:r>
          </a:p>
          <a:p>
            <a:pPr algn="l"/>
            <a:r>
              <a:rPr sz="700" b="0" i="0">
                <a:solidFill>
                  <a:srgbClr val="0C1A28"/>
                </a:solidFill>
                <a:latin typeface="Courier New"/>
              </a:rPr>
              <a:t>19 Q9                      no: not even with every  results/financials/financials.json :: strategies &gt; v2 &gt; coverage &gt; OOS</a:t>
            </a:r>
          </a:p>
          <a:p>
            <a:pPr algn="l"/>
            <a:r>
              <a:rPr sz="700" b="0" i="0">
                <a:solidFill>
                  <a:srgbClr val="0C1A28"/>
                </a:solidFill>
                <a:latin typeface="Courier New"/>
              </a:rPr>
              <a:t>20 Q10                     11/11                    results/tracking/summary.json :: early_call &gt; precision_recall_test_snapshot &gt; 50ms  [tp/(tp+fp), OFFLINE, look-ahead feature]</a:t>
            </a:r>
          </a:p>
          <a:p>
            <a:pPr algn="l"/>
            <a:r>
              <a:rPr sz="700" b="0" i="0">
                <a:solidFill>
                  <a:srgbClr val="0C1A28"/>
                </a:solidFill>
                <a:latin typeface="Courier New"/>
              </a:rPr>
              <a:t>20 Q10                     4                        results/engine/online_vs_offline.json :: runs &gt; fp16_cl_fuse_compile_b1_realtime &gt; A_engine_calls &gt; online &gt; 50ms &gt; tp</a:t>
            </a:r>
          </a:p>
          <a:p>
            <a:pPr algn="l"/>
            <a:r>
              <a:rPr sz="700" b="0" i="0">
                <a:solidFill>
                  <a:srgbClr val="0C1A28"/>
                </a:solidFill>
                <a:latin typeface="Courier New"/>
              </a:rPr>
              <a:t>20 Q10                     41                       results/engine/online_vs_offline.json :: runs &gt; fp16_cl_fuse_compile_b1_realtime &gt; A_engine_calls &gt; miss_first_call_lead_ms &gt;…</a:t>
            </a:r>
          </a:p>
          <a:p>
            <a:pPr algn="l"/>
            <a:r>
              <a:rPr sz="700" b="0" i="0">
                <a:solidFill>
                  <a:srgbClr val="0C1A28"/>
                </a:solidFill>
                <a:latin typeface="Courier New"/>
              </a:rPr>
              <a:t>20 Q10                     162.5 ms                 results/engine/online_vs_offline.json :: runs &gt; fp16_cl_fuse_compile_b1_realtime &gt; A_engine_calls &gt; miss_first_call_lead_ms &gt;…</a:t>
            </a:r>
          </a:p>
          <a:p>
            <a:pPr algn="l"/>
            <a:r>
              <a:rPr sz="700" b="0" i="0">
                <a:solidFill>
                  <a:srgbClr val="0C1A28"/>
                </a:solidFill>
                <a:latin typeface="Courier New"/>
              </a:rPr>
              <a:t>20 Q10                     51%                      results/engine/online_vs_offline.json :: runs &gt; fp16_cl_fuse_compile_b1_realtime &gt; A_engine_calls &gt; online &gt; 50ms &gt; precision…</a:t>
            </a:r>
          </a:p>
          <a:p>
            <a:pPr algn="l"/>
            <a:r>
              <a:rPr sz="700" b="0" i="0">
                <a:solidFill>
                  <a:srgbClr val="0C1A28"/>
                </a:solidFill>
                <a:latin typeface="Courier New"/>
              </a:rPr>
              <a:t>20 Q10                     4/4                      results/engine/online_vs_offline.json :: runs &gt; fp16_cl_fuse_compile_b1_realtime &gt; A_engine_calls &gt; online &gt; 50ms  [tp/(tp+fp…</a:t>
            </a:r>
          </a:p>
          <a:p>
            <a:pPr algn="l"/>
            <a:r>
              <a:rPr sz="700" b="0" i="0">
                <a:solidFill>
                  <a:srgbClr val="0C1A28"/>
                </a:solidFill>
                <a:latin typeface="Courier New"/>
              </a:rPr>
              <a:t>20 Q10                     +$17                     results/redteam/causal_cv.json :: cells_V1 &gt; tournament &gt; IS &gt; usd_per_day</a:t>
            </a:r>
          </a:p>
          <a:p>
            <a:pPr algn="l"/>
            <a:r>
              <a:rPr sz="700" b="0" i="0">
                <a:solidFill>
                  <a:srgbClr val="0C1A28"/>
                </a:solidFill>
                <a:latin typeface="Courier New"/>
              </a:rPr>
              <a:t>20 Q10                     +$4                      results/redteam/causal_cv.json :: cells_V1 &gt; tournament &gt; burned_OOS &gt; usd_per_day</a:t>
            </a:r>
          </a:p>
          <a:p>
            <a:pPr algn="l"/>
            <a:r>
              <a:rPr sz="700" b="0" i="0">
                <a:solidFill>
                  <a:srgbClr val="0C1A28"/>
                </a:solidFill>
                <a:latin typeface="Courier New"/>
              </a:rPr>
              <a:t>20 Q10                     +$8                      results/tier0/latency_sweep.json :: video_cv_pessimistic &gt; tournament &gt; 1 &gt; IS &gt; usd_per_day</a:t>
            </a:r>
          </a:p>
          <a:p>
            <a:pPr algn="l"/>
            <a:r>
              <a:rPr sz="700" b="0" i="0">
                <a:solidFill>
                  <a:srgbClr val="0C1A28"/>
                </a:solidFill>
                <a:latin typeface="Courier New"/>
              </a:rPr>
              <a:t>20 Q10                     −$13                     results/tier0/latency_sweep.json :: video_cv_pessimistic &gt; tournament &gt; 1 &gt; burned_OOS &gt; usd_per_day</a:t>
            </a:r>
          </a:p>
          <a:p>
            <a:pPr algn="l"/>
            <a:r>
              <a:rPr sz="700" b="0" i="0">
                <a:solidFill>
                  <a:srgbClr val="0C1A28"/>
                </a:solidFill>
                <a:latin typeface="Courier New"/>
              </a:rPr>
              <a:t>20 Q10                     30                       results/redteam/derived.json :: keys &gt; eng.phantom_miss_per_hour &gt; value</a:t>
            </a:r>
          </a:p>
          <a:p>
            <a:pPr algn="l"/>
            <a:r>
              <a:rPr sz="700" b="0" i="0">
                <a:solidFill>
                  <a:srgbClr val="0C1A28"/>
                </a:solidFill>
                <a:latin typeface="Courier New"/>
              </a:rPr>
              <a:t>20 Q10                     32                       results/redteam/derived.json :: keys &gt; eng.phantom_budget_per_day.cal &gt; value</a:t>
            </a:r>
          </a:p>
          <a:p>
            <a:pPr algn="l"/>
            <a:r>
              <a:rPr sz="700" b="0" i="0">
                <a:solidFill>
                  <a:srgbClr val="0C1A28"/>
                </a:solidFill>
                <a:latin typeface="Courier New"/>
              </a:rPr>
              <a:t>20 Q10                     +$4                      results/tier0/latency_sweep.json :: video_own120 &gt; tournament &gt; 1 &gt; burned_OOS &gt; usd_per_day</a:t>
            </a:r>
          </a:p>
          <a:p>
            <a:pPr algn="l"/>
            <a:r>
              <a:rPr sz="700" b="0" i="0">
                <a:solidFill>
                  <a:srgbClr val="0C1A28"/>
                </a:solidFill>
                <a:latin typeface="Courier New"/>
              </a:rPr>
              <a:t>20 Q10                     −0.38¢                   results/tier0/latency_sweep.json :: video_own120 &gt; tournament &gt; 1 &gt; burned_OOS &gt; net_c_per_share</a:t>
            </a:r>
          </a:p>
          <a:p>
            <a:pPr algn="l"/>
            <a:r>
              <a:rPr sz="700" b="0" i="0">
                <a:solidFill>
                  <a:srgbClr val="0C1A28"/>
                </a:solidFill>
                <a:latin typeface="Courier New"/>
              </a:rPr>
              <a:t>20 Q10                     +$57                     results/tier0/latency_sweep.json :: video_own120 &gt; tournament_lagcal &gt; 1 &gt; burned_OOS &gt; usd_per_day</a:t>
            </a:r>
          </a:p>
          <a:p>
            <a:pPr algn="l"/>
            <a:r>
              <a:rPr sz="700" b="0" i="0">
                <a:solidFill>
                  <a:srgbClr val="0C1A28"/>
                </a:solidFill>
                <a:latin typeface="Courier New"/>
              </a:rPr>
              <a:t>20 Q10                     −$17                     results/tier0/latency_sweep.json :: video_own120 &gt; stamp_calibrated &gt; 1 &gt; burned_OOS &gt; usd_per_day</a:t>
            </a:r>
          </a:p>
          <a:p>
            <a:pPr algn="l"/>
            <a:r>
              <a:rPr sz="700" b="0" i="0">
                <a:solidFill>
                  <a:srgbClr val="0C1A28"/>
                </a:solidFill>
                <a:latin typeface="Courier New"/>
              </a:rPr>
              <a:t>20 Q10                     [2.23, 3.22] s           results/redteam/derived.json :: keys &gt; cv.L_boot_ci &gt; value</a:t>
            </a:r>
          </a:p>
          <a:p>
            <a:pPr algn="l"/>
            <a:r>
              <a:rPr sz="700" b="0" i="0">
                <a:solidFill>
                  <a:srgbClr val="0C1A28"/>
                </a:solidFill>
                <a:latin typeface="Courier New"/>
              </a:rPr>
              <a:t>20 Q10                     33%                      results/redteam/derived.json :: keys &gt; cv.L_boot_share_below_2_5 &gt; value</a:t>
            </a:r>
          </a:p>
          <a:p>
            <a:pPr algn="l"/>
            <a:r>
              <a:rPr sz="700" b="0" i="0">
                <a:solidFill>
                  <a:srgbClr val="0C1A28"/>
                </a:solidFill>
                <a:latin typeface="Courier New"/>
              </a:rPr>
              <a:t>20 Q10                     1.78 s                   results/redteam/derived.json :: keys &gt; cv.stc.max_tb &gt; value</a:t>
            </a:r>
          </a:p>
          <a:p>
            <a:pPr algn="l"/>
            <a:r>
              <a:rPr sz="700" b="0" i="0">
                <a:solidFill>
                  <a:srgbClr val="0C1A28"/>
                </a:solidFill>
                <a:latin typeface="Courier New"/>
              </a:rPr>
              <a:t>20 Q10                     1.83 s                   results/redteam/derived.json :: keys &gt; cv.stc.arrival_min_v1 &gt; value</a:t>
            </a:r>
          </a:p>
          <a:p>
            <a:pPr algn="l"/>
            <a:r>
              <a:rPr sz="700" b="0" i="0">
                <a:solidFill>
                  <a:srgbClr val="0C1A28"/>
                </a:solidFill>
                <a:latin typeface="Courier New"/>
              </a:rPr>
              <a:t>20 Q10                     −0.94¢                   results/replay/replay.json :: headline_by_V &gt; V1 &gt; all &gt; per_share_mark_c</a:t>
            </a:r>
          </a:p>
          <a:p>
            <a:pPr algn="l"/>
            <a:r>
              <a:rPr sz="700" b="0" i="0">
                <a:solidFill>
                  <a:srgbClr val="0C1A28"/>
                </a:solidFill>
                <a:latin typeface="Courier New"/>
              </a:rPr>
              <a:t>20 Q10                     [−1.28, −0.58]           results/replay/replay.json :: headline_by_V &gt; V1 &gt; all &gt; per_share_mark_ci95_c</a:t>
            </a:r>
          </a:p>
          <a:p>
            <a:pPr algn="l"/>
            <a:r>
              <a:rPr sz="700" b="0" i="0">
                <a:solidFill>
                  <a:srgbClr val="0C1A28"/>
                </a:solidFill>
                <a:latin typeface="Courier New"/>
              </a:rPr>
              <a:t>20 Q10                     36 of 36                 results/replay/replay.json :: cells  [per_share_mark_c &lt; 0]</a:t>
            </a:r>
          </a:p>
          <a:p>
            <a:pPr algn="l"/>
            <a:r>
              <a:rPr sz="700" b="0" i="0">
                <a:solidFill>
                  <a:srgbClr val="0C1A28"/>
                </a:solidFill>
                <a:latin typeface="Courier New"/>
              </a:rPr>
              <a:t>20 Q10                     +0.25¢                   results/redteam/derived.json :: keys &gt; cv.pool482.oos.c &gt; value</a:t>
            </a:r>
          </a:p>
          <a:p>
            <a:pPr algn="l"/>
            <a:r>
              <a:rPr sz="700" b="0" i="0">
                <a:solidFill>
                  <a:srgbClr val="0C1A28"/>
                </a:solidFill>
                <a:latin typeface="Courier New"/>
              </a:rPr>
              <a:t>20 Q10                     [−0.35, 0.86]            results/redteam/derived.json :: keys &gt; cv.pool482.oos.ci &gt; value</a:t>
            </a:r>
          </a:p>
        </p:txBody>
      </p:sp>
      <p:sp>
        <p:nvSpPr>
          <p:cNvPr id="6"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7"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35</a:t>
            </a:fld>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itle 1"/>
          <p:cNvSpPr>
            <a:spLocks noGrp="1"/>
          </p:cNvSpPr>
          <p:nvPr>
            <p:ph type="title"/>
          </p:nvPr>
        </p:nvSpPr>
        <p:spPr/>
        <p:txBody>
          <a:bodyPr lIns="0" tIns="0" rIns="0" bIns="0"/>
          <a:lstStyle/>
          <a:p>
            <a:r>
              <a:rPr sz="2600" b="1" i="0">
                <a:solidFill>
                  <a:srgbClr val="0C1A28"/>
                </a:solidFill>
                <a:latin typeface="Arial Narrow" panose="020B0606020202030204" pitchFamily="34" charset="0"/>
              </a:rPr>
              <a:t>Every number on screen, and where it was read</a:t>
            </a:r>
          </a:p>
        </p:txBody>
      </p:sp>
      <p:sp>
        <p:nvSpPr>
          <p:cNvPr id="3" name="Motif: ball"/>
          <p:cNvSpPr/>
          <p:nvPr/>
        </p:nvSpPr>
        <p:spPr>
          <a:xfrm>
            <a:off x="548640" y="457200"/>
            <a:ext cx="137160" cy="137160"/>
          </a:xfrm>
          <a:prstGeom prst="ellipse">
            <a:avLst/>
          </a:prstGeom>
          <a:solidFill>
            <a:srgbClr val="D143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Eyebrow"/>
          <p:cNvSpPr txBox="1"/>
          <p:nvPr/>
        </p:nvSpPr>
        <p:spPr>
          <a:xfrm>
            <a:off x="795528" y="365760"/>
            <a:ext cx="10847527" cy="310896"/>
          </a:xfrm>
          <a:prstGeom prst="rect">
            <a:avLst/>
          </a:prstGeom>
          <a:noFill/>
        </p:spPr>
        <p:txBody>
          <a:bodyPr wrap="square" anchor="ctr" lIns="0" tIns="0" rIns="0" bIns="0">
            <a:noAutofit/>
          </a:bodyPr>
          <a:lstStyle/>
          <a:p>
            <a:pPr algn="l"/>
            <a:r>
              <a:rPr sz="1200" b="1" i="0" spc="150">
                <a:solidFill>
                  <a:srgbClr val="27598B"/>
                </a:solidFill>
                <a:latin typeface="Arial" panose="020B0604020202020204" pitchFamily="34" charset="0"/>
              </a:rPr>
              <a:t>HIDDEN MANIFEST  ·  PAGE 12 OF 12</a:t>
            </a:r>
          </a:p>
        </p:txBody>
      </p:sp>
      <p:sp>
        <p:nvSpPr>
          <p:cNvPr id="5" name="Manifest"/>
          <p:cNvSpPr txBox="1"/>
          <p:nvPr/>
        </p:nvSpPr>
        <p:spPr>
          <a:xfrm>
            <a:off x="548640" y="1554480"/>
            <a:ext cx="11094415" cy="4846320"/>
          </a:xfrm>
          <a:prstGeom prst="rect">
            <a:avLst/>
          </a:prstGeom>
          <a:noFill/>
        </p:spPr>
        <p:txBody>
          <a:bodyPr wrap="square" anchor="t" lIns="0" tIns="0" rIns="0" bIns="0">
            <a:noAutofit/>
          </a:bodyPr>
          <a:lstStyle/>
          <a:p>
            <a:pPr algn="l"/>
            <a:r>
              <a:rPr sz="700" b="0" i="0">
                <a:solidFill>
                  <a:srgbClr val="0C1A28"/>
                </a:solidFill>
                <a:latin typeface="Courier New"/>
              </a:rPr>
              <a:t>23 Q13                     54 ms                    results/e2e/summary.json :: budget_with_1s_simulated_feed &gt; ours_capture_to_order_ready_ms &gt; p50</a:t>
            </a:r>
          </a:p>
          <a:p>
            <a:pPr algn="l"/>
            <a:r>
              <a:rPr sz="700" b="0" i="0">
                <a:solidFill>
                  <a:srgbClr val="0C1A28"/>
                </a:solidFill>
                <a:latin typeface="Courier New"/>
              </a:rPr>
              <a:t>23 Q13                     65 ms                    results/e2e/summary.json :: budget_with_1s_simulated_feed &gt; network_one_way_ms &gt; p50</a:t>
            </a:r>
          </a:p>
          <a:p>
            <a:pPr algn="l"/>
            <a:r>
              <a:rPr sz="700" b="0" i="0">
                <a:solidFill>
                  <a:srgbClr val="0C1A28"/>
                </a:solidFill>
                <a:latin typeface="Courier New"/>
              </a:rPr>
              <a:t>23 Q13                     2,119 ms                 results/e2e/summary.json :: budget_with_1s_simulated_feed &gt; total_ms &gt; p50</a:t>
            </a:r>
          </a:p>
          <a:p>
            <a:pPr algn="l"/>
            <a:r>
              <a:rPr sz="700" b="0" i="0">
                <a:solidFill>
                  <a:srgbClr val="0C1A28"/>
                </a:solidFill>
                <a:latin typeface="Courier New"/>
              </a:rPr>
              <a:t>23 Q13                     24                       results/e2e/summary.json :: our_pipeline_frame_to_order_ready_ms &gt; n</a:t>
            </a:r>
          </a:p>
          <a:p>
            <a:pPr algn="l"/>
            <a:r>
              <a:rPr sz="700" b="0" i="0">
                <a:solidFill>
                  <a:srgbClr val="0C1A28"/>
                </a:solidFill>
                <a:latin typeface="Courier New"/>
              </a:rPr>
              <a:t>23 Q13                     CV fed at 10 frames/s, e results/e2e/summary.json :: budget_with_1s_simulated_feed &gt; conditions &gt; sentence</a:t>
            </a:r>
          </a:p>
          <a:p>
            <a:pPr algn="l"/>
            <a:r>
              <a:rPr sz="700" b="0" i="0">
                <a:solidFill>
                  <a:srgbClr val="0C1A28"/>
                </a:solidFill>
                <a:latin typeface="Courier New"/>
              </a:rPr>
              <a:t>23 Q13                     4.6 ms                   results/engine/online_vs_offline.json :: headline &gt; fp16_cl_fuse_compile_b1_realtime &gt; stream &gt; after_startup &gt; call_ready_ms…</a:t>
            </a:r>
          </a:p>
          <a:p>
            <a:pPr algn="l"/>
            <a:r>
              <a:rPr sz="700" b="0" i="0">
                <a:solidFill>
                  <a:srgbClr val="0C1A28"/>
                </a:solidFill>
                <a:latin typeface="Courier New"/>
              </a:rPr>
              <a:t>23 Q13                     12.2 ms                  results/engine/online_vs_offline.json :: headline &gt; fp16_cl_fuse_compile_b1_realtime &gt; stream &gt; after_startup &gt; call_ready_ms…</a:t>
            </a:r>
          </a:p>
          <a:p>
            <a:pPr algn="l"/>
            <a:r>
              <a:rPr sz="700" b="0" i="0">
                <a:solidFill>
                  <a:srgbClr val="0C1A28"/>
                </a:solidFill>
                <a:latin typeface="Courier New"/>
              </a:rPr>
              <a:t>23 Q13                     0                        results/engine/online_vs_offline.json :: headline &gt; fp16_cl_fuse_compile_b1_realtime &gt; stream &gt; dropped</a:t>
            </a:r>
          </a:p>
          <a:p>
            <a:pPr algn="l"/>
            <a:r>
              <a:rPr sz="700" b="0" i="0">
                <a:solidFill>
                  <a:srgbClr val="0C1A28"/>
                </a:solidFill>
                <a:latin typeface="Courier New"/>
              </a:rPr>
              <a:t>23 Q13                     0.9 s                    results/redteam/derived.json :: keys &gt; cv.call_before_stamp &gt; value</a:t>
            </a:r>
          </a:p>
          <a:p>
            <a:pPr algn="l"/>
            <a:r>
              <a:rPr sz="700" b="0" i="0">
                <a:solidFill>
                  <a:srgbClr val="0C1A28"/>
                </a:solidFill>
                <a:latin typeface="Courier New"/>
              </a:rPr>
              <a:t>24 Q14                     $22.8k–$33.9k            results/alpha/alpha.json :: headline &gt; oos_capital_capacity_usd</a:t>
            </a:r>
          </a:p>
          <a:p>
            <a:pPr algn="l"/>
            <a:r>
              <a:rPr sz="700" b="0" i="0">
                <a:solidFill>
                  <a:srgbClr val="0C1A28"/>
                </a:solidFill>
                <a:latin typeface="Courier New"/>
              </a:rPr>
              <a:t>24 Q14                     $28.5k–$40.2k            results/capacity/capacity.json :: answers &gt; cv_prorata / cv &gt; lagcal|phi0.5|cov10|g1|burned_OOS &gt; capital_where_sharpe_halves…</a:t>
            </a:r>
          </a:p>
          <a:p>
            <a:pPr algn="l"/>
            <a:r>
              <a:rPr sz="700" b="0" i="0">
                <a:solidFill>
                  <a:srgbClr val="0C1A28"/>
                </a:solidFill>
                <a:latin typeface="Courier New"/>
              </a:rPr>
              <a:t>24 Q14                     $55.3k–$73.3k            results/capacity/capacity.json :: answers &gt; cv_prorata / cv &gt; lagcal|phi0.5|cov10|g1|IS &gt; capital_where_sharpe_halves_usd</a:t>
            </a:r>
          </a:p>
          <a:p>
            <a:pPr algn="l"/>
            <a:r>
              <a:rPr sz="700" b="0" i="0">
                <a:solidFill>
                  <a:srgbClr val="0C1A28"/>
                </a:solidFill>
                <a:latin typeface="Courier New"/>
              </a:rPr>
              <a:t>24 Q14                     $65.0k–$96.9k            results/capacity/capacity.json :: answers &gt; cv_prorata / cv &gt; lagcal|phi0.5|covall|g1|burned_OOS &gt; capital_where_sharpe_halve…</a:t>
            </a:r>
          </a:p>
          <a:p>
            <a:pPr algn="l"/>
            <a:r>
              <a:rPr sz="700" b="0" i="0">
                <a:solidFill>
                  <a:srgbClr val="0C1A28"/>
                </a:solidFill>
                <a:latin typeface="Courier New"/>
              </a:rPr>
              <a:t>24 Q14                     0.8                      results/capacity/capacity.json :: answers &gt; cv &gt; prereg|phi0.5|cov10|g1|burned_OOS &gt; sharpe_ref_smallest_size</a:t>
            </a:r>
          </a:p>
          <a:p>
            <a:pPr algn="l"/>
            <a:r>
              <a:rPr sz="700" b="0" i="0">
                <a:solidFill>
                  <a:srgbClr val="0C1A28"/>
                </a:solidFill>
                <a:latin typeface="Courier New"/>
              </a:rPr>
              <a:t>24 Q14                     $1,644                   results/redteam/derived.json :: keys &gt; cv.cal.oos.maxlic &gt; value</a:t>
            </a:r>
          </a:p>
          <a:p>
            <a:pPr algn="l"/>
            <a:r>
              <a:rPr sz="700" b="0" i="0">
                <a:solidFill>
                  <a:srgbClr val="0C1A28"/>
                </a:solidFill>
                <a:latin typeface="Courier New"/>
              </a:rPr>
              <a:t>24 Q14                     $55                      results/redteam/derived.json :: keys &gt; cv.pre.oos.maxlic &gt; value</a:t>
            </a:r>
          </a:p>
          <a:p>
            <a:pPr algn="l"/>
            <a:r>
              <a:rPr sz="700" b="0" i="0">
                <a:solidFill>
                  <a:srgbClr val="0C1A28"/>
                </a:solidFill>
                <a:latin typeface="Courier New"/>
              </a:rPr>
              <a:t>24 Q14                     $1,250                   results/financials/financials.json :: cost_assumptions &gt; feed_licence &gt; low</a:t>
            </a:r>
          </a:p>
          <a:p>
            <a:pPr algn="l"/>
            <a:r>
              <a:rPr sz="700" b="0" i="0">
                <a:solidFill>
                  <a:srgbClr val="0C1A28"/>
                </a:solidFill>
                <a:latin typeface="Courier New"/>
              </a:rPr>
              <a:t>24 Q14                     $10,000                  results/financials/financials.json :: cost_assumptions &gt; feed_licence &gt; high</a:t>
            </a:r>
          </a:p>
          <a:p>
            <a:pPr algn="l"/>
            <a:r>
              <a:rPr sz="700" b="0" i="0">
                <a:solidFill>
                  <a:srgbClr val="0C1A28"/>
                </a:solidFill>
                <a:latin typeface="Courier New"/>
              </a:rPr>
              <a:t>24 Q14                     −$110                    results/redteam/derived.json :: keys &gt; cv.cal.oos.net_central &gt; value</a:t>
            </a:r>
          </a:p>
        </p:txBody>
      </p:sp>
      <p:sp>
        <p:nvSpPr>
          <p:cNvPr id="6" name="Footer"/>
          <p:cNvSpPr txBox="1"/>
          <p:nvPr/>
        </p:nvSpPr>
        <p:spPr>
          <a:xfrm>
            <a:off x="548640" y="6455664"/>
            <a:ext cx="5486400" cy="237744"/>
          </a:xfrm>
          <a:prstGeom prst="rect">
            <a:avLst/>
          </a:prstGeom>
          <a:noFill/>
        </p:spPr>
        <p:txBody>
          <a:bodyPr wrap="square" anchor="ctr" lIns="0" tIns="0" rIns="0" bIns="0">
            <a:noAutofit/>
          </a:bodyPr>
          <a:lstStyle/>
          <a:p>
            <a:pPr algn="l"/>
            <a:r>
              <a:rPr sz="1000" b="0" i="0">
                <a:solidFill>
                  <a:srgbClr val="566676"/>
                </a:solidFill>
                <a:latin typeface="Arial" panose="020B0604020202020204" pitchFamily="34" charset="0"/>
              </a:rPr>
              <a:t>COURTSIDE  ·  Gator Quant Hacks 2026  ·  Systematic Trading</a:t>
            </a:r>
          </a:p>
        </p:txBody>
      </p:sp>
      <p:sp>
        <p:nvSpPr>
          <p:cNvPr id="7" name="Slide number"/>
          <p:cNvSpPr txBox="1"/>
          <p:nvPr/>
        </p:nvSpPr>
        <p:spPr>
          <a:xfrm>
            <a:off x="10728655" y="6455664"/>
            <a:ext cx="914400" cy="237744"/>
          </a:xfrm>
          <a:prstGeom prst="rect">
            <a:avLst/>
          </a:prstGeom>
          <a:noFill/>
        </p:spPr>
        <p:txBody>
          <a:bodyPr wrap="square" anchor="ctr" lIns="0" tIns="0" rIns="0" bIns="0">
            <a:noAutofit/>
          </a:bodyPr>
          <a:lstStyle/>
          <a:p>
            <a:pPr algn="r"/>
            <a:fld id="{B6F15528-21DE-4FAA-801E-634DDDAF4B2B}" type="slidenum">
              <a:rPr lang="en-US" sz="1000" dirty="0">
                <a:solidFill>
                  <a:srgbClr val="566676"/>
                </a:solidFill>
                <a:latin typeface="Arial" panose="020B0604020202020204" pitchFamily="34" charset="0"/>
              </a:rPr>
              <a:t>36</a:t>
            </a:fld>
          </a:p>
        </p:txBody>
      </p:sp>
    </p:spTree>
  </p:cSld>
  <p:clrMapOvr>
    <a:masterClrMapping/>
  </p:clrMapOvr>
</p:sld>
</file>

<file path=ppt/theme/theme1.xml><?xml version="1.0" encoding="utf-8"?>
<a:theme xmlns:a="http://schemas.openxmlformats.org/drawingml/2006/main" name="Courtside">
  <a:themeElements>
    <a:clrScheme name="Courtside">
      <a:dk1>
        <a:srgbClr val="0C1A28"/>
      </a:dk1>
      <a:lt1>
        <a:srgbClr val="FFFFFF"/>
      </a:lt1>
      <a:dk2>
        <a:srgbClr val="27598B"/>
      </a:dk2>
      <a:lt2>
        <a:srgbClr val="F2F5F8"/>
      </a:lt2>
      <a:accent1>
        <a:srgbClr val="27598B"/>
      </a:accent1>
      <a:accent2>
        <a:srgbClr val="D1432F"/>
      </a:accent2>
      <a:accent3>
        <a:srgbClr val="0C1A28"/>
      </a:accent3>
      <a:accent4>
        <a:srgbClr val="7D8FA3"/>
      </a:accent4>
      <a:accent5>
        <a:srgbClr val="8FB0D1"/>
      </a:accent5>
      <a:accent6>
        <a:srgbClr val="E39A8C"/>
      </a:accent6>
      <a:hlink>
        <a:srgbClr val="27598B"/>
      </a:hlink>
      <a:folHlink>
        <a:srgbClr val="566676"/>
      </a:folHlink>
    </a:clrScheme>
    <a:fontScheme name="Courtside">
      <a:majorFont>
        <a:latin typeface="Arial Narrow" panose="020B0606020202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COURTSIDE: who gets paid in the seconds after a tennis point</dc:title>
  <dc:subject>Gator Quant Hacks 2026, Systematic Trading</dc:subject>
  <dc:creator>COURTSIDE</dc:creator>
  <cp:keywords>tennis; Polymarket; latency; computer vision; paper trading</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