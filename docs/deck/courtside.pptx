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 15 s]</a:t>
            </a:r>
          </a:p>
          <a:p>
            <a:r>
              <a:t>We're COURTSIDE, four of us from the University of Florida. Polymarket reprices live tennis about a second after every point. Our computer vision calls table-tennis points before the ball lands; in simulation, we priced that speed for tennis.</a:t>
            </a:r>
          </a:p>
          <a:p/>
          <a:p>
            <a:r>
              <a:t>Click: slide 2 (the strategy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[0:15–0:45 · 30 s]</a:t>
            </a:r>
          </a:p>
          <a:p>
            <a:r>
              <a:t>The strategy in one sentence: our computer vision calls the point before the ball lands, so we trade the match price before it reprices. It's a race. Our own code turns a frame into an order in 54 milliseconds. The book reprices about one to two seconds after the point, and just before it does, a median $222 still rests at the old price. Public streams run 12.2 seconds behind, score feeds 28 to 44. Whoever learns the point first takes that stale quote.</a:t>
            </a:r>
          </a:p>
          <a:p/>
          <a:p>
            <a:r>
              <a:t>If asked about the stamp: its lag after the point is not measured; pre-registered 2.0 s, post hoc 3.14 s. The book moves a median 1.2 s before the stamp.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[0:45–1:15 · 30 s]</a:t>
            </a:r>
          </a:p>
          <a:p>
            <a:r>
              <a:t>First IC question: does the edge exist? Yes, and it's speed. On public Polymarket tapes, wallets that trade within three seconds of a point earn after fees in 9/9 in-sample months and 3/3 held-out months: +0.93 and +0.75 cents a share. Everyone else loses about a cent, and copying the fast tier three seconds later loses too. It isn't market beta: four-factor alpha t-stat 8.48, no factor above 1.36.</a:t>
            </a:r>
          </a:p>
          <a:p/>
          <a:p>
            <a:r>
              <a:t>The video says '11 calendar months of 11': August sits in both periods (9 + 3 rows).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[1:15–1:55 · 40 s]</a:t>
            </a:r>
          </a:p>
          <a:p>
            <a:r>
              <a:t>Can a model be that fast? These are real table-tennis games the model never saw. Streamed causally, our live engine called 4 of 41 misses before the ball got there, none wrong, with a median lead of 162 milliseconds. On one L4 GPU it keeps up with 120-frame video: 0 of 102,120 frames dropped, 4.6 milliseconds a frame. For tennis we built a spin-aware tracker; in simulated physics it cuts landing error from 5.76 to 0.57 centimetres 200 milliseconds before the bounce. Tennis is simulation: we have no tennis match video.</a:t>
            </a:r>
          </a:p>
          <a:p/>
          <a:p>
            <a:r>
              <a:t>If asked: the offline evaluation used a look-ahead feature; the live engine numbers above are the causal ones (backup Q6). The clip loops muted; talk over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[1:55–2:25 · 30 s]</a:t>
            </a:r>
          </a:p>
          <a:p>
            <a:r>
              <a:t>The organisers asked: can you trade inside three seconds? We measured it end to end: our footage over WebRTC into the engine, a call, a paper order against a live book. Our part is 54 milliseconds. Add a simulated one-second feed, 65 milliseconds of network and the venue's one-second hold: 2,119 milliseconds, every trace under the bar. But under three seconds isn't enough: the call has to reach the venue about 0.89 seconds before the umpire's stamp.</a:t>
            </a:r>
          </a:p>
          <a:p/>
          <a:p>
            <a:r>
              <a:t>24 order traces; the order is unsigned and never sent; table-tennis calls mapped onto a tennis market for timing only (backup Q1).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[2:25–3:00 · 35 s]</a:t>
            </a:r>
          </a:p>
          <a:p>
            <a:r>
              <a:t>So what is speed worth? Feed latency is the one input we can't measure without buying a feed, so we show three scenarios. Pre-registered, the CV strategy makes +$15, +$4 and −$13 a day held out at half a second, one second and three: it breaks even near one second. Our post hoc reading of the umpire's lag gives +$81, +$57 and −$11, but that lag was inferred after looking, and read point by point the same data loses $17 a day. By three seconds every reading loses.</a:t>
            </a:r>
          </a:p>
          <a:p/>
          <a:p>
            <a:r>
              <a:t>Never present the post hoc number without the pre-registered one next to it (backup Q5).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[3:00–3:35 · 35 s]</a:t>
            </a:r>
          </a:p>
          <a:p>
            <a:r>
              <a:t>The backtest of the market-structure book, v2, which trades at the fast tier's own fills: the opportunity at their speed, not our execution. Sharpe 14.5 in sample and 6.7 on the held-out window, +1.38 and +0.60 cents a share, both intervals above zero. Our money counter replays every fill: +$40,425.72 in sample, +$3,687.54 held out. Deflated for 3,386 trials the held-out Sharpe is only 0.075: forty days can't rule out luck, and we say so.</a:t>
            </a:r>
          </a:p>
          <a:p/>
          <a:p>
            <a:r>
              <a:t>If asked about Sharpe 14.5: backup Q7. If asked about costs: backup Q8.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[3:35–4:00 · 25 s]</a:t>
            </a:r>
          </a:p>
          <a:p>
            <a:r>
              <a:t>We tried to break it: 4,219 variants, every held-out look logged. Every blind test of a tradable book failed: unseen markets, the maker book, the v3 rule, a replay on nine real books. Doubled fees erase v2 held out; luck is not ruled out. Our pre-registered forward test was not run in time, and the box says so.</a:t>
            </a:r>
          </a:p>
          <a:p/>
          <a:p>
            <a:r>
              <a:t>The forward-test box follows HYPOTHESIS_V2.md A5 (forward test not run); results/v2/forward.json absent at build time. The video's 'blind tests: 2 pass · 4 fail' also counts two blind tests that are not tradable books (table-tennis H3 precision; v2's unseen markets in sample): every blind test of a tradable book failed.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[4:00–4:30 · 30 s]</a:t>
            </a:r>
          </a:p>
          <a:p>
            <a:r>
              <a:t>Risk and capacity. Limits are in code: 100 shares net per match, at most $95 lost on any one match, a $1,000 daily stop, kill switches on stale feeds. Capacity is small: v2's held-out edge holds only at about $22,754 of capital. Post hoc, the CV book's Sharpe halves by $40,000; pre-registered, it has no capacity. After data costs of $42 to $332 a day, v2 makes −$75 a day held out. Today this prices speed; it isn't yet a business.</a:t>
            </a:r>
          </a:p>
          <a:p/>
          <a:p>
            <a:r>
              <a:t>Capacity detail and the capacity figure: backup Q2. Data-cost arithmetic: backup Q9.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[4:30–4:45 · 15 s]</a:t>
            </a:r>
          </a:p>
          <a:p>
            <a:r>
              <a:t>To deploy it, we'd license a low-latency feed and run one session to measure the umpire's lag, the one number that sets the sign. Everything here reproduces from the repo with one command. Paper trading only. Thank you.</a:t>
            </a:r>
          </a:p>
          <a:p/>
          <a:p>
            <a:r>
              <a:t>Then Q&amp;A: backup slides follow (Q1 latency, Q2 capacity first: the organisers' own).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itle 1"/>
          <p:cNvSpPr>
            <a:spLocks noGrp="1"/>
          </p:cNvSpPr>
          <p:nvPr>
            <p:ph type="title"/>
          </p:nvPr>
        </p:nvSpPr>
        <p:spPr>
          <a:xfrm>
            <a:off x="640080" y="1737360"/>
            <a:ext cx="10911535" cy="1280160"/>
          </a:xfrm>
        </p:spPr>
        <p:txBody>
          <a:bodyPr wrap="square" anchor="t" lIns="0" tIns="0" rIns="0" bIns="0"/>
          <a:lstStyle/>
          <a:p>
            <a:pPr algn="l"/>
            <a:r>
              <a:rPr sz="8000" b="1" i="0">
                <a:solidFill>
                  <a:srgbClr val="FFFFFF"/>
                </a:solidFill>
                <a:latin typeface="Inter"/>
              </a:rPr>
              <a:t>COURTSIDE</a:t>
            </a:r>
          </a:p>
        </p:txBody>
      </p:sp>
      <p:sp>
        <p:nvSpPr>
          <p:cNvPr id="3" name="Tagline"/>
          <p:cNvSpPr txBox="1"/>
          <p:nvPr/>
        </p:nvSpPr>
        <p:spPr>
          <a:xfrm>
            <a:off x="640080" y="3063240"/>
            <a:ext cx="10911535" cy="1005840"/>
          </a:xfrm>
          <a:prstGeom prst="rect">
            <a:avLst/>
          </a:prstGeom>
          <a:noFill/>
        </p:spPr>
        <p:txBody>
          <a:bodyPr wrap="square" anchor="t" lIns="0" tIns="0" rIns="0" bIns="0">
            <a:noAutofit/>
          </a:bodyPr>
          <a:lstStyle/>
          <a:p>
            <a:pPr algn="l"/>
            <a:r>
              <a:rPr sz="2400" b="0" i="0">
                <a:solidFill>
                  <a:srgbClr val="FFFFFF"/>
                </a:solidFill>
                <a:latin typeface="Inter"/>
              </a:rPr>
              <a:t>Computer vision calls table-tennis points before the ball lands.</a:t>
            </a:r>
          </a:p>
          <a:p>
            <a:pPr algn="l"/>
            <a:r>
              <a:rPr sz="2400" b="0" i="0">
                <a:solidFill>
                  <a:srgbClr val="A1A1A6"/>
                </a:solidFill>
                <a:latin typeface="Inter"/>
              </a:rPr>
              <a:t>We priced that speed for Polymarket tennis, in simulation.</a:t>
            </a:r>
          </a:p>
        </p:txBody>
      </p:sp>
      <p:cxnSp>
        <p:nvCxnSpPr>
          <p:cNvPr id="4" name="Accent rule"/>
          <p:cNvCxnSpPr/>
          <p:nvPr/>
        </p:nvCxnSpPr>
        <p:spPr>
          <a:xfrm>
            <a:off x="640080" y="4343400"/>
            <a:ext cx="1097280" cy="0"/>
          </a:xfrm>
          <a:prstGeom prst="line">
            <a:avLst/>
          </a:prstGeom>
          <a:ln w="31750">
            <a:solidFill>
              <a:srgbClr val="E8601C"/>
            </a:solidFill>
          </a:ln>
        </p:spPr>
        <p:style>
          <a:lnRef idx="2">
            <a:schemeClr val="accent1"/>
          </a:lnRef>
          <a:fillRef idx="0">
            <a:schemeClr val="accent1"/>
          </a:fillRef>
          <a:effectRef idx="1">
            <a:schemeClr val="accent1"/>
          </a:effectRef>
          <a:fontRef idx="minor">
            <a:schemeClr val="tx1"/>
          </a:fontRef>
        </p:style>
      </p:cxnSp>
      <p:sp>
        <p:nvSpPr>
          <p:cNvPr id="5" name="Team"/>
          <p:cNvSpPr txBox="1"/>
          <p:nvPr/>
        </p:nvSpPr>
        <p:spPr>
          <a:xfrm>
            <a:off x="640080" y="4526280"/>
            <a:ext cx="10058400" cy="365760"/>
          </a:xfrm>
          <a:prstGeom prst="rect">
            <a:avLst/>
          </a:prstGeom>
          <a:noFill/>
        </p:spPr>
        <p:txBody>
          <a:bodyPr wrap="square" anchor="t" lIns="0" tIns="0" rIns="0" bIns="0">
            <a:noAutofit/>
          </a:bodyPr>
          <a:lstStyle/>
          <a:p>
            <a:pPr algn="l"/>
            <a:r>
              <a:rPr sz="1700" b="1" i="0">
                <a:solidFill>
                  <a:srgbClr val="FFFFFF"/>
                </a:solidFill>
                <a:latin typeface="Inter"/>
              </a:rPr>
              <a:t>Ojasva Mishra   ·   Yoan Exposito   ·   Rafael Penhas   ·   Ian Hoang</a:t>
            </a:r>
          </a:p>
        </p:txBody>
      </p:sp>
      <p:sp>
        <p:nvSpPr>
          <p:cNvPr id="6" name="Event"/>
          <p:cNvSpPr txBox="1"/>
          <p:nvPr/>
        </p:nvSpPr>
        <p:spPr>
          <a:xfrm>
            <a:off x="640080" y="4919472"/>
            <a:ext cx="10058400" cy="320040"/>
          </a:xfrm>
          <a:prstGeom prst="rect">
            <a:avLst/>
          </a:prstGeom>
          <a:noFill/>
        </p:spPr>
        <p:txBody>
          <a:bodyPr wrap="square" anchor="t" lIns="0" tIns="0" rIns="0" bIns="0">
            <a:noAutofit/>
          </a:bodyPr>
          <a:lstStyle/>
          <a:p>
            <a:pPr algn="l"/>
            <a:r>
              <a:rPr sz="1400" b="0" i="0">
                <a:solidFill>
                  <a:srgbClr val="A1A1A6"/>
                </a:solidFill>
                <a:latin typeface="Inter"/>
              </a:rPr>
              <a:t>University of Florida  ·  Gator Quant Hacks 2026  ·  Systematic Trading</a:t>
            </a:r>
          </a:p>
        </p:txBody>
      </p:sp>
      <p:sp>
        <p:nvSpPr>
          <p:cNvPr id="7" name="Disclosure"/>
          <p:cNvSpPr txBox="1"/>
          <p:nvPr/>
        </p:nvSpPr>
        <p:spPr>
          <a:xfrm>
            <a:off x="640080" y="6053328"/>
            <a:ext cx="10911535" cy="274320"/>
          </a:xfrm>
          <a:prstGeom prst="rect">
            <a:avLst/>
          </a:prstGeom>
          <a:noFill/>
        </p:spPr>
        <p:txBody>
          <a:bodyPr wrap="square" anchor="t" lIns="0" tIns="0" rIns="0" bIns="0">
            <a:noAutofit/>
          </a:bodyPr>
          <a:lstStyle/>
          <a:p>
            <a:pPr algn="l"/>
            <a:r>
              <a:rPr sz="1050" b="0" i="0">
                <a:solidFill>
                  <a:srgbClr val="A1A1A6"/>
                </a:solidFill>
                <a:latin typeface="Inter"/>
              </a:rPr>
              <a:t>Paper trading only. No real money. CV strategy results are simulated at an assumed feed latency (licensed feed not purchased).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FFFFFF"/>
                </a:solidFill>
                <a:latin typeface="Inter"/>
              </a:rPr>
              <a:t>Whoever learns the point first takes the stale price</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02</a:t>
            </a:r>
            <a:r>
              <a:rPr sz="1050" b="1" i="0" spc="150">
                <a:solidFill>
                  <a:srgbClr val="A1A1A6"/>
                </a:solidFill>
                <a:latin typeface="Inter"/>
              </a:rPr>
              <a:t>   THE STRATEGY</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A1A1A6"/>
                </a:solidFill>
                <a:latin typeface="Inter"/>
              </a:rPr>
              <a:t>public Polymarket books · stamp lag not measured · CV calls: table tennis (tennis simulated)</a:t>
            </a:r>
          </a:p>
        </p:txBody>
      </p:sp>
      <p:cxnSp>
        <p:nvCxnSpPr>
          <p:cNvPr id="5" name="Footer rule"/>
          <p:cNvCxnSpPr/>
          <p:nvPr/>
        </p:nvCxnSpPr>
        <p:spPr>
          <a:xfrm>
            <a:off x="640080" y="6419088"/>
            <a:ext cx="10911535" cy="0"/>
          </a:xfrm>
          <a:prstGeom prst="line">
            <a:avLst/>
          </a:prstGeom>
          <a:ln w="6350">
            <a:solidFill>
              <a:srgbClr val="2C2C2E"/>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A1A1A6"/>
                </a:solidFill>
                <a:latin typeface="Inter"/>
              </a:rPr>
              <a:t>COURTSIDE</a:t>
            </a:r>
            <a:r>
              <a:rPr sz="900" b="0" i="0">
                <a:solidFill>
                  <a:srgbClr val="A1A1A6"/>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A1A1A6"/>
                </a:solidFill>
                <a:latin typeface="Inter"/>
              </a:rPr>
              <a:t>2</a:t>
            </a:r>
          </a:p>
        </p:txBody>
      </p:sp>
      <p:sp>
        <p:nvSpPr>
          <p:cNvPr id="8" name="One sentence"/>
          <p:cNvSpPr txBox="1"/>
          <p:nvPr/>
        </p:nvSpPr>
        <p:spPr>
          <a:xfrm>
            <a:off x="640080" y="1481328"/>
            <a:ext cx="10911535" cy="868680"/>
          </a:xfrm>
          <a:prstGeom prst="rect">
            <a:avLst/>
          </a:prstGeom>
          <a:noFill/>
        </p:spPr>
        <p:txBody>
          <a:bodyPr wrap="square" anchor="t" lIns="0" tIns="0" rIns="0" bIns="0">
            <a:noAutofit/>
          </a:bodyPr>
          <a:lstStyle/>
          <a:p>
            <a:pPr algn="l">
              <a:lnSpc>
                <a:spcPct val="110000"/>
              </a:lnSpc>
            </a:pPr>
            <a:r>
              <a:rPr sz="2400" b="0" i="0">
                <a:solidFill>
                  <a:srgbClr val="FFFFFF"/>
                </a:solidFill>
                <a:latin typeface="Inter"/>
              </a:rPr>
              <a:t>Our computer vision calls the point </a:t>
            </a:r>
            <a:r>
              <a:rPr sz="2400" b="1" i="0">
                <a:solidFill>
                  <a:srgbClr val="E8601C"/>
                </a:solidFill>
                <a:latin typeface="Inter"/>
              </a:rPr>
              <a:t>before the ball lands</a:t>
            </a:r>
            <a:r>
              <a:rPr sz="2400" b="0" i="0">
                <a:solidFill>
                  <a:srgbClr val="FFFFFF"/>
                </a:solidFill>
                <a:latin typeface="Inter"/>
              </a:rPr>
              <a:t>, so we trade the Polymarket match price </a:t>
            </a:r>
            <a:r>
              <a:rPr sz="2400" b="1" i="0">
                <a:solidFill>
                  <a:srgbClr val="E8601C"/>
                </a:solidFill>
                <a:latin typeface="Inter"/>
              </a:rPr>
              <a:t>before it reprices</a:t>
            </a:r>
            <a:r>
              <a:rPr sz="2400" b="0" i="0">
                <a:solidFill>
                  <a:srgbClr val="FFFFFF"/>
                </a:solidFill>
                <a:latin typeface="Inter"/>
              </a:rPr>
              <a:t>.</a:t>
            </a:r>
          </a:p>
        </p:txBody>
      </p:sp>
      <p:sp>
        <p:nvSpPr>
          <p:cNvPr id="9" name="Reprice band"/>
          <p:cNvSpPr/>
          <p:nvPr/>
        </p:nvSpPr>
        <p:spPr>
          <a:xfrm>
            <a:off x="5298273" y="2679191"/>
            <a:ext cx="533710" cy="2816352"/>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price band label"/>
          <p:cNvSpPr txBox="1"/>
          <p:nvPr/>
        </p:nvSpPr>
        <p:spPr>
          <a:xfrm>
            <a:off x="4749633" y="2313432"/>
            <a:ext cx="1630990" cy="347472"/>
          </a:xfrm>
          <a:prstGeom prst="rect">
            <a:avLst/>
          </a:prstGeom>
          <a:noFill/>
        </p:spPr>
        <p:txBody>
          <a:bodyPr wrap="square" anchor="t" lIns="0" tIns="0" rIns="0" bIns="0">
            <a:noAutofit/>
          </a:bodyPr>
          <a:lstStyle/>
          <a:p>
            <a:pPr algn="ctr"/>
            <a:r>
              <a:rPr sz="1000" b="0" i="0">
                <a:solidFill>
                  <a:srgbClr val="A1A1A6"/>
                </a:solidFill>
                <a:latin typeface="Inter"/>
              </a:rPr>
              <a:t>book reprices 0.8–2.0 s after the point (inferred)</a:t>
            </a:r>
          </a:p>
        </p:txBody>
      </p:sp>
      <p:sp>
        <p:nvSpPr>
          <p:cNvPr id="11" name="Race row 0"/>
          <p:cNvSpPr txBox="1"/>
          <p:nvPr/>
        </p:nvSpPr>
        <p:spPr>
          <a:xfrm>
            <a:off x="640080" y="2788920"/>
            <a:ext cx="2240280" cy="429768"/>
          </a:xfrm>
          <a:prstGeom prst="rect">
            <a:avLst/>
          </a:prstGeom>
          <a:noFill/>
        </p:spPr>
        <p:txBody>
          <a:bodyPr wrap="square" anchor="ctr" lIns="0" tIns="0" rIns="0" bIns="0">
            <a:noAutofit/>
          </a:bodyPr>
          <a:lstStyle/>
          <a:p>
            <a:pPr algn="r"/>
            <a:r>
              <a:rPr sz="1300" b="1" i="0">
                <a:solidFill>
                  <a:srgbClr val="E8601C"/>
                </a:solidFill>
                <a:latin typeface="Inter"/>
              </a:rPr>
              <a:t>Our pipeline, frame → order</a:t>
            </a:r>
          </a:p>
        </p:txBody>
      </p:sp>
      <p:sp>
        <p:nvSpPr>
          <p:cNvPr id="12" name="Race dot 0"/>
          <p:cNvSpPr/>
          <p:nvPr/>
        </p:nvSpPr>
        <p:spPr>
          <a:xfrm>
            <a:off x="3526031" y="2939796"/>
            <a:ext cx="128016" cy="128016"/>
          </a:xfrm>
          <a:prstGeom prst="ellipse">
            <a:avLst/>
          </a:prstGeom>
          <a:solidFill>
            <a:srgbClr val="E86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ce value 0"/>
          <p:cNvSpPr txBox="1"/>
          <p:nvPr/>
        </p:nvSpPr>
        <p:spPr>
          <a:xfrm>
            <a:off x="3699767" y="2788920"/>
            <a:ext cx="1463040" cy="429768"/>
          </a:xfrm>
          <a:prstGeom prst="rect">
            <a:avLst/>
          </a:prstGeom>
          <a:noFill/>
        </p:spPr>
        <p:txBody>
          <a:bodyPr wrap="square" anchor="ctr" lIns="0" tIns="0" rIns="0" bIns="0">
            <a:noAutofit/>
          </a:bodyPr>
          <a:lstStyle/>
          <a:p>
            <a:pPr algn="l"/>
            <a:r>
              <a:rPr sz="1200" b="1" i="0">
                <a:solidFill>
                  <a:srgbClr val="E8601C"/>
                </a:solidFill>
                <a:latin typeface="Inter"/>
              </a:rPr>
              <a:t>54 ms</a:t>
            </a:r>
            <a:r>
              <a:rPr sz="1000" b="0" i="0">
                <a:solidFill>
                  <a:srgbClr val="A1A1A6"/>
                </a:solidFill>
                <a:latin typeface="Inter"/>
              </a:rPr>
              <a:t>  measured</a:t>
            </a:r>
          </a:p>
        </p:txBody>
      </p:sp>
      <p:sp>
        <p:nvSpPr>
          <p:cNvPr id="14" name="Race row 1"/>
          <p:cNvSpPr txBox="1"/>
          <p:nvPr/>
        </p:nvSpPr>
        <p:spPr>
          <a:xfrm>
            <a:off x="640080" y="3218687"/>
            <a:ext cx="2240280" cy="429768"/>
          </a:xfrm>
          <a:prstGeom prst="rect">
            <a:avLst/>
          </a:prstGeom>
          <a:noFill/>
        </p:spPr>
        <p:txBody>
          <a:bodyPr wrap="square" anchor="ctr" lIns="0" tIns="0" rIns="0" bIns="0">
            <a:noAutofit/>
          </a:bodyPr>
          <a:lstStyle/>
          <a:p>
            <a:pPr algn="r"/>
            <a:r>
              <a:rPr sz="1300" b="0" i="0">
                <a:solidFill>
                  <a:srgbClr val="FFFFFF"/>
                </a:solidFill>
                <a:latin typeface="Inter"/>
              </a:rPr>
              <a:t>Umpire's point stamp</a:t>
            </a:r>
          </a:p>
        </p:txBody>
      </p:sp>
      <p:sp>
        <p:nvSpPr>
          <p:cNvPr id="15" name="Race bar 1"/>
          <p:cNvSpPr/>
          <p:nvPr/>
        </p:nvSpPr>
        <p:spPr>
          <a:xfrm>
            <a:off x="5838240" y="3387851"/>
            <a:ext cx="280767" cy="91440"/>
          </a:xfrm>
          <a:prstGeom prst="rect">
            <a:avLst/>
          </a:prstGeom>
          <a:solidFill>
            <a:srgbClr val="A1A1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ace value 1"/>
          <p:cNvSpPr txBox="1"/>
          <p:nvPr/>
        </p:nvSpPr>
        <p:spPr>
          <a:xfrm>
            <a:off x="6228735" y="3218687"/>
            <a:ext cx="1463040" cy="429768"/>
          </a:xfrm>
          <a:prstGeom prst="rect">
            <a:avLst/>
          </a:prstGeom>
          <a:noFill/>
        </p:spPr>
        <p:txBody>
          <a:bodyPr wrap="square" anchor="ctr" lIns="0" tIns="0" rIns="0" bIns="0">
            <a:noAutofit/>
          </a:bodyPr>
          <a:lstStyle/>
          <a:p>
            <a:pPr algn="l"/>
            <a:r>
              <a:rPr sz="1200" b="1" i="0">
                <a:solidFill>
                  <a:srgbClr val="FFFFFF"/>
                </a:solidFill>
                <a:latin typeface="Inter"/>
              </a:rPr>
              <a:t>2.0–3.14 s</a:t>
            </a:r>
            <a:r>
              <a:rPr sz="1000" b="0" i="0">
                <a:solidFill>
                  <a:srgbClr val="A1A1A6"/>
                </a:solidFill>
                <a:latin typeface="Inter"/>
              </a:rPr>
              <a:t>  unmeasured</a:t>
            </a:r>
          </a:p>
        </p:txBody>
      </p:sp>
      <p:sp>
        <p:nvSpPr>
          <p:cNvPr id="17" name="Race row 2"/>
          <p:cNvSpPr txBox="1"/>
          <p:nvPr/>
        </p:nvSpPr>
        <p:spPr>
          <a:xfrm>
            <a:off x="640080" y="3648456"/>
            <a:ext cx="2240280" cy="429768"/>
          </a:xfrm>
          <a:prstGeom prst="rect">
            <a:avLst/>
          </a:prstGeom>
          <a:noFill/>
        </p:spPr>
        <p:txBody>
          <a:bodyPr wrap="square" anchor="ctr" lIns="0" tIns="0" rIns="0" bIns="0">
            <a:noAutofit/>
          </a:bodyPr>
          <a:lstStyle/>
          <a:p>
            <a:pPr algn="r"/>
            <a:r>
              <a:rPr sz="1300" b="0" i="0">
                <a:solidFill>
                  <a:srgbClr val="FFFFFF"/>
                </a:solidFill>
                <a:latin typeface="Inter"/>
              </a:rPr>
              <a:t>Licensed betting video</a:t>
            </a:r>
          </a:p>
        </p:txBody>
      </p:sp>
      <p:sp>
        <p:nvSpPr>
          <p:cNvPr id="18" name="Race bar 2"/>
          <p:cNvSpPr/>
          <p:nvPr/>
        </p:nvSpPr>
        <p:spPr>
          <a:xfrm>
            <a:off x="4975355" y="3817620"/>
            <a:ext cx="1725768" cy="91440"/>
          </a:xfrm>
          <a:prstGeom prst="rect">
            <a:avLst/>
          </a:prstGeom>
          <a:solidFill>
            <a:srgbClr val="8E8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ace value 2"/>
          <p:cNvSpPr txBox="1"/>
          <p:nvPr/>
        </p:nvSpPr>
        <p:spPr>
          <a:xfrm>
            <a:off x="6810852" y="3648456"/>
            <a:ext cx="1463040" cy="429768"/>
          </a:xfrm>
          <a:prstGeom prst="rect">
            <a:avLst/>
          </a:prstGeom>
          <a:noFill/>
        </p:spPr>
        <p:txBody>
          <a:bodyPr wrap="square" anchor="ctr" lIns="0" tIns="0" rIns="0" bIns="0">
            <a:noAutofit/>
          </a:bodyPr>
          <a:lstStyle/>
          <a:p>
            <a:pPr algn="l"/>
            <a:r>
              <a:rPr sz="1200" b="1" i="0">
                <a:solidFill>
                  <a:srgbClr val="FFFFFF"/>
                </a:solidFill>
                <a:latin typeface="Inter"/>
              </a:rPr>
              <a:t>0.5–8 s</a:t>
            </a:r>
            <a:r>
              <a:rPr sz="1000" b="0" i="0">
                <a:solidFill>
                  <a:srgbClr val="A1A1A6"/>
                </a:solidFill>
                <a:latin typeface="Inter"/>
              </a:rPr>
              <a:t>  vendor-stated</a:t>
            </a:r>
          </a:p>
        </p:txBody>
      </p:sp>
      <p:sp>
        <p:nvSpPr>
          <p:cNvPr id="20" name="Race row 3"/>
          <p:cNvSpPr txBox="1"/>
          <p:nvPr/>
        </p:nvSpPr>
        <p:spPr>
          <a:xfrm>
            <a:off x="640080" y="4078224"/>
            <a:ext cx="2240280" cy="429768"/>
          </a:xfrm>
          <a:prstGeom prst="rect">
            <a:avLst/>
          </a:prstGeom>
          <a:noFill/>
        </p:spPr>
        <p:txBody>
          <a:bodyPr wrap="square" anchor="ctr" lIns="0" tIns="0" rIns="0" bIns="0">
            <a:noAutofit/>
          </a:bodyPr>
          <a:lstStyle/>
          <a:p>
            <a:pPr algn="r"/>
            <a:r>
              <a:rPr sz="1300" b="0" i="0">
                <a:solidFill>
                  <a:srgbClr val="FFFFFF"/>
                </a:solidFill>
                <a:latin typeface="Inter"/>
              </a:rPr>
              <a:t>TV broadcast</a:t>
            </a:r>
          </a:p>
        </p:txBody>
      </p:sp>
      <p:sp>
        <p:nvSpPr>
          <p:cNvPr id="21" name="Race bar 3"/>
          <p:cNvSpPr/>
          <p:nvPr/>
        </p:nvSpPr>
        <p:spPr>
          <a:xfrm>
            <a:off x="5341217" y="4247388"/>
            <a:ext cx="1930242" cy="91440"/>
          </a:xfrm>
          <a:prstGeom prst="rect">
            <a:avLst/>
          </a:prstGeom>
          <a:solidFill>
            <a:srgbClr val="8E8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ace value 3"/>
          <p:cNvSpPr txBox="1"/>
          <p:nvPr/>
        </p:nvSpPr>
        <p:spPr>
          <a:xfrm>
            <a:off x="7381188" y="4078224"/>
            <a:ext cx="1463040" cy="429768"/>
          </a:xfrm>
          <a:prstGeom prst="rect">
            <a:avLst/>
          </a:prstGeom>
          <a:noFill/>
        </p:spPr>
        <p:txBody>
          <a:bodyPr wrap="square" anchor="ctr" lIns="0" tIns="0" rIns="0" bIns="0">
            <a:noAutofit/>
          </a:bodyPr>
          <a:lstStyle/>
          <a:p>
            <a:pPr algn="l"/>
            <a:r>
              <a:rPr sz="1200" b="1" i="0">
                <a:solidFill>
                  <a:srgbClr val="FFFFFF"/>
                </a:solidFill>
                <a:latin typeface="Inter"/>
              </a:rPr>
              <a:t>0.9–20 s</a:t>
            </a:r>
            <a:r>
              <a:rPr sz="1000" b="0" i="0">
                <a:solidFill>
                  <a:srgbClr val="A1A1A6"/>
                </a:solidFill>
                <a:latin typeface="Inter"/>
              </a:rPr>
              <a:t>  published</a:t>
            </a:r>
          </a:p>
        </p:txBody>
      </p:sp>
      <p:sp>
        <p:nvSpPr>
          <p:cNvPr id="23" name="Race row 4"/>
          <p:cNvSpPr txBox="1"/>
          <p:nvPr/>
        </p:nvSpPr>
        <p:spPr>
          <a:xfrm>
            <a:off x="640080" y="4507992"/>
            <a:ext cx="2240280" cy="429768"/>
          </a:xfrm>
          <a:prstGeom prst="rect">
            <a:avLst/>
          </a:prstGeom>
          <a:noFill/>
        </p:spPr>
        <p:txBody>
          <a:bodyPr wrap="square" anchor="ctr" lIns="0" tIns="0" rIns="0" bIns="0">
            <a:noAutofit/>
          </a:bodyPr>
          <a:lstStyle/>
          <a:p>
            <a:pPr algn="r"/>
            <a:r>
              <a:rPr sz="1300" b="0" i="0">
                <a:solidFill>
                  <a:srgbClr val="FFFFFF"/>
                </a:solidFill>
                <a:latin typeface="Inter"/>
              </a:rPr>
              <a:t>Public stream</a:t>
            </a:r>
          </a:p>
        </p:txBody>
      </p:sp>
      <p:sp>
        <p:nvSpPr>
          <p:cNvPr id="24" name="Race dot 4"/>
          <p:cNvSpPr/>
          <p:nvPr/>
        </p:nvSpPr>
        <p:spPr>
          <a:xfrm>
            <a:off x="6899782" y="4658868"/>
            <a:ext cx="128016" cy="128016"/>
          </a:xfrm>
          <a:prstGeom prst="ellipse">
            <a:avLst/>
          </a:prstGeom>
          <a:solidFill>
            <a:srgbClr val="8E8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ce value 4"/>
          <p:cNvSpPr txBox="1"/>
          <p:nvPr/>
        </p:nvSpPr>
        <p:spPr>
          <a:xfrm>
            <a:off x="7073518" y="4507992"/>
            <a:ext cx="1463040" cy="429768"/>
          </a:xfrm>
          <a:prstGeom prst="rect">
            <a:avLst/>
          </a:prstGeom>
          <a:noFill/>
        </p:spPr>
        <p:txBody>
          <a:bodyPr wrap="square" anchor="ctr" lIns="0" tIns="0" rIns="0" bIns="0">
            <a:noAutofit/>
          </a:bodyPr>
          <a:lstStyle/>
          <a:p>
            <a:pPr algn="l"/>
            <a:r>
              <a:rPr sz="1200" b="1" i="0">
                <a:solidFill>
                  <a:srgbClr val="FFFFFF"/>
                </a:solidFill>
                <a:latin typeface="Inter"/>
              </a:rPr>
              <a:t>12.2 s</a:t>
            </a:r>
            <a:r>
              <a:rPr sz="1000" b="0" i="0">
                <a:solidFill>
                  <a:srgbClr val="A1A1A6"/>
                </a:solidFill>
                <a:latin typeface="Inter"/>
              </a:rPr>
              <a:t>  measured</a:t>
            </a:r>
          </a:p>
        </p:txBody>
      </p:sp>
      <p:sp>
        <p:nvSpPr>
          <p:cNvPr id="26" name="Race row 5"/>
          <p:cNvSpPr txBox="1"/>
          <p:nvPr/>
        </p:nvSpPr>
        <p:spPr>
          <a:xfrm>
            <a:off x="640080" y="4937759"/>
            <a:ext cx="2240280" cy="429768"/>
          </a:xfrm>
          <a:prstGeom prst="rect">
            <a:avLst/>
          </a:prstGeom>
          <a:noFill/>
        </p:spPr>
        <p:txBody>
          <a:bodyPr wrap="square" anchor="ctr" lIns="0" tIns="0" rIns="0" bIns="0">
            <a:noAutofit/>
          </a:bodyPr>
          <a:lstStyle/>
          <a:p>
            <a:pPr algn="r"/>
            <a:r>
              <a:rPr sz="1300" b="0" i="0">
                <a:solidFill>
                  <a:srgbClr val="FFFFFF"/>
                </a:solidFill>
                <a:latin typeface="Inter"/>
              </a:rPr>
              <a:t>Score feeds (ESPN, WTA)</a:t>
            </a:r>
          </a:p>
        </p:txBody>
      </p:sp>
      <p:sp>
        <p:nvSpPr>
          <p:cNvPr id="27" name="Race bar 5"/>
          <p:cNvSpPr/>
          <p:nvPr/>
        </p:nvSpPr>
        <p:spPr>
          <a:xfrm>
            <a:off x="7485324" y="5106924"/>
            <a:ext cx="278316" cy="91440"/>
          </a:xfrm>
          <a:prstGeom prst="rect">
            <a:avLst/>
          </a:prstGeom>
          <a:solidFill>
            <a:srgbClr val="8E8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ace value 5"/>
          <p:cNvSpPr txBox="1"/>
          <p:nvPr/>
        </p:nvSpPr>
        <p:spPr>
          <a:xfrm>
            <a:off x="7873368" y="4937759"/>
            <a:ext cx="1463040" cy="429768"/>
          </a:xfrm>
          <a:prstGeom prst="rect">
            <a:avLst/>
          </a:prstGeom>
          <a:noFill/>
        </p:spPr>
        <p:txBody>
          <a:bodyPr wrap="square" anchor="ctr" lIns="0" tIns="0" rIns="0" bIns="0">
            <a:noAutofit/>
          </a:bodyPr>
          <a:lstStyle/>
          <a:p>
            <a:pPr algn="l"/>
            <a:r>
              <a:rPr sz="1200" b="1" i="0">
                <a:solidFill>
                  <a:srgbClr val="FFFFFF"/>
                </a:solidFill>
                <a:latin typeface="Inter"/>
              </a:rPr>
              <a:t>28–44 s</a:t>
            </a:r>
            <a:r>
              <a:rPr sz="1000" b="0" i="0">
                <a:solidFill>
                  <a:srgbClr val="A1A1A6"/>
                </a:solidFill>
                <a:latin typeface="Inter"/>
              </a:rPr>
              <a:t>  measured</a:t>
            </a:r>
          </a:p>
        </p:txBody>
      </p:sp>
      <p:cxnSp>
        <p:nvCxnSpPr>
          <p:cNvPr id="29" name="Race axis"/>
          <p:cNvCxnSpPr/>
          <p:nvPr/>
        </p:nvCxnSpPr>
        <p:spPr>
          <a:xfrm>
            <a:off x="2971800" y="5385815"/>
            <a:ext cx="4983479" cy="0"/>
          </a:xfrm>
          <a:prstGeom prst="line">
            <a:avLst/>
          </a:prstGeom>
          <a:ln w="9525">
            <a:solidFill>
              <a:srgbClr val="48484A"/>
            </a:solidFill>
          </a:ln>
        </p:spPr>
        <p:style>
          <a:lnRef idx="2">
            <a:schemeClr val="accent1"/>
          </a:lnRef>
          <a:fillRef idx="0">
            <a:schemeClr val="accent1"/>
          </a:fillRef>
          <a:effectRef idx="1">
            <a:schemeClr val="accent1"/>
          </a:effectRef>
          <a:fontRef idx="minor">
            <a:schemeClr val="tx1"/>
          </a:fontRef>
        </p:style>
      </p:cxnSp>
      <p:sp>
        <p:nvSpPr>
          <p:cNvPr id="30" name="Tick 0.05"/>
          <p:cNvSpPr txBox="1"/>
          <p:nvPr/>
        </p:nvSpPr>
        <p:spPr>
          <a:xfrm>
            <a:off x="3267815" y="5422391"/>
            <a:ext cx="548640" cy="201168"/>
          </a:xfrm>
          <a:prstGeom prst="rect">
            <a:avLst/>
          </a:prstGeom>
          <a:noFill/>
        </p:spPr>
        <p:txBody>
          <a:bodyPr wrap="square" anchor="t" lIns="0" tIns="0" rIns="0" bIns="0">
            <a:noAutofit/>
          </a:bodyPr>
          <a:lstStyle/>
          <a:p>
            <a:pPr algn="ctr"/>
            <a:r>
              <a:rPr sz="1000" b="0" i="0">
                <a:solidFill>
                  <a:srgbClr val="A1A1A6"/>
                </a:solidFill>
                <a:latin typeface="Inter"/>
              </a:rPr>
              <a:t>0.05</a:t>
            </a:r>
          </a:p>
        </p:txBody>
      </p:sp>
      <p:sp>
        <p:nvSpPr>
          <p:cNvPr id="31" name="Tick 0.1"/>
          <p:cNvSpPr txBox="1"/>
          <p:nvPr/>
        </p:nvSpPr>
        <p:spPr>
          <a:xfrm>
            <a:off x="3699257" y="5422391"/>
            <a:ext cx="548640" cy="201168"/>
          </a:xfrm>
          <a:prstGeom prst="rect">
            <a:avLst/>
          </a:prstGeom>
          <a:noFill/>
        </p:spPr>
        <p:txBody>
          <a:bodyPr wrap="square" anchor="t" lIns="0" tIns="0" rIns="0" bIns="0">
            <a:noAutofit/>
          </a:bodyPr>
          <a:lstStyle/>
          <a:p>
            <a:pPr algn="ctr"/>
            <a:r>
              <a:rPr sz="1000" b="0" i="0">
                <a:solidFill>
                  <a:srgbClr val="A1A1A6"/>
                </a:solidFill>
                <a:latin typeface="Inter"/>
              </a:rPr>
              <a:t>0.1</a:t>
            </a:r>
          </a:p>
        </p:txBody>
      </p:sp>
      <p:sp>
        <p:nvSpPr>
          <p:cNvPr id="32" name="Tick 0.5"/>
          <p:cNvSpPr txBox="1"/>
          <p:nvPr/>
        </p:nvSpPr>
        <p:spPr>
          <a:xfrm>
            <a:off x="4701035" y="5422391"/>
            <a:ext cx="548640" cy="201168"/>
          </a:xfrm>
          <a:prstGeom prst="rect">
            <a:avLst/>
          </a:prstGeom>
          <a:noFill/>
        </p:spPr>
        <p:txBody>
          <a:bodyPr wrap="square" anchor="t" lIns="0" tIns="0" rIns="0" bIns="0">
            <a:noAutofit/>
          </a:bodyPr>
          <a:lstStyle/>
          <a:p>
            <a:pPr algn="ctr"/>
            <a:r>
              <a:rPr sz="1000" b="0" i="0">
                <a:solidFill>
                  <a:srgbClr val="A1A1A6"/>
                </a:solidFill>
                <a:latin typeface="Inter"/>
              </a:rPr>
              <a:t>0.5</a:t>
            </a:r>
          </a:p>
        </p:txBody>
      </p:sp>
      <p:sp>
        <p:nvSpPr>
          <p:cNvPr id="33" name="Tick 1"/>
          <p:cNvSpPr txBox="1"/>
          <p:nvPr/>
        </p:nvSpPr>
        <p:spPr>
          <a:xfrm>
            <a:off x="5132477" y="5422391"/>
            <a:ext cx="548640" cy="201168"/>
          </a:xfrm>
          <a:prstGeom prst="rect">
            <a:avLst/>
          </a:prstGeom>
          <a:noFill/>
        </p:spPr>
        <p:txBody>
          <a:bodyPr wrap="square" anchor="t" lIns="0" tIns="0" rIns="0" bIns="0">
            <a:noAutofit/>
          </a:bodyPr>
          <a:lstStyle/>
          <a:p>
            <a:pPr algn="ctr"/>
            <a:r>
              <a:rPr sz="1000" b="0" i="0">
                <a:solidFill>
                  <a:srgbClr val="A1A1A6"/>
                </a:solidFill>
                <a:latin typeface="Inter"/>
              </a:rPr>
              <a:t>1</a:t>
            </a:r>
          </a:p>
        </p:txBody>
      </p:sp>
      <p:sp>
        <p:nvSpPr>
          <p:cNvPr id="34" name="Tick 3"/>
          <p:cNvSpPr txBox="1"/>
          <p:nvPr/>
        </p:nvSpPr>
        <p:spPr>
          <a:xfrm>
            <a:off x="5816297" y="5422391"/>
            <a:ext cx="548640" cy="201168"/>
          </a:xfrm>
          <a:prstGeom prst="rect">
            <a:avLst/>
          </a:prstGeom>
          <a:noFill/>
        </p:spPr>
        <p:txBody>
          <a:bodyPr wrap="square" anchor="t" lIns="0" tIns="0" rIns="0" bIns="0">
            <a:noAutofit/>
          </a:bodyPr>
          <a:lstStyle/>
          <a:p>
            <a:pPr algn="ctr"/>
            <a:r>
              <a:rPr sz="1000" b="0" i="0">
                <a:solidFill>
                  <a:srgbClr val="A1A1A6"/>
                </a:solidFill>
                <a:latin typeface="Inter"/>
              </a:rPr>
              <a:t>3</a:t>
            </a:r>
          </a:p>
        </p:txBody>
      </p:sp>
      <p:sp>
        <p:nvSpPr>
          <p:cNvPr id="35" name="Tick 10"/>
          <p:cNvSpPr txBox="1"/>
          <p:nvPr/>
        </p:nvSpPr>
        <p:spPr>
          <a:xfrm>
            <a:off x="6565698" y="5422391"/>
            <a:ext cx="548640" cy="201168"/>
          </a:xfrm>
          <a:prstGeom prst="rect">
            <a:avLst/>
          </a:prstGeom>
          <a:noFill/>
        </p:spPr>
        <p:txBody>
          <a:bodyPr wrap="square" anchor="t" lIns="0" tIns="0" rIns="0" bIns="0">
            <a:noAutofit/>
          </a:bodyPr>
          <a:lstStyle/>
          <a:p>
            <a:pPr algn="ctr"/>
            <a:r>
              <a:rPr sz="1000" b="0" i="0">
                <a:solidFill>
                  <a:srgbClr val="A1A1A6"/>
                </a:solidFill>
                <a:latin typeface="Inter"/>
              </a:rPr>
              <a:t>10</a:t>
            </a:r>
          </a:p>
        </p:txBody>
      </p:sp>
      <p:sp>
        <p:nvSpPr>
          <p:cNvPr id="36" name="Tick 60"/>
          <p:cNvSpPr txBox="1"/>
          <p:nvPr/>
        </p:nvSpPr>
        <p:spPr>
          <a:xfrm>
            <a:off x="7680959" y="5422391"/>
            <a:ext cx="548640" cy="201168"/>
          </a:xfrm>
          <a:prstGeom prst="rect">
            <a:avLst/>
          </a:prstGeom>
          <a:noFill/>
        </p:spPr>
        <p:txBody>
          <a:bodyPr wrap="square" anchor="t" lIns="0" tIns="0" rIns="0" bIns="0">
            <a:noAutofit/>
          </a:bodyPr>
          <a:lstStyle/>
          <a:p>
            <a:pPr algn="ctr"/>
            <a:r>
              <a:rPr sz="1000" b="0" i="0">
                <a:solidFill>
                  <a:srgbClr val="A1A1A6"/>
                </a:solidFill>
                <a:latin typeface="Inter"/>
              </a:rPr>
              <a:t>60</a:t>
            </a:r>
          </a:p>
        </p:txBody>
      </p:sp>
      <p:sp>
        <p:nvSpPr>
          <p:cNvPr id="37" name="Axis title"/>
          <p:cNvSpPr txBox="1"/>
          <p:nvPr/>
        </p:nvSpPr>
        <p:spPr>
          <a:xfrm>
            <a:off x="2971800" y="5632703"/>
            <a:ext cx="4983480" cy="219456"/>
          </a:xfrm>
          <a:prstGeom prst="rect">
            <a:avLst/>
          </a:prstGeom>
          <a:noFill/>
        </p:spPr>
        <p:txBody>
          <a:bodyPr wrap="square" anchor="t" lIns="0" tIns="0" rIns="0" bIns="0">
            <a:noAutofit/>
          </a:bodyPr>
          <a:lstStyle/>
          <a:p>
            <a:pPr algn="ctr"/>
            <a:r>
              <a:rPr sz="1000" b="0" i="0">
                <a:solidFill>
                  <a:srgbClr val="A1A1A6"/>
                </a:solidFill>
                <a:latin typeface="Inter"/>
              </a:rPr>
              <a:t>seconds after the point ends (log scale)</a:t>
            </a:r>
          </a:p>
        </p:txBody>
      </p:sp>
      <p:sp>
        <p:nvSpPr>
          <p:cNvPr id="38" name="Stale depth: value"/>
          <p:cNvSpPr txBox="1"/>
          <p:nvPr/>
        </p:nvSpPr>
        <p:spPr>
          <a:xfrm>
            <a:off x="9738359" y="2377440"/>
            <a:ext cx="1813255" cy="539750"/>
          </a:xfrm>
          <a:prstGeom prst="rect">
            <a:avLst/>
          </a:prstGeom>
          <a:noFill/>
        </p:spPr>
        <p:txBody>
          <a:bodyPr wrap="square" anchor="b" lIns="0" tIns="0" rIns="0" bIns="0">
            <a:noAutofit/>
          </a:bodyPr>
          <a:lstStyle/>
          <a:p>
            <a:pPr algn="l"/>
            <a:r>
              <a:rPr sz="3400" b="1" i="0">
                <a:solidFill>
                  <a:srgbClr val="E8601C"/>
                </a:solidFill>
                <a:latin typeface="Inter"/>
              </a:rPr>
              <a:t>$222</a:t>
            </a:r>
          </a:p>
        </p:txBody>
      </p:sp>
      <p:sp>
        <p:nvSpPr>
          <p:cNvPr id="39" name="Stale depth: caption"/>
          <p:cNvSpPr txBox="1"/>
          <p:nvPr/>
        </p:nvSpPr>
        <p:spPr>
          <a:xfrm>
            <a:off x="9738359" y="2938780"/>
            <a:ext cx="1813255" cy="1097280"/>
          </a:xfrm>
          <a:prstGeom prst="rect">
            <a:avLst/>
          </a:prstGeom>
          <a:noFill/>
        </p:spPr>
        <p:txBody>
          <a:bodyPr wrap="square" anchor="t" lIns="0" tIns="0" rIns="0" bIns="0">
            <a:noAutofit/>
          </a:bodyPr>
          <a:lstStyle/>
          <a:p>
            <a:pPr algn="l">
              <a:lnSpc>
                <a:spcPct val="110000"/>
              </a:lnSpc>
            </a:pPr>
            <a:r>
              <a:rPr sz="1100" b="0" i="0">
                <a:solidFill>
                  <a:srgbClr val="A1A1A6"/>
                </a:solidFill>
                <a:latin typeface="Inter"/>
              </a:rPr>
              <a:t>median resting at the old price 250 ms before the book moves (one day, 482 points)</a:t>
            </a:r>
          </a:p>
        </p:txBody>
      </p:sp>
      <p:sp>
        <p:nvSpPr>
          <p:cNvPr id="40" name="Venue hold: value"/>
          <p:cNvSpPr txBox="1"/>
          <p:nvPr/>
        </p:nvSpPr>
        <p:spPr>
          <a:xfrm>
            <a:off x="9738359" y="4114800"/>
            <a:ext cx="1813255" cy="539750"/>
          </a:xfrm>
          <a:prstGeom prst="rect">
            <a:avLst/>
          </a:prstGeom>
          <a:noFill/>
        </p:spPr>
        <p:txBody>
          <a:bodyPr wrap="square" anchor="b" lIns="0" tIns="0" rIns="0" bIns="0">
            <a:noAutofit/>
          </a:bodyPr>
          <a:lstStyle/>
          <a:p>
            <a:pPr algn="l"/>
            <a:r>
              <a:rPr sz="3400" b="1" i="0">
                <a:solidFill>
                  <a:srgbClr val="FFFFFF"/>
                </a:solidFill>
                <a:latin typeface="Inter"/>
              </a:rPr>
              <a:t>1 s</a:t>
            </a:r>
          </a:p>
        </p:txBody>
      </p:sp>
      <p:sp>
        <p:nvSpPr>
          <p:cNvPr id="41" name="Venue hold: caption"/>
          <p:cNvSpPr txBox="1"/>
          <p:nvPr/>
        </p:nvSpPr>
        <p:spPr>
          <a:xfrm>
            <a:off x="9738359" y="4676140"/>
            <a:ext cx="1813255" cy="777240"/>
          </a:xfrm>
          <a:prstGeom prst="rect">
            <a:avLst/>
          </a:prstGeom>
          <a:noFill/>
        </p:spPr>
        <p:txBody>
          <a:bodyPr wrap="square" anchor="t" lIns="0" tIns="0" rIns="0" bIns="0">
            <a:noAutofit/>
          </a:bodyPr>
          <a:lstStyle/>
          <a:p>
            <a:pPr algn="l">
              <a:lnSpc>
                <a:spcPct val="110000"/>
              </a:lnSpc>
            </a:pPr>
            <a:r>
              <a:rPr sz="1100" b="0" i="0">
                <a:solidFill>
                  <a:srgbClr val="A1A1A6"/>
                </a:solidFill>
                <a:latin typeface="Inter"/>
              </a:rPr>
              <a:t>venue hold on every taker order: know before the book moves</a:t>
            </a:r>
          </a:p>
        </p:txBody>
      </p:sp>
      <p:sp>
        <p:nvSpPr>
          <p:cNvPr id="42" name="Book vs stamp"/>
          <p:cNvSpPr txBox="1"/>
          <p:nvPr/>
        </p:nvSpPr>
        <p:spPr>
          <a:xfrm>
            <a:off x="9738359" y="5532120"/>
            <a:ext cx="1813255" cy="731520"/>
          </a:xfrm>
          <a:prstGeom prst="rect">
            <a:avLst/>
          </a:prstGeom>
          <a:noFill/>
        </p:spPr>
        <p:txBody>
          <a:bodyPr wrap="square" anchor="t" lIns="0" tIns="0" rIns="0" bIns="0">
            <a:noAutofit/>
          </a:bodyPr>
          <a:lstStyle/>
          <a:p>
            <a:pPr algn="l">
              <a:lnSpc>
                <a:spcPct val="110000"/>
              </a:lnSpc>
            </a:pPr>
            <a:r>
              <a:rPr sz="1100" b="0" i="0">
                <a:solidFill>
                  <a:srgbClr val="A1A1A6"/>
                </a:solidFill>
                <a:latin typeface="Inter"/>
              </a:rPr>
              <a:t>Book moves 1.2 s before the official stamp (n = 482).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1D1D1F"/>
                </a:solidFill>
                <a:latin typeface="Inter"/>
              </a:rPr>
              <a:t>The edge exists, and it is speed</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03</a:t>
            </a:r>
            <a:r>
              <a:rPr sz="1050" b="1" i="0" spc="150">
                <a:solidFill>
                  <a:srgbClr val="6E6E73"/>
                </a:solidFill>
                <a:latin typeface="Inter"/>
              </a:rPr>
              <a:t>   THE EDGE EXISTS</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Polymarket public tapes · wallets' own fills, not our trades</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3</a:t>
            </a:r>
          </a:p>
        </p:txBody>
      </p:sp>
      <p:pic>
        <p:nvPicPr>
          <p:cNvPr id="8" name="Fig: edge (paper Fig. 2)" descr="fig2_edge.png"/>
          <p:cNvPicPr>
            <a:picLocks noChangeAspect="1"/>
          </p:cNvPicPr>
          <p:nvPr/>
        </p:nvPicPr>
        <p:blipFill>
          <a:blip r:embed="rId2"/>
          <a:stretch>
            <a:fillRect/>
          </a:stretch>
        </p:blipFill>
        <p:spPr>
          <a:xfrm>
            <a:off x="594359" y="1975104"/>
            <a:ext cx="7726679" cy="3090672"/>
          </a:xfrm>
          <a:prstGeom prst="rect">
            <a:avLst/>
          </a:prstGeom>
        </p:spPr>
      </p:pic>
      <p:sp>
        <p:nvSpPr>
          <p:cNvPr id="9" name="Fig caption"/>
          <p:cNvSpPr txBox="1"/>
          <p:nvPr/>
        </p:nvSpPr>
        <p:spPr>
          <a:xfrm>
            <a:off x="640080" y="5623560"/>
            <a:ext cx="7589520" cy="640080"/>
          </a:xfrm>
          <a:prstGeom prst="rect">
            <a:avLst/>
          </a:prstGeom>
          <a:noFill/>
        </p:spPr>
        <p:txBody>
          <a:bodyPr wrap="square" anchor="t" lIns="0" tIns="0" rIns="0" bIns="0">
            <a:noAutofit/>
          </a:bodyPr>
          <a:lstStyle/>
          <a:p>
            <a:pPr algn="l">
              <a:lnSpc>
                <a:spcPct val="110000"/>
              </a:lnSpc>
            </a:pPr>
            <a:r>
              <a:rPr sz="1000" b="0" i="0">
                <a:solidFill>
                  <a:srgbClr val="6E6E73"/>
                </a:solidFill>
                <a:latin typeface="Inter"/>
              </a:rPr>
              <a:t>Net 30 s markout after taker fees, ¢ per share; fast tier = walk-forward wallets trading within 3 s of a score move. Right: v2 at the fast tier's own fills. Source: paper Fig. 2.</a:t>
            </a:r>
          </a:p>
        </p:txBody>
      </p:sp>
      <p:sp>
        <p:nvSpPr>
          <p:cNvPr id="10" name="Months: value"/>
          <p:cNvSpPr txBox="1"/>
          <p:nvPr/>
        </p:nvSpPr>
        <p:spPr>
          <a:xfrm>
            <a:off x="8641080" y="1463040"/>
            <a:ext cx="2910535" cy="571500"/>
          </a:xfrm>
          <a:prstGeom prst="rect">
            <a:avLst/>
          </a:prstGeom>
          <a:noFill/>
        </p:spPr>
        <p:txBody>
          <a:bodyPr wrap="square" anchor="b" lIns="0" tIns="0" rIns="0" bIns="0">
            <a:noAutofit/>
          </a:bodyPr>
          <a:lstStyle/>
          <a:p>
            <a:pPr algn="l"/>
            <a:r>
              <a:rPr sz="3600" b="1" i="0">
                <a:solidFill>
                  <a:srgbClr val="E8601C"/>
                </a:solidFill>
                <a:latin typeface="Inter"/>
              </a:rPr>
              <a:t>9/9 · 3/3</a:t>
            </a:r>
          </a:p>
        </p:txBody>
      </p:sp>
      <p:sp>
        <p:nvSpPr>
          <p:cNvPr id="11" name="Months: caption"/>
          <p:cNvSpPr txBox="1"/>
          <p:nvPr/>
        </p:nvSpPr>
        <p:spPr>
          <a:xfrm>
            <a:off x="8641080" y="2057400"/>
            <a:ext cx="2910535" cy="548640"/>
          </a:xfrm>
          <a:prstGeom prst="rect">
            <a:avLst/>
          </a:prstGeom>
          <a:noFill/>
        </p:spPr>
        <p:txBody>
          <a:bodyPr wrap="square" anchor="t" lIns="0" tIns="0" rIns="0" bIns="0">
            <a:noAutofit/>
          </a:bodyPr>
          <a:lstStyle/>
          <a:p>
            <a:pPr algn="l">
              <a:lnSpc>
                <a:spcPct val="110000"/>
              </a:lnSpc>
            </a:pPr>
            <a:r>
              <a:rPr sz="1200" b="0" i="0">
                <a:solidFill>
                  <a:srgbClr val="6E6E73"/>
                </a:solidFill>
                <a:latin typeface="Inter"/>
              </a:rPr>
              <a:t>months positive for the fast tier, in sample · held out</a:t>
            </a:r>
          </a:p>
        </p:txBody>
      </p:sp>
      <p:sp>
        <p:nvSpPr>
          <p:cNvPr id="12" name="Per share: value"/>
          <p:cNvSpPr txBox="1"/>
          <p:nvPr/>
        </p:nvSpPr>
        <p:spPr>
          <a:xfrm>
            <a:off x="8641080" y="2606040"/>
            <a:ext cx="2910535" cy="444500"/>
          </a:xfrm>
          <a:prstGeom prst="rect">
            <a:avLst/>
          </a:prstGeom>
          <a:noFill/>
        </p:spPr>
        <p:txBody>
          <a:bodyPr wrap="square" anchor="b" lIns="0" tIns="0" rIns="0" bIns="0">
            <a:noAutofit/>
          </a:bodyPr>
          <a:lstStyle/>
          <a:p>
            <a:pPr algn="l"/>
            <a:r>
              <a:rPr sz="2800" b="1" i="0">
                <a:solidFill>
                  <a:srgbClr val="1D1D1F"/>
                </a:solidFill>
                <a:latin typeface="Inter"/>
              </a:rPr>
              <a:t>+0.93¢ · +0.75¢</a:t>
            </a:r>
          </a:p>
        </p:txBody>
      </p:sp>
      <p:sp>
        <p:nvSpPr>
          <p:cNvPr id="13" name="Per share: caption"/>
          <p:cNvSpPr txBox="1"/>
          <p:nvPr/>
        </p:nvSpPr>
        <p:spPr>
          <a:xfrm>
            <a:off x="8641080" y="3068320"/>
            <a:ext cx="2910535" cy="777240"/>
          </a:xfrm>
          <a:prstGeom prst="rect">
            <a:avLst/>
          </a:prstGeom>
          <a:noFill/>
        </p:spPr>
        <p:txBody>
          <a:bodyPr wrap="square" anchor="t" lIns="0" tIns="0" rIns="0" bIns="0">
            <a:noAutofit/>
          </a:bodyPr>
          <a:lstStyle/>
          <a:p>
            <a:pPr algn="l">
              <a:lnSpc>
                <a:spcPct val="110000"/>
              </a:lnSpc>
            </a:pPr>
            <a:r>
              <a:rPr sz="1200" b="0" i="0">
                <a:solidFill>
                  <a:srgbClr val="6E6E73"/>
                </a:solidFill>
                <a:latin typeface="Inter"/>
              </a:rPr>
              <a:t>fast tier per share, after fees. Everyone else −0.89¢ · −1.43¢; copy them 3 s later −1.05¢ · −1.59¢</a:t>
            </a:r>
          </a:p>
        </p:txBody>
      </p:sp>
      <p:sp>
        <p:nvSpPr>
          <p:cNvPr id="14" name="Alpha: value"/>
          <p:cNvSpPr txBox="1"/>
          <p:nvPr/>
        </p:nvSpPr>
        <p:spPr>
          <a:xfrm>
            <a:off x="8641080" y="3977639"/>
            <a:ext cx="2910535" cy="444500"/>
          </a:xfrm>
          <a:prstGeom prst="rect">
            <a:avLst/>
          </a:prstGeom>
          <a:noFill/>
        </p:spPr>
        <p:txBody>
          <a:bodyPr wrap="square" anchor="b" lIns="0" tIns="0" rIns="0" bIns="0">
            <a:noAutofit/>
          </a:bodyPr>
          <a:lstStyle/>
          <a:p>
            <a:pPr algn="l"/>
            <a:r>
              <a:rPr sz="2800" b="1" i="0">
                <a:solidFill>
                  <a:srgbClr val="1D1D1F"/>
                </a:solidFill>
                <a:latin typeface="Inter"/>
              </a:rPr>
              <a:t>t = 8.48</a:t>
            </a:r>
          </a:p>
        </p:txBody>
      </p:sp>
      <p:sp>
        <p:nvSpPr>
          <p:cNvPr id="15" name="Alpha: caption"/>
          <p:cNvSpPr txBox="1"/>
          <p:nvPr/>
        </p:nvSpPr>
        <p:spPr>
          <a:xfrm>
            <a:off x="8641080" y="4439920"/>
            <a:ext cx="2910535" cy="777240"/>
          </a:xfrm>
          <a:prstGeom prst="rect">
            <a:avLst/>
          </a:prstGeom>
          <a:noFill/>
        </p:spPr>
        <p:txBody>
          <a:bodyPr wrap="square" anchor="t" lIns="0" tIns="0" rIns="0" bIns="0">
            <a:noAutofit/>
          </a:bodyPr>
          <a:lstStyle/>
          <a:p>
            <a:pPr algn="l">
              <a:lnSpc>
                <a:spcPct val="110000"/>
              </a:lnSpc>
            </a:pPr>
            <a:r>
              <a:rPr sz="1200" b="0" i="0">
                <a:solidFill>
                  <a:srgbClr val="6E6E73"/>
                </a:solidFill>
                <a:latin typeface="Inter"/>
              </a:rPr>
              <a:t>four-factor alpha (v2 at fast-tier fills); largest factor |t| 1.36, R² 3.3%: factor-neutral</a:t>
            </a:r>
          </a:p>
        </p:txBody>
      </p:sp>
      <p:sp>
        <p:nvSpPr>
          <p:cNvPr id="16" name="Decay"/>
          <p:cNvSpPr txBox="1"/>
          <p:nvPr/>
        </p:nvSpPr>
        <p:spPr>
          <a:xfrm>
            <a:off x="8641080" y="5349240"/>
            <a:ext cx="2910535" cy="822960"/>
          </a:xfrm>
          <a:prstGeom prst="rect">
            <a:avLst/>
          </a:prstGeom>
          <a:noFill/>
        </p:spPr>
        <p:txBody>
          <a:bodyPr wrap="square" anchor="t" lIns="0" tIns="0" rIns="0" bIns="0">
            <a:noAutofit/>
          </a:bodyPr>
          <a:lstStyle/>
          <a:p>
            <a:pPr algn="l">
              <a:lnSpc>
                <a:spcPct val="110000"/>
              </a:lnSpc>
            </a:pPr>
            <a:r>
              <a:rPr sz="1100" b="0" i="0">
                <a:solidFill>
                  <a:srgbClr val="6E6E73"/>
                </a:solidFill>
                <a:latin typeface="Inter"/>
              </a:rPr>
              <a:t>Competition is biting: the edge shrinks 0.20¢ a month (t = −3.98) and stays positive.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FFFFFF"/>
                </a:solidFill>
                <a:latin typeface="Inter"/>
              </a:rPr>
              <a:t>It calls table-tennis points before the ball lands</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04</a:t>
            </a:r>
            <a:r>
              <a:rPr sz="1050" b="1" i="0" spc="150">
                <a:solidFill>
                  <a:srgbClr val="A1A1A6"/>
                </a:solidFill>
                <a:latin typeface="Inter"/>
              </a:rPr>
              <a:t>   THE CV MODELS</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A1A1A6"/>
                </a:solidFill>
                <a:latin typeface="Inter"/>
              </a:rPr>
              <a:t>OpenTTGames held-out games (CC BY-NC-SA 4.0) · tennis: simulated physics</a:t>
            </a:r>
          </a:p>
        </p:txBody>
      </p:sp>
      <p:cxnSp>
        <p:nvCxnSpPr>
          <p:cNvPr id="5" name="Footer rule"/>
          <p:cNvCxnSpPr/>
          <p:nvPr/>
        </p:nvCxnSpPr>
        <p:spPr>
          <a:xfrm>
            <a:off x="640080" y="6419088"/>
            <a:ext cx="10911535" cy="0"/>
          </a:xfrm>
          <a:prstGeom prst="line">
            <a:avLst/>
          </a:prstGeom>
          <a:ln w="6350">
            <a:solidFill>
              <a:srgbClr val="2C2C2E"/>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A1A1A6"/>
                </a:solidFill>
                <a:latin typeface="Inter"/>
              </a:rPr>
              <a:t>COURTSIDE</a:t>
            </a:r>
            <a:r>
              <a:rPr sz="900" b="0" i="0">
                <a:solidFill>
                  <a:srgbClr val="A1A1A6"/>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A1A1A6"/>
                </a:solidFill>
                <a:latin typeface="Inter"/>
              </a:rPr>
              <a:t>4</a:t>
            </a:r>
          </a:p>
        </p:txBody>
      </p:sp>
      <p:pic>
        <p:nvPicPr>
          <p:cNvPr id="8" name="Video: CV models (from the final video, muted, loop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40080" y="1600200"/>
            <a:ext cx="6720840" cy="3780472"/>
          </a:xfrm>
          <a:prstGeom prst="rect">
            <a:avLst/>
          </a:prstGeom>
        </p:spPr>
      </p:pic>
      <p:sp>
        <p:nvSpPr>
          <p:cNvPr id="9" name="Video caption"/>
          <p:cNvSpPr txBox="1"/>
          <p:nvPr/>
        </p:nvSpPr>
        <p:spPr>
          <a:xfrm>
            <a:off x="640080" y="5453824"/>
            <a:ext cx="6720840" cy="457200"/>
          </a:xfrm>
          <a:prstGeom prst="rect">
            <a:avLst/>
          </a:prstGeom>
          <a:noFill/>
        </p:spPr>
        <p:txBody>
          <a:bodyPr wrap="square" anchor="t" lIns="0" tIns="0" rIns="0" bIns="0">
            <a:noAutofit/>
          </a:bodyPr>
          <a:lstStyle/>
          <a:p>
            <a:pPr algn="l">
              <a:lnSpc>
                <a:spcPct val="105000"/>
              </a:lnSpc>
            </a:pPr>
            <a:r>
              <a:rPr sz="950" b="0" i="0">
                <a:solidFill>
                  <a:srgbClr val="A1A1A6"/>
                </a:solidFill>
                <a:latin typeface="Inter"/>
              </a:rPr>
              <a:t>From our 90 s video (segment 24 s, muted, loops): engine calls on real held-out table tennis, our tracker on a licensed tennis rally (no calls), the spin model in simulated physics. Tennis rally: “Tennis Players Playing Match” by Gelato Prod, Pexels (Pexels License).</a:t>
            </a:r>
          </a:p>
        </p:txBody>
      </p:sp>
      <p:sp>
        <p:nvSpPr>
          <p:cNvPr id="10" name="Model 0: head"/>
          <p:cNvSpPr txBox="1"/>
          <p:nvPr/>
        </p:nvSpPr>
        <p:spPr>
          <a:xfrm>
            <a:off x="7726679" y="1572768"/>
            <a:ext cx="3824935" cy="256032"/>
          </a:xfrm>
          <a:prstGeom prst="rect">
            <a:avLst/>
          </a:prstGeom>
          <a:noFill/>
        </p:spPr>
        <p:txBody>
          <a:bodyPr wrap="square" anchor="t" lIns="0" tIns="0" rIns="0" bIns="0">
            <a:noAutofit/>
          </a:bodyPr>
          <a:lstStyle/>
          <a:p>
            <a:pPr algn="l"/>
            <a:r>
              <a:rPr sz="1100" b="1" i="0">
                <a:solidFill>
                  <a:srgbClr val="E8601C"/>
                </a:solidFill>
                <a:latin typeface="Inter"/>
              </a:rPr>
              <a:t>Table tennis · real held-out footage · live causal engine</a:t>
            </a:r>
          </a:p>
        </p:txBody>
      </p:sp>
      <p:sp>
        <p:nvSpPr>
          <p:cNvPr id="11" name="Model 0: value"/>
          <p:cNvSpPr txBox="1"/>
          <p:nvPr/>
        </p:nvSpPr>
        <p:spPr>
          <a:xfrm>
            <a:off x="7726679" y="1819656"/>
            <a:ext cx="3824935" cy="566928"/>
          </a:xfrm>
          <a:prstGeom prst="rect">
            <a:avLst/>
          </a:prstGeom>
          <a:noFill/>
        </p:spPr>
        <p:txBody>
          <a:bodyPr wrap="square" anchor="ctr" lIns="0" tIns="0" rIns="0" bIns="0">
            <a:noAutofit/>
          </a:bodyPr>
          <a:lstStyle/>
          <a:p>
            <a:pPr algn="l"/>
            <a:r>
              <a:rPr sz="3200" b="1" i="0">
                <a:solidFill>
                  <a:srgbClr val="FFFFFF"/>
                </a:solidFill>
                <a:latin typeface="Inter"/>
              </a:rPr>
              <a:t>4 of 41</a:t>
            </a:r>
          </a:p>
        </p:txBody>
      </p:sp>
      <p:sp>
        <p:nvSpPr>
          <p:cNvPr id="12" name="Model 0: caption"/>
          <p:cNvSpPr txBox="1"/>
          <p:nvPr/>
        </p:nvSpPr>
        <p:spPr>
          <a:xfrm>
            <a:off x="7726679" y="2395728"/>
            <a:ext cx="3824935" cy="566928"/>
          </a:xfrm>
          <a:prstGeom prst="rect">
            <a:avLst/>
          </a:prstGeom>
          <a:noFill/>
        </p:spPr>
        <p:txBody>
          <a:bodyPr wrap="square" anchor="t" lIns="0" tIns="0" rIns="0" bIns="0">
            <a:noAutofit/>
          </a:bodyPr>
          <a:lstStyle/>
          <a:p>
            <a:pPr algn="l">
              <a:lnSpc>
                <a:spcPct val="110000"/>
              </a:lnSpc>
            </a:pPr>
            <a:r>
              <a:rPr sz="1150" b="0" i="0">
                <a:solidFill>
                  <a:srgbClr val="A1A1A6"/>
                </a:solidFill>
                <a:latin typeface="Inter"/>
              </a:rPr>
              <a:t>misses called before the ball got there, none wrong (95% lower bound 51%); median lead 162 ms; the video's cold open: 325 ms early</a:t>
            </a:r>
          </a:p>
        </p:txBody>
      </p:sp>
      <p:sp>
        <p:nvSpPr>
          <p:cNvPr id="13" name="Model 1: head"/>
          <p:cNvSpPr txBox="1"/>
          <p:nvPr/>
        </p:nvSpPr>
        <p:spPr>
          <a:xfrm>
            <a:off x="7726679" y="3108960"/>
            <a:ext cx="3824935" cy="256032"/>
          </a:xfrm>
          <a:prstGeom prst="rect">
            <a:avLst/>
          </a:prstGeom>
          <a:noFill/>
        </p:spPr>
        <p:txBody>
          <a:bodyPr wrap="square" anchor="t" lIns="0" tIns="0" rIns="0" bIns="0">
            <a:noAutofit/>
          </a:bodyPr>
          <a:lstStyle/>
          <a:p>
            <a:pPr algn="l"/>
            <a:r>
              <a:rPr sz="1100" b="1" i="0">
                <a:solidFill>
                  <a:srgbClr val="A1A1A6"/>
                </a:solidFill>
                <a:latin typeface="Inter"/>
              </a:rPr>
              <a:t>Tennis · spin-aware tracker · simulated physics</a:t>
            </a:r>
          </a:p>
        </p:txBody>
      </p:sp>
      <p:sp>
        <p:nvSpPr>
          <p:cNvPr id="14" name="Model 1: value"/>
          <p:cNvSpPr txBox="1"/>
          <p:nvPr/>
        </p:nvSpPr>
        <p:spPr>
          <a:xfrm>
            <a:off x="7726679" y="3355848"/>
            <a:ext cx="3824935" cy="566928"/>
          </a:xfrm>
          <a:prstGeom prst="rect">
            <a:avLst/>
          </a:prstGeom>
          <a:noFill/>
        </p:spPr>
        <p:txBody>
          <a:bodyPr wrap="square" anchor="ctr" lIns="0" tIns="0" rIns="0" bIns="0">
            <a:noAutofit/>
          </a:bodyPr>
          <a:lstStyle/>
          <a:p>
            <a:pPr algn="l"/>
            <a:r>
              <a:rPr sz="3200" b="1" i="0">
                <a:solidFill>
                  <a:srgbClr val="FFFFFF"/>
                </a:solidFill>
                <a:latin typeface="Inter"/>
              </a:rPr>
              <a:t>0.57 cm</a:t>
            </a:r>
          </a:p>
        </p:txBody>
      </p:sp>
      <p:sp>
        <p:nvSpPr>
          <p:cNvPr id="15" name="Model 1: caption"/>
          <p:cNvSpPr txBox="1"/>
          <p:nvPr/>
        </p:nvSpPr>
        <p:spPr>
          <a:xfrm>
            <a:off x="7726679" y="3931920"/>
            <a:ext cx="3824935" cy="566928"/>
          </a:xfrm>
          <a:prstGeom prst="rect">
            <a:avLst/>
          </a:prstGeom>
          <a:noFill/>
        </p:spPr>
        <p:txBody>
          <a:bodyPr wrap="square" anchor="t" lIns="0" tIns="0" rIns="0" bIns="0">
            <a:noAutofit/>
          </a:bodyPr>
          <a:lstStyle/>
          <a:p>
            <a:pPr algn="l">
              <a:lnSpc>
                <a:spcPct val="110000"/>
              </a:lnSpc>
            </a:pPr>
            <a:r>
              <a:rPr sz="1150" b="0" i="0">
                <a:solidFill>
                  <a:srgbClr val="A1A1A6"/>
                </a:solidFill>
                <a:latin typeface="Inter"/>
              </a:rPr>
              <a:t>landing error 200 ms before the bounce, vs 5.76 cm without spin; OUT precision 100%, recall 98%</a:t>
            </a:r>
          </a:p>
        </p:txBody>
      </p:sp>
      <p:sp>
        <p:nvSpPr>
          <p:cNvPr id="16" name="Model 2: head"/>
          <p:cNvSpPr txBox="1"/>
          <p:nvPr/>
        </p:nvSpPr>
        <p:spPr>
          <a:xfrm>
            <a:off x="7726679" y="4645152"/>
            <a:ext cx="3824935" cy="256032"/>
          </a:xfrm>
          <a:prstGeom prst="rect">
            <a:avLst/>
          </a:prstGeom>
          <a:noFill/>
        </p:spPr>
        <p:txBody>
          <a:bodyPr wrap="square" anchor="t" lIns="0" tIns="0" rIns="0" bIns="0">
            <a:noAutofit/>
          </a:bodyPr>
          <a:lstStyle/>
          <a:p>
            <a:pPr algn="l"/>
            <a:r>
              <a:rPr sz="1100" b="1" i="0">
                <a:solidFill>
                  <a:srgbClr val="A1A1A6"/>
                </a:solidFill>
                <a:latin typeface="Inter"/>
              </a:rPr>
              <a:t>GPU engine · NVIDIA L4</a:t>
            </a:r>
          </a:p>
        </p:txBody>
      </p:sp>
      <p:sp>
        <p:nvSpPr>
          <p:cNvPr id="17" name="Model 2: value"/>
          <p:cNvSpPr txBox="1"/>
          <p:nvPr/>
        </p:nvSpPr>
        <p:spPr>
          <a:xfrm>
            <a:off x="7726679" y="4892040"/>
            <a:ext cx="3824935" cy="566928"/>
          </a:xfrm>
          <a:prstGeom prst="rect">
            <a:avLst/>
          </a:prstGeom>
          <a:noFill/>
        </p:spPr>
        <p:txBody>
          <a:bodyPr wrap="square" anchor="ctr" lIns="0" tIns="0" rIns="0" bIns="0">
            <a:noAutofit/>
          </a:bodyPr>
          <a:lstStyle/>
          <a:p>
            <a:pPr algn="l"/>
            <a:r>
              <a:rPr sz="3200" b="1" i="0">
                <a:solidFill>
                  <a:srgbClr val="FFFFFF"/>
                </a:solidFill>
                <a:latin typeface="Inter"/>
              </a:rPr>
              <a:t>4.6 ms</a:t>
            </a:r>
          </a:p>
        </p:txBody>
      </p:sp>
      <p:sp>
        <p:nvSpPr>
          <p:cNvPr id="18" name="Model 2: caption"/>
          <p:cNvSpPr txBox="1"/>
          <p:nvPr/>
        </p:nvSpPr>
        <p:spPr>
          <a:xfrm>
            <a:off x="7726679" y="5468112"/>
            <a:ext cx="3824935" cy="566928"/>
          </a:xfrm>
          <a:prstGeom prst="rect">
            <a:avLst/>
          </a:prstGeom>
          <a:noFill/>
        </p:spPr>
        <p:txBody>
          <a:bodyPr wrap="square" anchor="t" lIns="0" tIns="0" rIns="0" bIns="0">
            <a:noAutofit/>
          </a:bodyPr>
          <a:lstStyle/>
          <a:p>
            <a:pPr algn="l">
              <a:lnSpc>
                <a:spcPct val="110000"/>
              </a:lnSpc>
            </a:pPr>
            <a:r>
              <a:rPr sz="1150" b="0" i="0">
                <a:solidFill>
                  <a:srgbClr val="A1A1A6"/>
                </a:solidFill>
                <a:latin typeface="Inter"/>
              </a:rPr>
              <a:t>per frame p50 (12.2 ms p99) at 119.9 fps; 0 of 102,120 frames dropped; the video's 6.9 ms is the p50 per emitted call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41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8"/>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1D1D1F"/>
                </a:solidFill>
                <a:latin typeface="Inter"/>
              </a:rPr>
              <a:t>Frame to executable order in 2.1 s, inside the 3 s bar</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05</a:t>
            </a:r>
            <a:r>
              <a:rPr sz="1050" b="1" i="0" spc="150">
                <a:solidFill>
                  <a:srgbClr val="6E6E73"/>
                </a:solidFill>
                <a:latin typeface="Inter"/>
              </a:rPr>
              <a:t>   FRAME TO TRADE</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paper: order built, never signed or sent · 1 s feed simulated</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5</a:t>
            </a:r>
          </a:p>
        </p:txBody>
      </p:sp>
      <p:pic>
        <p:nvPicPr>
          <p:cNvPr id="8" name="Fig: frame to trade (paper Fig. 1)" descr="fig4_frame_to_trade.png"/>
          <p:cNvPicPr>
            <a:picLocks noChangeAspect="1"/>
          </p:cNvPicPr>
          <p:nvPr/>
        </p:nvPicPr>
        <p:blipFill>
          <a:blip r:embed="rId2"/>
          <a:stretch>
            <a:fillRect/>
          </a:stretch>
        </p:blipFill>
        <p:spPr>
          <a:xfrm>
            <a:off x="594359" y="2205673"/>
            <a:ext cx="7863840" cy="2080893"/>
          </a:xfrm>
          <a:prstGeom prst="rect">
            <a:avLst/>
          </a:prstGeom>
        </p:spPr>
      </p:pic>
      <p:sp>
        <p:nvSpPr>
          <p:cNvPr id="9" name="Fig caption"/>
          <p:cNvSpPr txBox="1"/>
          <p:nvPr/>
        </p:nvSpPr>
        <p:spPr>
          <a:xfrm>
            <a:off x="640080" y="5029200"/>
            <a:ext cx="7680960" cy="548640"/>
          </a:xfrm>
          <a:prstGeom prst="rect">
            <a:avLst/>
          </a:prstGeom>
          <a:noFill/>
        </p:spPr>
        <p:txBody>
          <a:bodyPr wrap="square" anchor="t" lIns="0" tIns="0" rIns="0" bIns="0">
            <a:noAutofit/>
          </a:bodyPr>
          <a:lstStyle/>
          <a:p>
            <a:pPr algn="l">
              <a:lnSpc>
                <a:spcPct val="110000"/>
              </a:lnSpc>
            </a:pPr>
            <a:r>
              <a:rPr sz="1000" b="0" i="0">
                <a:solidFill>
                  <a:srgbClr val="6E6E73"/>
                </a:solidFill>
                <a:latin typeface="Inter"/>
              </a:rPr>
              <a:t>Stage means of 24 traces: our footage over WebRTC into the CV engine on a laptop, a simulated 1 s licensed feed, the measured network and the venue's 1 s hold. Shaded: when the book reprices. Source: paper Fig. 1, results/e2e/summary.json.</a:t>
            </a:r>
          </a:p>
        </p:txBody>
      </p:sp>
      <p:sp>
        <p:nvSpPr>
          <p:cNvPr id="10" name="Ours: value"/>
          <p:cNvSpPr txBox="1"/>
          <p:nvPr/>
        </p:nvSpPr>
        <p:spPr>
          <a:xfrm>
            <a:off x="8778240" y="1508760"/>
            <a:ext cx="2773375" cy="603250"/>
          </a:xfrm>
          <a:prstGeom prst="rect">
            <a:avLst/>
          </a:prstGeom>
          <a:noFill/>
        </p:spPr>
        <p:txBody>
          <a:bodyPr wrap="square" anchor="b" lIns="0" tIns="0" rIns="0" bIns="0">
            <a:noAutofit/>
          </a:bodyPr>
          <a:lstStyle/>
          <a:p>
            <a:pPr algn="l"/>
            <a:r>
              <a:rPr sz="3800" b="1" i="0">
                <a:solidFill>
                  <a:srgbClr val="E8601C"/>
                </a:solidFill>
                <a:latin typeface="Inter"/>
              </a:rPr>
              <a:t>54 ms</a:t>
            </a:r>
          </a:p>
        </p:txBody>
      </p:sp>
      <p:sp>
        <p:nvSpPr>
          <p:cNvPr id="11" name="Ours: caption"/>
          <p:cNvSpPr txBox="1"/>
          <p:nvPr/>
        </p:nvSpPr>
        <p:spPr>
          <a:xfrm>
            <a:off x="8778240" y="2136140"/>
            <a:ext cx="2773375" cy="548640"/>
          </a:xfrm>
          <a:prstGeom prst="rect">
            <a:avLst/>
          </a:prstGeom>
          <a:noFill/>
        </p:spPr>
        <p:txBody>
          <a:bodyPr wrap="square" anchor="t" lIns="0" tIns="0" rIns="0" bIns="0">
            <a:noAutofit/>
          </a:bodyPr>
          <a:lstStyle/>
          <a:p>
            <a:pPr algn="l">
              <a:lnSpc>
                <a:spcPct val="110000"/>
              </a:lnSpc>
            </a:pPr>
            <a:r>
              <a:rPr sz="1200" b="0" i="0">
                <a:solidFill>
                  <a:srgbClr val="6E6E73"/>
                </a:solidFill>
                <a:latin typeface="Inter"/>
              </a:rPr>
              <a:t>our part, frame to order ready (p50)</a:t>
            </a:r>
          </a:p>
        </p:txBody>
      </p:sp>
      <p:sp>
        <p:nvSpPr>
          <p:cNvPr id="12" name="Total: value"/>
          <p:cNvSpPr txBox="1"/>
          <p:nvPr/>
        </p:nvSpPr>
        <p:spPr>
          <a:xfrm>
            <a:off x="8778240" y="2697480"/>
            <a:ext cx="2773375" cy="476250"/>
          </a:xfrm>
          <a:prstGeom prst="rect">
            <a:avLst/>
          </a:prstGeom>
          <a:noFill/>
        </p:spPr>
        <p:txBody>
          <a:bodyPr wrap="square" anchor="b" lIns="0" tIns="0" rIns="0" bIns="0">
            <a:noAutofit/>
          </a:bodyPr>
          <a:lstStyle/>
          <a:p>
            <a:pPr algn="l"/>
            <a:r>
              <a:rPr sz="3000" b="1" i="0">
                <a:solidFill>
                  <a:srgbClr val="1D1D1F"/>
                </a:solidFill>
                <a:latin typeface="Inter"/>
              </a:rPr>
              <a:t>2,119 ms</a:t>
            </a:r>
          </a:p>
        </p:txBody>
      </p:sp>
      <p:sp>
        <p:nvSpPr>
          <p:cNvPr id="13" name="Total: caption"/>
          <p:cNvSpPr txBox="1"/>
          <p:nvPr/>
        </p:nvSpPr>
        <p:spPr>
          <a:xfrm>
            <a:off x="8778240" y="3192780"/>
            <a:ext cx="2773375" cy="777240"/>
          </a:xfrm>
          <a:prstGeom prst="rect">
            <a:avLst/>
          </a:prstGeom>
          <a:noFill/>
        </p:spPr>
        <p:txBody>
          <a:bodyPr wrap="square" anchor="t" lIns="0" tIns="0" rIns="0" bIns="0">
            <a:noAutofit/>
          </a:bodyPr>
          <a:lstStyle/>
          <a:p>
            <a:pPr algn="l">
              <a:lnSpc>
                <a:spcPct val="110000"/>
              </a:lnSpc>
            </a:pPr>
            <a:r>
              <a:rPr sz="1200" b="0" i="0">
                <a:solidFill>
                  <a:srgbClr val="6E6E73"/>
                </a:solidFill>
                <a:latin typeface="Inter"/>
              </a:rPr>
              <a:t>total with a 1 s feed, 65 ms network and the 1 s venue hold; 881 ms to spare, every trace under the bar</a:t>
            </a:r>
          </a:p>
        </p:txBody>
      </p:sp>
      <p:sp>
        <p:nvSpPr>
          <p:cNvPr id="14" name="GPU: value"/>
          <p:cNvSpPr txBox="1"/>
          <p:nvPr/>
        </p:nvSpPr>
        <p:spPr>
          <a:xfrm>
            <a:off x="8778240" y="4069080"/>
            <a:ext cx="2773375" cy="476250"/>
          </a:xfrm>
          <a:prstGeom prst="rect">
            <a:avLst/>
          </a:prstGeom>
          <a:noFill/>
        </p:spPr>
        <p:txBody>
          <a:bodyPr wrap="square" anchor="b" lIns="0" tIns="0" rIns="0" bIns="0">
            <a:noAutofit/>
          </a:bodyPr>
          <a:lstStyle/>
          <a:p>
            <a:pPr algn="l"/>
            <a:r>
              <a:rPr sz="3000" b="1" i="0">
                <a:solidFill>
                  <a:srgbClr val="1D1D1F"/>
                </a:solidFill>
                <a:latin typeface="Inter"/>
              </a:rPr>
              <a:t>4.6 ms</a:t>
            </a:r>
          </a:p>
        </p:txBody>
      </p:sp>
      <p:sp>
        <p:nvSpPr>
          <p:cNvPr id="15" name="GPU: caption"/>
          <p:cNvSpPr txBox="1"/>
          <p:nvPr/>
        </p:nvSpPr>
        <p:spPr>
          <a:xfrm>
            <a:off x="8778240" y="4564380"/>
            <a:ext cx="2773375" cy="640080"/>
          </a:xfrm>
          <a:prstGeom prst="rect">
            <a:avLst/>
          </a:prstGeom>
          <a:noFill/>
        </p:spPr>
        <p:txBody>
          <a:bodyPr wrap="square" anchor="t" lIns="0" tIns="0" rIns="0" bIns="0">
            <a:noAutofit/>
          </a:bodyPr>
          <a:lstStyle/>
          <a:p>
            <a:pPr algn="l">
              <a:lnSpc>
                <a:spcPct val="110000"/>
              </a:lnSpc>
            </a:pPr>
            <a:r>
              <a:rPr sz="1200" b="0" i="0">
                <a:solidFill>
                  <a:srgbClr val="6E6E73"/>
                </a:solidFill>
                <a:latin typeface="Inter"/>
              </a:rPr>
              <a:t>vision per frame on an L4 GPU, p50 (6.9 ms per emitted call; WebRTC frame to call 46 ms p50, 67 ms p99)</a:t>
            </a:r>
          </a:p>
        </p:txBody>
      </p:sp>
      <p:sp>
        <p:nvSpPr>
          <p:cNvPr id="16" name="Bar card"/>
          <p:cNvSpPr/>
          <p:nvPr/>
        </p:nvSpPr>
        <p:spPr>
          <a:xfrm>
            <a:off x="640080" y="5650992"/>
            <a:ext cx="10911535" cy="603504"/>
          </a:xfrm>
          <a:prstGeom prst="roundRect">
            <a:avLst>
              <a:gd name="adj" fmla="val 1212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ar"/>
          <p:cNvSpPr txBox="1"/>
          <p:nvPr/>
        </p:nvSpPr>
        <p:spPr>
          <a:xfrm>
            <a:off x="868680" y="5650992"/>
            <a:ext cx="10454335" cy="603504"/>
          </a:xfrm>
          <a:prstGeom prst="rect">
            <a:avLst/>
          </a:prstGeom>
          <a:noFill/>
        </p:spPr>
        <p:txBody>
          <a:bodyPr wrap="square" anchor="ctr" lIns="0" tIns="0" rIns="0" bIns="0">
            <a:noAutofit/>
          </a:bodyPr>
          <a:lstStyle/>
          <a:p>
            <a:pPr algn="l"/>
            <a:r>
              <a:rPr sz="1300" b="1" i="0">
                <a:solidFill>
                  <a:srgbClr val="1D1D1F"/>
                </a:solidFill>
                <a:latin typeface="Inter"/>
              </a:rPr>
              <a:t>Under 3 s is necessary, not sufficient. </a:t>
            </a:r>
            <a:r>
              <a:rPr sz="1300" b="0" i="0">
                <a:solidFill>
                  <a:srgbClr val="6E6E73"/>
                </a:solidFill>
                <a:latin typeface="Inter"/>
              </a:rPr>
              <a:t>Pre-registered, the call must reach the venue 0.89 s before the umpire's stamp; orders sent: 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1D1D1F"/>
                </a:solidFill>
                <a:latin typeface="Inter"/>
              </a:rPr>
              <a:t>Every second of feed delay costs the edge</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06</a:t>
            </a:r>
            <a:r>
              <a:rPr sz="1050" b="1" i="0" spc="150">
                <a:solidFill>
                  <a:srgbClr val="6E6E73"/>
                </a:solidFill>
                <a:latin typeface="Inter"/>
              </a:rPr>
              <a:t>   WHAT SPEED IS WORTH</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simulated: assumed feed latency (licensed feed not purchased); parameters measured</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6</a:t>
            </a:r>
          </a:p>
        </p:txBody>
      </p:sp>
      <p:pic>
        <p:nvPicPr>
          <p:cNvPr id="8" name="Fig: speed value (paper Fig. 3)" descr="fig3_speed_value.png"/>
          <p:cNvPicPr>
            <a:picLocks noChangeAspect="1"/>
          </p:cNvPicPr>
          <p:nvPr/>
        </p:nvPicPr>
        <p:blipFill>
          <a:blip r:embed="rId2"/>
          <a:stretch>
            <a:fillRect/>
          </a:stretch>
        </p:blipFill>
        <p:spPr>
          <a:xfrm>
            <a:off x="594359" y="1573295"/>
            <a:ext cx="5440680" cy="2385528"/>
          </a:xfrm>
          <a:prstGeom prst="rect">
            <a:avLst/>
          </a:prstGeom>
        </p:spPr>
      </p:pic>
      <p:sp>
        <p:nvSpPr>
          <p:cNvPr id="9" name="Fig caption"/>
          <p:cNvSpPr txBox="1"/>
          <p:nvPr/>
        </p:nvSpPr>
        <p:spPr>
          <a:xfrm>
            <a:off x="640080" y="4069080"/>
            <a:ext cx="5303520" cy="548640"/>
          </a:xfrm>
          <a:prstGeom prst="rect">
            <a:avLst/>
          </a:prstGeom>
          <a:noFill/>
        </p:spPr>
        <p:txBody>
          <a:bodyPr wrap="square" anchor="t" lIns="0" tIns="0" rIns="0" bIns="0">
            <a:noAutofit/>
          </a:bodyPr>
          <a:lstStyle/>
          <a:p>
            <a:pPr algn="l">
              <a:lnSpc>
                <a:spcPct val="110000"/>
              </a:lnSpc>
            </a:pPr>
            <a:r>
              <a:rPr sz="1000" b="0" i="0">
                <a:solidFill>
                  <a:srgbClr val="6E6E73"/>
                </a:solidFill>
                <a:latin typeface="Inter"/>
              </a:rPr>
              <a:t>Net $ per day against the assumed feed delay; solid IS, dashed held out. Source: paper Fig. 3, results/tier0/latency_sweep.json.</a:t>
            </a:r>
          </a:p>
        </p:txBody>
      </p:sp>
      <p:graphicFrame>
        <p:nvGraphicFramePr>
          <p:cNvPr id="10" name="Latency scenarios (paper Table 2)"/>
          <p:cNvGraphicFramePr>
            <a:graphicFrameLocks noGrp="1"/>
          </p:cNvGraphicFramePr>
          <p:nvPr/>
        </p:nvGraphicFramePr>
        <p:xfrm>
          <a:off x="6217920" y="1481328"/>
          <a:ext cx="5330952" cy="2770632"/>
        </p:xfrm>
        <a:graphic>
          <a:graphicData uri="http://schemas.openxmlformats.org/drawingml/2006/table">
            <a:tbl>
              <a:tblPr>
                <a:tableStyleId>{2D5ABB26-0587-4C30-8999-92F81FD0307C}</a:tableStyleId>
              </a:tblPr>
              <a:tblGrid>
                <a:gridCol w="1783080"/>
                <a:gridCol w="1783080"/>
                <a:gridCol w="1764792"/>
              </a:tblGrid>
              <a:tr h="502920">
                <a:tc>
                  <a:txBody>
                    <a:bodyPr wrap="square"/>
                    <a:lstStyle/>
                    <a:p>
                      <a:pPr algn="l"/>
                      <a:r>
                        <a:rPr sz="1050" b="1" i="0">
                          <a:solidFill>
                            <a:srgbClr val="6E6E73"/>
                          </a:solidFill>
                          <a:latin typeface="Inter"/>
                        </a:rPr>
                        <a:t>Feed latency (assumed)</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050" b="1" i="0">
                          <a:solidFill>
                            <a:srgbClr val="1D1D1F"/>
                          </a:solidFill>
                          <a:latin typeface="Inter"/>
                        </a:rPr>
                        <a:t>Pre-registered, L = 2.0 s</a:t>
                      </a:r>
                    </a:p>
                    <a:p>
                      <a:pPr algn="r"/>
                      <a:r>
                        <a:rPr sz="900" b="0" i="0">
                          <a:solidFill>
                            <a:srgbClr val="6E6E73"/>
                          </a:solidFill>
                          <a:latin typeface="Inter"/>
                        </a:rPr>
                        <a:t>$/day IS · OOS, Sharpe</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050" b="1" i="0">
                          <a:solidFill>
                            <a:srgbClr val="E8601C"/>
                          </a:solidFill>
                          <a:latin typeface="Inter"/>
                        </a:rPr>
                        <a:t>Post hoc, L = 3.14 s</a:t>
                      </a:r>
                    </a:p>
                    <a:p>
                      <a:pPr algn="r"/>
                      <a:r>
                        <a:rPr sz="900" b="0" i="0">
                          <a:solidFill>
                            <a:srgbClr val="6E6E73"/>
                          </a:solidFill>
                          <a:latin typeface="Inter"/>
                        </a:rPr>
                        <a:t>$/day IS · OOS, Sharpe</a:t>
                      </a:r>
                    </a:p>
                  </a:txBody>
                  <a:tcPr marL="54864" marR="54864" marT="18288" marB="18288" anchor="ctr">
                    <a:lnL w="9525">
                      <a:noFill/>
                    </a:lnL>
                    <a:lnR w="9525">
                      <a:noFill/>
                    </a:lnR>
                    <a:lnT w="9525">
                      <a:noFill/>
                    </a:lnT>
                    <a:lnB w="9525">
                      <a:solidFill>
                        <a:srgbClr val="D2D2D7"/>
                      </a:solidFill>
                    </a:lnB>
                    <a:noFill/>
                  </a:tcPr>
                </a:tc>
              </a:tr>
              <a:tr h="512064">
                <a:tc>
                  <a:txBody>
                    <a:bodyPr wrap="square"/>
                    <a:lstStyle/>
                    <a:p>
                      <a:pPr algn="l"/>
                      <a:r>
                        <a:rPr sz="1300" b="0" i="0">
                          <a:solidFill>
                            <a:srgbClr val="1D1D1F"/>
                          </a:solidFill>
                          <a:latin typeface="Inter"/>
                        </a:rPr>
                        <a:t>0.5 s best case</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300" b="1" i="0">
                          <a:solidFill>
                            <a:srgbClr val="1D1D1F"/>
                          </a:solidFill>
                          <a:latin typeface="Inter"/>
                        </a:rPr>
                        <a:t>+$28 · +$15</a:t>
                      </a:r>
                    </a:p>
                    <a:p>
                      <a:pPr algn="r"/>
                      <a:r>
                        <a:rPr sz="1000" b="0" i="0">
                          <a:solidFill>
                            <a:srgbClr val="6E6E73"/>
                          </a:solidFill>
                          <a:latin typeface="Inter"/>
                        </a:rPr>
                        <a:t>Sharpe 4.0 · 2.1</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300" b="1" i="0">
                          <a:solidFill>
                            <a:srgbClr val="E8601C"/>
                          </a:solidFill>
                          <a:latin typeface="Inter"/>
                        </a:rPr>
                        <a:t>+$133 · +$81</a:t>
                      </a:r>
                    </a:p>
                    <a:p>
                      <a:pPr algn="r"/>
                      <a:r>
                        <a:rPr sz="1000" b="0" i="0">
                          <a:solidFill>
                            <a:srgbClr val="6E6E73"/>
                          </a:solidFill>
                          <a:latin typeface="Inter"/>
                        </a:rPr>
                        <a:t>Sharpe 15.5 · 12.2</a:t>
                      </a:r>
                    </a:p>
                  </a:txBody>
                  <a:tcPr marL="54864" marR="54864" marT="18288" marB="18288" anchor="ctr">
                    <a:lnL w="9525">
                      <a:noFill/>
                    </a:lnL>
                    <a:lnR w="9525">
                      <a:noFill/>
                    </a:lnR>
                    <a:lnT w="9525">
                      <a:noFill/>
                    </a:lnT>
                    <a:lnB w="9525">
                      <a:solidFill>
                        <a:srgbClr val="D2D2D7"/>
                      </a:solidFill>
                    </a:lnB>
                    <a:noFill/>
                  </a:tcPr>
                </a:tc>
              </a:tr>
              <a:tr h="512064">
                <a:tc>
                  <a:txBody>
                    <a:bodyPr wrap="square"/>
                    <a:lstStyle/>
                    <a:p>
                      <a:pPr algn="l"/>
                      <a:r>
                        <a:rPr sz="1300" b="1" i="0">
                          <a:solidFill>
                            <a:srgbClr val="1D1D1F"/>
                          </a:solidFill>
                          <a:latin typeface="Inter"/>
                        </a:rPr>
                        <a:t>1 s base case</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300" b="1" i="0">
                          <a:solidFill>
                            <a:srgbClr val="1D1D1F"/>
                          </a:solidFill>
                          <a:latin typeface="Inter"/>
                        </a:rPr>
                        <a:t>+$15 · +$4</a:t>
                      </a:r>
                    </a:p>
                    <a:p>
                      <a:pPr algn="r"/>
                      <a:r>
                        <a:rPr sz="1000" b="0" i="0">
                          <a:solidFill>
                            <a:srgbClr val="6E6E73"/>
                          </a:solidFill>
                          <a:latin typeface="Inter"/>
                        </a:rPr>
                        <a:t>Sharpe 2.1 · 0.3</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300" b="1" i="0">
                          <a:solidFill>
                            <a:srgbClr val="E8601C"/>
                          </a:solidFill>
                          <a:latin typeface="Inter"/>
                        </a:rPr>
                        <a:t>+$94 · +$57</a:t>
                      </a:r>
                    </a:p>
                    <a:p>
                      <a:pPr algn="r"/>
                      <a:r>
                        <a:rPr sz="1000" b="0" i="0">
                          <a:solidFill>
                            <a:srgbClr val="6E6E73"/>
                          </a:solidFill>
                          <a:latin typeface="Inter"/>
                        </a:rPr>
                        <a:t>Sharpe 11.9 · 8.8</a:t>
                      </a:r>
                    </a:p>
                  </a:txBody>
                  <a:tcPr marL="54864" marR="54864" marT="18288" marB="18288" anchor="ctr">
                    <a:lnL w="9525">
                      <a:noFill/>
                    </a:lnL>
                    <a:lnR w="9525">
                      <a:noFill/>
                    </a:lnR>
                    <a:lnT w="9525">
                      <a:noFill/>
                    </a:lnT>
                    <a:lnB w="9525">
                      <a:solidFill>
                        <a:srgbClr val="D2D2D7"/>
                      </a:solidFill>
                    </a:lnB>
                    <a:noFill/>
                  </a:tcPr>
                </a:tc>
              </a:tr>
              <a:tr h="512064">
                <a:tc>
                  <a:txBody>
                    <a:bodyPr wrap="square"/>
                    <a:lstStyle/>
                    <a:p>
                      <a:pPr algn="l"/>
                      <a:r>
                        <a:rPr sz="1300" b="0" i="0">
                          <a:solidFill>
                            <a:srgbClr val="1D1D1F"/>
                          </a:solidFill>
                          <a:latin typeface="Inter"/>
                        </a:rPr>
                        <a:t>3 s requirement</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300" b="1" i="0">
                          <a:solidFill>
                            <a:srgbClr val="1D1D1F"/>
                          </a:solidFill>
                          <a:latin typeface="Inter"/>
                        </a:rPr>
                        <a:t>−$13 · −$13</a:t>
                      </a:r>
                    </a:p>
                    <a:p>
                      <a:pPr algn="r"/>
                      <a:r>
                        <a:rPr sz="1000" b="0" i="0">
                          <a:solidFill>
                            <a:srgbClr val="6E6E73"/>
                          </a:solidFill>
                          <a:latin typeface="Inter"/>
                        </a:rPr>
                        <a:t>Sharpe −2.6 · −2.6</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300" b="1" i="0">
                          <a:solidFill>
                            <a:srgbClr val="E8601C"/>
                          </a:solidFill>
                          <a:latin typeface="Inter"/>
                        </a:rPr>
                        <a:t>−$6 · −$11</a:t>
                      </a:r>
                    </a:p>
                    <a:p>
                      <a:pPr algn="r"/>
                      <a:r>
                        <a:rPr sz="1000" b="0" i="0">
                          <a:solidFill>
                            <a:srgbClr val="6E6E73"/>
                          </a:solidFill>
                          <a:latin typeface="Inter"/>
                        </a:rPr>
                        <a:t>Sharpe −1.4 · −2.4</a:t>
                      </a:r>
                    </a:p>
                  </a:txBody>
                  <a:tcPr marL="54864" marR="54864" marT="18288" marB="18288" anchor="ctr">
                    <a:lnL w="9525">
                      <a:noFill/>
                    </a:lnL>
                    <a:lnR w="9525">
                      <a:noFill/>
                    </a:lnR>
                    <a:lnT w="9525">
                      <a:noFill/>
                    </a:lnT>
                    <a:lnB w="9525">
                      <a:solidFill>
                        <a:srgbClr val="D2D2D7"/>
                      </a:solidFill>
                    </a:lnB>
                    <a:noFill/>
                  </a:tcPr>
                </a:tc>
              </a:tr>
              <a:tr h="365760">
                <a:tc>
                  <a:txBody>
                    <a:bodyPr wrap="square"/>
                    <a:lstStyle/>
                    <a:p>
                      <a:pPr algn="l"/>
                      <a:r>
                        <a:rPr sz="1300" b="0" i="0">
                          <a:solidFill>
                            <a:srgbClr val="1D1D1F"/>
                          </a:solidFill>
                          <a:latin typeface="Inter"/>
                        </a:rPr>
                        <a:t>Break-even delay</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300" b="0" i="0">
                          <a:solidFill>
                            <a:srgbClr val="1D1D1F"/>
                          </a:solidFill>
                          <a:latin typeface="Inter"/>
                        </a:rPr>
                        <a:t>1.09 · 1.01 s</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300" b="0" i="0">
                          <a:solidFill>
                            <a:srgbClr val="1D1D1F"/>
                          </a:solidFill>
                          <a:latin typeface="Inter"/>
                        </a:rPr>
                        <a:t>2.23 · 2.14 s</a:t>
                      </a:r>
                    </a:p>
                  </a:txBody>
                  <a:tcPr marL="54864" marR="54864" marT="18288" marB="18288" anchor="ctr">
                    <a:lnL w="9525">
                      <a:noFill/>
                    </a:lnL>
                    <a:lnR w="9525">
                      <a:noFill/>
                    </a:lnR>
                    <a:lnT w="9525">
                      <a:noFill/>
                    </a:lnT>
                    <a:lnB w="9525">
                      <a:solidFill>
                        <a:srgbClr val="D2D2D7"/>
                      </a:solidFill>
                    </a:lnB>
                    <a:noFill/>
                  </a:tcPr>
                </a:tc>
              </a:tr>
              <a:tr h="365760">
                <a:tc>
                  <a:txBody>
                    <a:bodyPr wrap="square"/>
                    <a:lstStyle/>
                    <a:p>
                      <a:pPr algn="l"/>
                      <a:r>
                        <a:rPr sz="1300" b="0" i="0">
                          <a:solidFill>
                            <a:srgbClr val="1D1D1F"/>
                          </a:solidFill>
                          <a:latin typeface="Inter"/>
                        </a:rPr>
                        <a:t>Read per point, 1 s</a:t>
                      </a:r>
                    </a:p>
                  </a:txBody>
                  <a:tcPr marL="54864" marR="54864" marT="18288" marB="18288" anchor="ctr">
                    <a:lnL w="9525">
                      <a:noFill/>
                    </a:lnL>
                    <a:lnR w="9525">
                      <a:noFill/>
                    </a:lnR>
                    <a:lnT w="9525">
                      <a:noFill/>
                    </a:lnT>
                    <a:lnB w="9525">
                      <a:noFill/>
                    </a:lnB>
                    <a:noFill/>
                  </a:tcPr>
                </a:tc>
                <a:tc>
                  <a:txBody>
                    <a:bodyPr wrap="square"/>
                    <a:lstStyle/>
                    <a:p>
                      <a:pPr algn="r"/>
                      <a:r>
                        <a:rPr sz="1300" b="0" i="0">
                          <a:solidFill>
                            <a:srgbClr val="1D1D1F"/>
                          </a:solidFill>
                          <a:latin typeface="Inter"/>
                        </a:rPr>
                        <a:t>−$17 · −$17</a:t>
                      </a:r>
                    </a:p>
                  </a:txBody>
                  <a:tcPr marL="54864" marR="54864" marT="18288" marB="18288" anchor="ctr">
                    <a:lnL w="9525">
                      <a:noFill/>
                    </a:lnL>
                    <a:lnR w="9525">
                      <a:noFill/>
                    </a:lnR>
                    <a:lnT w="9525">
                      <a:noFill/>
                    </a:lnT>
                    <a:lnB w="9525">
                      <a:noFill/>
                    </a:lnB>
                    <a:noFill/>
                  </a:tcPr>
                </a:tc>
                <a:tc>
                  <a:txBody>
                    <a:bodyPr wrap="square"/>
                    <a:lstStyle/>
                    <a:p>
                      <a:pPr algn="r"/>
                      <a:r>
                        <a:rPr sz="1300" b="0" i="0">
                          <a:solidFill>
                            <a:srgbClr val="1D1D1F"/>
                          </a:solidFill>
                          <a:latin typeface="Inter"/>
                        </a:rPr>
                        <a:t>−$17 · −$17</a:t>
                      </a:r>
                    </a:p>
                  </a:txBody>
                  <a:tcPr marL="54864" marR="54864" marT="18288" marB="18288" anchor="ctr">
                    <a:lnL w="9525">
                      <a:noFill/>
                    </a:lnL>
                    <a:lnR w="9525">
                      <a:noFill/>
                    </a:lnR>
                    <a:lnT w="9525">
                      <a:noFill/>
                    </a:lnT>
                    <a:lnB w="9525">
                      <a:noFill/>
                    </a:lnB>
                    <a:noFill/>
                  </a:tcPr>
                </a:tc>
              </a:tr>
            </a:tbl>
          </a:graphicData>
        </a:graphic>
      </p:graphicFrame>
      <p:sp>
        <p:nvSpPr>
          <p:cNvPr id="11" name="Table note"/>
          <p:cNvSpPr txBox="1"/>
          <p:nvPr/>
        </p:nvSpPr>
        <p:spPr>
          <a:xfrm>
            <a:off x="6217920" y="4297680"/>
            <a:ext cx="5333695" cy="365760"/>
          </a:xfrm>
          <a:prstGeom prst="rect">
            <a:avLst/>
          </a:prstGeom>
          <a:noFill/>
        </p:spPr>
        <p:txBody>
          <a:bodyPr wrap="square" anchor="t" lIns="0" tIns="0" rIns="0" bIns="0">
            <a:noAutofit/>
          </a:bodyPr>
          <a:lstStyle/>
          <a:p>
            <a:pPr algn="l"/>
            <a:r>
              <a:rPr sz="1000" b="0" i="0">
                <a:solidFill>
                  <a:srgbClr val="6E6E73"/>
                </a:solidFill>
                <a:latin typeface="Inter"/>
              </a:rPr>
              <a:t>$/day held out (OOS) is a burned, non-blind window; 20 seeds a cell.</a:t>
            </a:r>
          </a:p>
        </p:txBody>
      </p:sp>
      <p:sp>
        <p:nvSpPr>
          <p:cNvPr id="12" name="Takeaway 0: card"/>
          <p:cNvSpPr/>
          <p:nvPr/>
        </p:nvSpPr>
        <p:spPr>
          <a:xfrm>
            <a:off x="640080" y="4754880"/>
            <a:ext cx="3515258" cy="1463040"/>
          </a:xfrm>
          <a:prstGeom prst="roundRect">
            <a:avLst>
              <a:gd name="adj" fmla="val 500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0"/>
          <p:cNvSpPr txBox="1"/>
          <p:nvPr/>
        </p:nvSpPr>
        <p:spPr>
          <a:xfrm>
            <a:off x="841247" y="4882896"/>
            <a:ext cx="3112922" cy="1234440"/>
          </a:xfrm>
          <a:prstGeom prst="rect">
            <a:avLst/>
          </a:prstGeom>
          <a:noFill/>
        </p:spPr>
        <p:txBody>
          <a:bodyPr wrap="square" anchor="t" lIns="0" tIns="0" rIns="0" bIns="0">
            <a:noAutofit/>
          </a:bodyPr>
          <a:lstStyle/>
          <a:p>
            <a:pPr algn="l">
              <a:spcAft>
                <a:spcPts val="300"/>
              </a:spcAft>
            </a:pPr>
            <a:r>
              <a:rPr sz="1300" b="1" i="0">
                <a:solidFill>
                  <a:srgbClr val="1D1D1F"/>
                </a:solidFill>
                <a:latin typeface="Inter"/>
              </a:rPr>
              <a:t>Pre-registered</a:t>
            </a:r>
          </a:p>
          <a:p>
            <a:pPr algn="l">
              <a:lnSpc>
                <a:spcPct val="110000"/>
              </a:lnSpc>
            </a:pPr>
            <a:r>
              <a:rPr sz="1200" b="0" i="0">
                <a:solidFill>
                  <a:srgbClr val="1D1D1F"/>
                </a:solidFill>
                <a:latin typeface="Inter"/>
              </a:rPr>
              <a:t>breaks even near 1.0–1.1 s: +$4 a day held out at 1 s, −0.38¢ [−2.08, 1.21] a share</a:t>
            </a:r>
          </a:p>
        </p:txBody>
      </p:sp>
      <p:sp>
        <p:nvSpPr>
          <p:cNvPr id="14" name="Takeaway 1: card"/>
          <p:cNvSpPr/>
          <p:nvPr/>
        </p:nvSpPr>
        <p:spPr>
          <a:xfrm>
            <a:off x="4338218" y="4754880"/>
            <a:ext cx="3515258" cy="1463040"/>
          </a:xfrm>
          <a:prstGeom prst="roundRect">
            <a:avLst>
              <a:gd name="adj" fmla="val 500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keaway 1"/>
          <p:cNvSpPr txBox="1"/>
          <p:nvPr/>
        </p:nvSpPr>
        <p:spPr>
          <a:xfrm>
            <a:off x="4539386" y="4882896"/>
            <a:ext cx="3112922" cy="1234440"/>
          </a:xfrm>
          <a:prstGeom prst="rect">
            <a:avLst/>
          </a:prstGeom>
          <a:noFill/>
        </p:spPr>
        <p:txBody>
          <a:bodyPr wrap="square" anchor="t" lIns="0" tIns="0" rIns="0" bIns="0">
            <a:noAutofit/>
          </a:bodyPr>
          <a:lstStyle/>
          <a:p>
            <a:pPr algn="l">
              <a:spcAft>
                <a:spcPts val="300"/>
              </a:spcAft>
            </a:pPr>
            <a:r>
              <a:rPr sz="1300" b="1" i="0">
                <a:solidFill>
                  <a:srgbClr val="E8601C"/>
                </a:solidFill>
                <a:latin typeface="Inter"/>
              </a:rPr>
              <a:t>Post hoc</a:t>
            </a:r>
          </a:p>
          <a:p>
            <a:pPr algn="l">
              <a:lnSpc>
                <a:spcPct val="110000"/>
              </a:lnSpc>
            </a:pPr>
            <a:r>
              <a:rPr sz="1200" b="0" i="0">
                <a:solidFill>
                  <a:srgbClr val="1D1D1F"/>
                </a:solidFill>
                <a:latin typeface="Inter"/>
              </a:rPr>
              <a:t>the stamp lag 3.14 s was inferred after looking (95% CI 2.23–3.22 s): +$57 a day held out at 1 s; +$8 at the CI's low end</a:t>
            </a:r>
          </a:p>
        </p:txBody>
      </p:sp>
      <p:sp>
        <p:nvSpPr>
          <p:cNvPr id="16" name="Takeaway 2: card"/>
          <p:cNvSpPr/>
          <p:nvPr/>
        </p:nvSpPr>
        <p:spPr>
          <a:xfrm>
            <a:off x="8036356" y="4754880"/>
            <a:ext cx="3515258" cy="1463040"/>
          </a:xfrm>
          <a:prstGeom prst="roundRect">
            <a:avLst>
              <a:gd name="adj" fmla="val 500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keaway 2"/>
          <p:cNvSpPr txBox="1"/>
          <p:nvPr/>
        </p:nvSpPr>
        <p:spPr>
          <a:xfrm>
            <a:off x="8237524" y="4882896"/>
            <a:ext cx="3112922" cy="1234440"/>
          </a:xfrm>
          <a:prstGeom prst="rect">
            <a:avLst/>
          </a:prstGeom>
          <a:noFill/>
        </p:spPr>
        <p:txBody>
          <a:bodyPr wrap="square" anchor="t" lIns="0" tIns="0" rIns="0" bIns="0">
            <a:noAutofit/>
          </a:bodyPr>
          <a:lstStyle/>
          <a:p>
            <a:pPr algn="l">
              <a:spcAft>
                <a:spcPts val="300"/>
              </a:spcAft>
            </a:pPr>
            <a:r>
              <a:rPr sz="1300" b="1" i="0">
                <a:solidFill>
                  <a:srgbClr val="1D1D1F"/>
                </a:solidFill>
                <a:latin typeface="Inter"/>
              </a:rPr>
              <a:t>Both readings</a:t>
            </a:r>
          </a:p>
          <a:p>
            <a:pPr algn="l">
              <a:lnSpc>
                <a:spcPct val="110000"/>
              </a:lnSpc>
            </a:pPr>
            <a:r>
              <a:rPr sz="1200" b="0" i="0">
                <a:solidFill>
                  <a:srgbClr val="1D1D1F"/>
                </a:solidFill>
                <a:latin typeface="Inter"/>
              </a:rPr>
              <a:t>lose by 3 s. Trades are points that later repriced ≥4¢: selected on outcomes, not ex ante; a replay calling every point on real books loses (−0.94¢)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FFFFFF"/>
                </a:solidFill>
                <a:latin typeface="Inter"/>
              </a:rPr>
              <a:t>v2 backtest: Sharpe 14.5 in sample, 6.7 held out</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07</a:t>
            </a:r>
            <a:r>
              <a:rPr sz="1050" b="1" i="0" spc="150">
                <a:solidFill>
                  <a:srgbClr val="A1A1A6"/>
                </a:solidFill>
                <a:latin typeface="Inter"/>
              </a:rPr>
              <a:t>   THE BACKTEST</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A1A1A6"/>
                </a:solidFill>
                <a:latin typeface="Inter"/>
              </a:rPr>
              <a:t>v2 at the fast tier's own fills: the opportunity at their speed, not our execution</a:t>
            </a:r>
          </a:p>
        </p:txBody>
      </p:sp>
      <p:cxnSp>
        <p:nvCxnSpPr>
          <p:cNvPr id="5" name="Footer rule"/>
          <p:cNvCxnSpPr/>
          <p:nvPr/>
        </p:nvCxnSpPr>
        <p:spPr>
          <a:xfrm>
            <a:off x="640080" y="6419088"/>
            <a:ext cx="10911535" cy="0"/>
          </a:xfrm>
          <a:prstGeom prst="line">
            <a:avLst/>
          </a:prstGeom>
          <a:ln w="6350">
            <a:solidFill>
              <a:srgbClr val="2C2C2E"/>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A1A1A6"/>
                </a:solidFill>
                <a:latin typeface="Inter"/>
              </a:rPr>
              <a:t>COURTSIDE</a:t>
            </a:r>
            <a:r>
              <a:rPr sz="900" b="0" i="0">
                <a:solidFill>
                  <a:srgbClr val="A1A1A6"/>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A1A1A6"/>
                </a:solidFill>
                <a:latin typeface="Inter"/>
              </a:rPr>
              <a:t>7</a:t>
            </a:r>
          </a:p>
        </p:txBody>
      </p:sp>
      <p:sp>
        <p:nvSpPr>
          <p:cNvPr id="8" name="is: label"/>
          <p:cNvSpPr txBox="1"/>
          <p:nvPr/>
        </p:nvSpPr>
        <p:spPr>
          <a:xfrm>
            <a:off x="640080" y="1536192"/>
            <a:ext cx="2651760" cy="274320"/>
          </a:xfrm>
          <a:prstGeom prst="rect">
            <a:avLst/>
          </a:prstGeom>
          <a:noFill/>
        </p:spPr>
        <p:txBody>
          <a:bodyPr wrap="square" anchor="t" lIns="0" tIns="0" rIns="0" bIns="0">
            <a:noAutofit/>
          </a:bodyPr>
          <a:lstStyle/>
          <a:p>
            <a:pPr algn="l"/>
            <a:r>
              <a:rPr sz="1100" b="1" i="0">
                <a:solidFill>
                  <a:srgbClr val="A1A1A6"/>
                </a:solidFill>
                <a:latin typeface="Inter"/>
              </a:rPr>
              <a:t>In sample</a:t>
            </a:r>
          </a:p>
        </p:txBody>
      </p:sp>
      <p:sp>
        <p:nvSpPr>
          <p:cNvPr id="9" name="is: Sharpe"/>
          <p:cNvSpPr txBox="1"/>
          <p:nvPr/>
        </p:nvSpPr>
        <p:spPr>
          <a:xfrm>
            <a:off x="640080" y="1783080"/>
            <a:ext cx="2651760" cy="822960"/>
          </a:xfrm>
          <a:prstGeom prst="rect">
            <a:avLst/>
          </a:prstGeom>
          <a:noFill/>
        </p:spPr>
        <p:txBody>
          <a:bodyPr wrap="square" anchor="ctr" lIns="0" tIns="0" rIns="0" bIns="0">
            <a:noAutofit/>
          </a:bodyPr>
          <a:lstStyle/>
          <a:p>
            <a:pPr algn="l"/>
            <a:r>
              <a:rPr sz="5400" b="1" i="0">
                <a:solidFill>
                  <a:srgbClr val="E8601C"/>
                </a:solidFill>
                <a:latin typeface="Inter"/>
              </a:rPr>
              <a:t>14.5</a:t>
            </a:r>
          </a:p>
        </p:txBody>
      </p:sp>
      <p:sp>
        <p:nvSpPr>
          <p:cNvPr id="10" name="is: details"/>
          <p:cNvSpPr txBox="1"/>
          <p:nvPr/>
        </p:nvSpPr>
        <p:spPr>
          <a:xfrm>
            <a:off x="640080" y="2651760"/>
            <a:ext cx="2651760" cy="2194560"/>
          </a:xfrm>
          <a:prstGeom prst="rect">
            <a:avLst/>
          </a:prstGeom>
          <a:noFill/>
        </p:spPr>
        <p:txBody>
          <a:bodyPr wrap="square" anchor="t" lIns="0" tIns="0" rIns="0" bIns="0">
            <a:noAutofit/>
          </a:bodyPr>
          <a:lstStyle/>
          <a:p>
            <a:pPr algn="l">
              <a:spcAft>
                <a:spcPts val="400"/>
              </a:spcAft>
            </a:pPr>
            <a:r>
              <a:rPr sz="1300" b="0" i="0">
                <a:solidFill>
                  <a:srgbClr val="FFFFFF"/>
                </a:solidFill>
                <a:latin typeface="Inter"/>
              </a:rPr>
              <a:t>Sharpe 95% CI [11.9, 17.4]</a:t>
            </a:r>
          </a:p>
          <a:p>
            <a:pPr algn="l">
              <a:spcAft>
                <a:spcPts val="400"/>
              </a:spcAft>
            </a:pPr>
            <a:r>
              <a:rPr sz="1300" b="0" i="0">
                <a:solidFill>
                  <a:srgbClr val="FFFFFF"/>
                </a:solidFill>
                <a:latin typeface="Inter"/>
              </a:rPr>
              <a:t>deflated Sharpe 0.997</a:t>
            </a:r>
          </a:p>
          <a:p>
            <a:pPr algn="l">
              <a:spcAft>
                <a:spcPts val="400"/>
              </a:spcAft>
            </a:pPr>
            <a:r>
              <a:rPr sz="1300" b="0" i="0">
                <a:solidFill>
                  <a:srgbClr val="FFFFFF"/>
                </a:solidFill>
                <a:latin typeface="Inter"/>
              </a:rPr>
              <a:t>+1.38¢ a share [1.17, 1.59]</a:t>
            </a:r>
          </a:p>
          <a:p>
            <a:pPr algn="l">
              <a:spcAft>
                <a:spcPts val="400"/>
              </a:spcAft>
            </a:pPr>
            <a:r>
              <a:rPr sz="1300" b="0" i="0">
                <a:solidFill>
                  <a:srgbClr val="A1A1A6"/>
                </a:solidFill>
                <a:latin typeface="Inter"/>
              </a:rPr>
              <a:t>+$40,426 · 55,662 trades</a:t>
            </a:r>
          </a:p>
          <a:p>
            <a:pPr algn="l">
              <a:spcAft>
                <a:spcPts val="400"/>
              </a:spcAft>
            </a:pPr>
            <a:r>
              <a:rPr sz="1300" b="0" i="0">
                <a:solidFill>
                  <a:srgbClr val="A1A1A6"/>
                </a:solidFill>
                <a:latin typeface="Inter"/>
              </a:rPr>
              <a:t>7/7 months up · max DD −2.0%</a:t>
            </a:r>
          </a:p>
          <a:p>
            <a:pPr algn="l">
              <a:spcAft>
                <a:spcPts val="400"/>
              </a:spcAft>
            </a:pPr>
            <a:r>
              <a:rPr sz="1300" b="0" i="0">
                <a:solidFill>
                  <a:srgbClr val="A1A1A6"/>
                </a:solidFill>
                <a:latin typeface="Inter"/>
              </a:rPr>
              <a:t>Feb 1 – Aug 25, 206 days</a:t>
            </a:r>
          </a:p>
        </p:txBody>
      </p:sp>
      <p:sp>
        <p:nvSpPr>
          <p:cNvPr id="11" name="oos: label"/>
          <p:cNvSpPr txBox="1"/>
          <p:nvPr/>
        </p:nvSpPr>
        <p:spPr>
          <a:xfrm>
            <a:off x="3429000" y="1536192"/>
            <a:ext cx="2651760" cy="274320"/>
          </a:xfrm>
          <a:prstGeom prst="rect">
            <a:avLst/>
          </a:prstGeom>
          <a:noFill/>
        </p:spPr>
        <p:txBody>
          <a:bodyPr wrap="square" anchor="t" lIns="0" tIns="0" rIns="0" bIns="0">
            <a:noAutofit/>
          </a:bodyPr>
          <a:lstStyle/>
          <a:p>
            <a:pPr algn="l"/>
            <a:r>
              <a:rPr sz="1100" b="1" i="0">
                <a:solidFill>
                  <a:srgbClr val="A1A1A6"/>
                </a:solidFill>
                <a:latin typeface="Inter"/>
              </a:rPr>
              <a:t>Held out (burned, non-blind)</a:t>
            </a:r>
          </a:p>
        </p:txBody>
      </p:sp>
      <p:sp>
        <p:nvSpPr>
          <p:cNvPr id="12" name="oos: Sharpe"/>
          <p:cNvSpPr txBox="1"/>
          <p:nvPr/>
        </p:nvSpPr>
        <p:spPr>
          <a:xfrm>
            <a:off x="3429000" y="1783080"/>
            <a:ext cx="2651760" cy="822960"/>
          </a:xfrm>
          <a:prstGeom prst="rect">
            <a:avLst/>
          </a:prstGeom>
          <a:noFill/>
        </p:spPr>
        <p:txBody>
          <a:bodyPr wrap="square" anchor="ctr" lIns="0" tIns="0" rIns="0" bIns="0">
            <a:noAutofit/>
          </a:bodyPr>
          <a:lstStyle/>
          <a:p>
            <a:pPr algn="l"/>
            <a:r>
              <a:rPr sz="5400" b="1" i="0">
                <a:solidFill>
                  <a:srgbClr val="FFFFFF"/>
                </a:solidFill>
                <a:latin typeface="Inter"/>
              </a:rPr>
              <a:t>6.7</a:t>
            </a:r>
          </a:p>
        </p:txBody>
      </p:sp>
      <p:sp>
        <p:nvSpPr>
          <p:cNvPr id="13" name="oos: details"/>
          <p:cNvSpPr txBox="1"/>
          <p:nvPr/>
        </p:nvSpPr>
        <p:spPr>
          <a:xfrm>
            <a:off x="3429000" y="2651760"/>
            <a:ext cx="2651760" cy="2194560"/>
          </a:xfrm>
          <a:prstGeom prst="rect">
            <a:avLst/>
          </a:prstGeom>
          <a:noFill/>
        </p:spPr>
        <p:txBody>
          <a:bodyPr wrap="square" anchor="t" lIns="0" tIns="0" rIns="0" bIns="0">
            <a:noAutofit/>
          </a:bodyPr>
          <a:lstStyle/>
          <a:p>
            <a:pPr algn="l">
              <a:spcAft>
                <a:spcPts val="400"/>
              </a:spcAft>
            </a:pPr>
            <a:r>
              <a:rPr sz="1300" b="0" i="0">
                <a:solidFill>
                  <a:srgbClr val="FFFFFF"/>
                </a:solidFill>
                <a:latin typeface="Inter"/>
              </a:rPr>
              <a:t>Sharpe 95% CI [1.9, 12.3]</a:t>
            </a:r>
          </a:p>
          <a:p>
            <a:pPr algn="l">
              <a:spcAft>
                <a:spcPts val="400"/>
              </a:spcAft>
            </a:pPr>
            <a:r>
              <a:rPr sz="1300" b="0" i="0">
                <a:solidFill>
                  <a:srgbClr val="FFFFFF"/>
                </a:solidFill>
                <a:latin typeface="Inter"/>
              </a:rPr>
              <a:t>deflated Sharpe 0.075</a:t>
            </a:r>
          </a:p>
          <a:p>
            <a:pPr algn="l">
              <a:spcAft>
                <a:spcPts val="400"/>
              </a:spcAft>
            </a:pPr>
            <a:r>
              <a:rPr sz="1300" b="0" i="0">
                <a:solidFill>
                  <a:srgbClr val="FFFFFF"/>
                </a:solidFill>
                <a:latin typeface="Inter"/>
              </a:rPr>
              <a:t>+0.60¢ a share [0.09, 1.13]</a:t>
            </a:r>
          </a:p>
          <a:p>
            <a:pPr algn="l">
              <a:spcAft>
                <a:spcPts val="400"/>
              </a:spcAft>
            </a:pPr>
            <a:r>
              <a:rPr sz="1300" b="0" i="0">
                <a:solidFill>
                  <a:srgbClr val="A1A1A6"/>
                </a:solidFill>
                <a:latin typeface="Inter"/>
              </a:rPr>
              <a:t>+$3,688 · 10,412 trades</a:t>
            </a:r>
          </a:p>
          <a:p>
            <a:pPr algn="l">
              <a:spcAft>
                <a:spcPts val="400"/>
              </a:spcAft>
            </a:pPr>
            <a:r>
              <a:rPr sz="1300" b="0" i="0">
                <a:solidFill>
                  <a:srgbClr val="A1A1A6"/>
                </a:solidFill>
                <a:latin typeface="Inter"/>
              </a:rPr>
              <a:t>2/3 months up · max DD −2.1%</a:t>
            </a:r>
          </a:p>
          <a:p>
            <a:pPr algn="l">
              <a:spcAft>
                <a:spcPts val="400"/>
              </a:spcAft>
            </a:pPr>
            <a:r>
              <a:rPr sz="1300" b="0" i="0">
                <a:solidFill>
                  <a:srgbClr val="A1A1A6"/>
                </a:solidFill>
                <a:latin typeface="Inter"/>
              </a:rPr>
              <a:t>Aug 25 – Oct 3, 40 days</a:t>
            </a:r>
          </a:p>
        </p:txBody>
      </p:sp>
      <p:sp>
        <p:nvSpPr>
          <p:cNvPr id="14" name="Rigor note"/>
          <p:cNvSpPr txBox="1"/>
          <p:nvPr/>
        </p:nvSpPr>
        <p:spPr>
          <a:xfrm>
            <a:off x="640080" y="4800600"/>
            <a:ext cx="5486400" cy="1417320"/>
          </a:xfrm>
          <a:prstGeom prst="rect">
            <a:avLst/>
          </a:prstGeom>
          <a:noFill/>
        </p:spPr>
        <p:txBody>
          <a:bodyPr wrap="square" anchor="t" lIns="0" tIns="0" rIns="0" bIns="0">
            <a:noAutofit/>
          </a:bodyPr>
          <a:lstStyle/>
          <a:p>
            <a:pPr algn="l">
              <a:spcAft>
                <a:spcPts val="400"/>
              </a:spcAft>
            </a:pPr>
            <a:r>
              <a:rPr sz="1200" b="0" i="0">
                <a:solidFill>
                  <a:srgbClr val="FFFFFF"/>
                </a:solidFill>
                <a:latin typeface="Inter"/>
              </a:rPr>
              <a:t>Deflated at 3,386 trials, held-out Sharpe is only 0.075: 40 days cannot rule out luck.</a:t>
            </a:r>
          </a:p>
          <a:p>
            <a:pPr algn="l">
              <a:lnSpc>
                <a:spcPct val="110000"/>
              </a:lnSpc>
            </a:pPr>
            <a:r>
              <a:rPr sz="1100" b="0" i="0">
                <a:solidFill>
                  <a:srgbClr val="A1A1A6"/>
                </a:solidFill>
                <a:latin typeface="Inter"/>
              </a:rPr>
              <a:t>We assumed a bug above Sharpe 3 and found one: fixing the onset look-ahead cut in-sample Sharpe from 16.8 to 14.5. About 270 small bets a day, net cap 100 shares a match.</a:t>
            </a:r>
          </a:p>
        </p:txBody>
      </p:sp>
      <p:sp>
        <p:nvSpPr>
          <p:cNvPr id="15" name="Scorecard card"/>
          <p:cNvSpPr/>
          <p:nvPr/>
        </p:nvSpPr>
        <p:spPr>
          <a:xfrm>
            <a:off x="6537960" y="1536192"/>
            <a:ext cx="5013655" cy="4224528"/>
          </a:xfrm>
          <a:prstGeom prst="roundRect">
            <a:avLst>
              <a:gd name="adj" fmla="val 2597"/>
            </a:avLst>
          </a:prstGeom>
          <a:solidFill>
            <a:srgbClr val="161618"/>
          </a:solidFill>
          <a:ln w="9525">
            <a:solidFill>
              <a:srgbClr val="2C2C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corecard command"/>
          <p:cNvSpPr txBox="1"/>
          <p:nvPr/>
        </p:nvSpPr>
        <p:spPr>
          <a:xfrm>
            <a:off x="6812280" y="1664208"/>
            <a:ext cx="4465015" cy="274320"/>
          </a:xfrm>
          <a:prstGeom prst="rect">
            <a:avLst/>
          </a:prstGeom>
          <a:noFill/>
        </p:spPr>
        <p:txBody>
          <a:bodyPr wrap="square" anchor="t" lIns="0" tIns="0" rIns="0" bIns="0">
            <a:noAutofit/>
          </a:bodyPr>
          <a:lstStyle/>
          <a:p>
            <a:pPr algn="l"/>
            <a:r>
              <a:rPr sz="1100" b="0" i="0">
                <a:solidFill>
                  <a:srgbClr val="A1A1A6"/>
                </a:solidFill>
                <a:latin typeface="Menlo"/>
              </a:rPr>
              <a:t>$ scripts/money_counter.py --speed 50</a:t>
            </a:r>
          </a:p>
        </p:txBody>
      </p:sp>
      <p:sp>
        <p:nvSpPr>
          <p:cNvPr id="17" name="Scorecard head"/>
          <p:cNvSpPr txBox="1"/>
          <p:nvPr/>
        </p:nvSpPr>
        <p:spPr>
          <a:xfrm>
            <a:off x="6812280" y="1938528"/>
            <a:ext cx="4465015" cy="274320"/>
          </a:xfrm>
          <a:prstGeom prst="rect">
            <a:avLst/>
          </a:prstGeom>
          <a:noFill/>
        </p:spPr>
        <p:txBody>
          <a:bodyPr wrap="square" anchor="t" lIns="0" tIns="0" rIns="0" bIns="0">
            <a:noAutofit/>
          </a:bodyPr>
          <a:lstStyle/>
          <a:p>
            <a:pPr algn="l"/>
            <a:r>
              <a:rPr sz="900" b="0" i="0">
                <a:solidFill>
                  <a:srgbClr val="A1A1A6"/>
                </a:solidFill>
                <a:latin typeface="Menlo"/>
              </a:rPr>
              <a:t>SCORECARD (same $28,300 account, each period scored on its own)</a:t>
            </a:r>
          </a:p>
        </p:txBody>
      </p:sp>
      <p:sp>
        <p:nvSpPr>
          <p:cNvPr id="18" name="Scorecard is: label"/>
          <p:cNvSpPr txBox="1"/>
          <p:nvPr/>
        </p:nvSpPr>
        <p:spPr>
          <a:xfrm>
            <a:off x="6812280" y="2377440"/>
            <a:ext cx="4465015" cy="274320"/>
          </a:xfrm>
          <a:prstGeom prst="rect">
            <a:avLst/>
          </a:prstGeom>
          <a:noFill/>
        </p:spPr>
        <p:txBody>
          <a:bodyPr wrap="square" anchor="t" lIns="0" tIns="0" rIns="0" bIns="0">
            <a:noAutofit/>
          </a:bodyPr>
          <a:lstStyle/>
          <a:p>
            <a:pPr algn="l"/>
            <a:r>
              <a:rPr sz="1100" b="1" i="0" spc="100">
                <a:solidFill>
                  <a:srgbClr val="A1A1A6"/>
                </a:solidFill>
                <a:latin typeface="Menlo"/>
              </a:rPr>
              <a:t>IN SAMPLE</a:t>
            </a:r>
          </a:p>
        </p:txBody>
      </p:sp>
      <p:sp>
        <p:nvSpPr>
          <p:cNvPr id="19" name="Scorecard is: P&amp;L"/>
          <p:cNvSpPr txBox="1"/>
          <p:nvPr/>
        </p:nvSpPr>
        <p:spPr>
          <a:xfrm>
            <a:off x="6812280" y="2633472"/>
            <a:ext cx="4465015" cy="566928"/>
          </a:xfrm>
          <a:prstGeom prst="rect">
            <a:avLst/>
          </a:prstGeom>
          <a:noFill/>
        </p:spPr>
        <p:txBody>
          <a:bodyPr wrap="square" anchor="ctr" lIns="0" tIns="0" rIns="0" bIns="0">
            <a:noAutofit/>
          </a:bodyPr>
          <a:lstStyle/>
          <a:p>
            <a:pPr algn="l"/>
            <a:r>
              <a:rPr sz="3600" b="1" i="0">
                <a:solidFill>
                  <a:srgbClr val="E8601C"/>
                </a:solidFill>
                <a:latin typeface="Menlo"/>
              </a:rPr>
              <a:t>+$40,425.72</a:t>
            </a:r>
            <a:r>
              <a:rPr sz="1600" b="0" i="0">
                <a:solidFill>
                  <a:srgbClr val="A1A1A6"/>
                </a:solidFill>
                <a:latin typeface="Menlo"/>
              </a:rPr>
              <a:t>  +142.8%</a:t>
            </a:r>
          </a:p>
        </p:txBody>
      </p:sp>
      <p:sp>
        <p:nvSpPr>
          <p:cNvPr id="20" name="Scorecard is: details"/>
          <p:cNvSpPr txBox="1"/>
          <p:nvPr/>
        </p:nvSpPr>
        <p:spPr>
          <a:xfrm>
            <a:off x="6812280" y="3218688"/>
            <a:ext cx="4465015" cy="566928"/>
          </a:xfrm>
          <a:prstGeom prst="rect">
            <a:avLst/>
          </a:prstGeom>
          <a:noFill/>
        </p:spPr>
        <p:txBody>
          <a:bodyPr wrap="square" anchor="t" lIns="0" tIns="0" rIns="0" bIns="0">
            <a:noAutofit/>
          </a:bodyPr>
          <a:lstStyle/>
          <a:p>
            <a:pPr algn="l"/>
            <a:r>
              <a:rPr sz="1000" b="0" i="0">
                <a:solidFill>
                  <a:srgbClr val="FFFFFF"/>
                </a:solidFill>
                <a:latin typeface="Menlo"/>
              </a:rPr>
              <a:t>$28,300 → $68,726 · 199 trading days · 55,662 fills</a:t>
            </a:r>
          </a:p>
          <a:p>
            <a:pPr algn="l"/>
            <a:r>
              <a:rPr sz="1000" b="0" i="0">
                <a:solidFill>
                  <a:srgbClr val="FFFFFF"/>
                </a:solidFill>
                <a:latin typeface="Menlo"/>
              </a:rPr>
              <a:t>win 53.6% · days up 82% · Sharpe 14.9 · max DD −$1,067.11</a:t>
            </a:r>
          </a:p>
        </p:txBody>
      </p:sp>
      <p:sp>
        <p:nvSpPr>
          <p:cNvPr id="21" name="Scorecard oos: label"/>
          <p:cNvSpPr txBox="1"/>
          <p:nvPr/>
        </p:nvSpPr>
        <p:spPr>
          <a:xfrm>
            <a:off x="6812280" y="3858768"/>
            <a:ext cx="4465015" cy="274320"/>
          </a:xfrm>
          <a:prstGeom prst="rect">
            <a:avLst/>
          </a:prstGeom>
          <a:noFill/>
        </p:spPr>
        <p:txBody>
          <a:bodyPr wrap="square" anchor="t" lIns="0" tIns="0" rIns="0" bIns="0">
            <a:noAutofit/>
          </a:bodyPr>
          <a:lstStyle/>
          <a:p>
            <a:pPr algn="l"/>
            <a:r>
              <a:rPr sz="1100" b="1" i="0" spc="100">
                <a:solidFill>
                  <a:srgbClr val="A1A1A6"/>
                </a:solidFill>
                <a:latin typeface="Menlo"/>
              </a:rPr>
              <a:t>OUT OF SAMPLE</a:t>
            </a:r>
          </a:p>
        </p:txBody>
      </p:sp>
      <p:sp>
        <p:nvSpPr>
          <p:cNvPr id="22" name="Scorecard oos: P&amp;L"/>
          <p:cNvSpPr txBox="1"/>
          <p:nvPr/>
        </p:nvSpPr>
        <p:spPr>
          <a:xfrm>
            <a:off x="6812280" y="4114800"/>
            <a:ext cx="4465015" cy="566928"/>
          </a:xfrm>
          <a:prstGeom prst="rect">
            <a:avLst/>
          </a:prstGeom>
          <a:noFill/>
        </p:spPr>
        <p:txBody>
          <a:bodyPr wrap="square" anchor="ctr" lIns="0" tIns="0" rIns="0" bIns="0">
            <a:noAutofit/>
          </a:bodyPr>
          <a:lstStyle/>
          <a:p>
            <a:pPr algn="l"/>
            <a:r>
              <a:rPr sz="3600" b="1" i="0">
                <a:solidFill>
                  <a:srgbClr val="FFFFFF"/>
                </a:solidFill>
                <a:latin typeface="Menlo"/>
              </a:rPr>
              <a:t>+$3,687.54</a:t>
            </a:r>
            <a:r>
              <a:rPr sz="1600" b="0" i="0">
                <a:solidFill>
                  <a:srgbClr val="A1A1A6"/>
                </a:solidFill>
                <a:latin typeface="Menlo"/>
              </a:rPr>
              <a:t>  +13.0%</a:t>
            </a:r>
          </a:p>
        </p:txBody>
      </p:sp>
      <p:sp>
        <p:nvSpPr>
          <p:cNvPr id="23" name="Scorecard oos: details"/>
          <p:cNvSpPr txBox="1"/>
          <p:nvPr/>
        </p:nvSpPr>
        <p:spPr>
          <a:xfrm>
            <a:off x="6812280" y="4700016"/>
            <a:ext cx="4465015" cy="566928"/>
          </a:xfrm>
          <a:prstGeom prst="rect">
            <a:avLst/>
          </a:prstGeom>
          <a:noFill/>
        </p:spPr>
        <p:txBody>
          <a:bodyPr wrap="square" anchor="t" lIns="0" tIns="0" rIns="0" bIns="0">
            <a:noAutofit/>
          </a:bodyPr>
          <a:lstStyle/>
          <a:p>
            <a:pPr algn="l"/>
            <a:r>
              <a:rPr sz="1000" b="0" i="0">
                <a:solidFill>
                  <a:srgbClr val="FFFFFF"/>
                </a:solidFill>
                <a:latin typeface="Menlo"/>
              </a:rPr>
              <a:t>$28,300 → $31,988 · 40 trading days · 10,412 fills</a:t>
            </a:r>
          </a:p>
          <a:p>
            <a:pPr algn="l"/>
            <a:r>
              <a:rPr sz="1000" b="0" i="0">
                <a:solidFill>
                  <a:srgbClr val="FFFFFF"/>
                </a:solidFill>
                <a:latin typeface="Menlo"/>
              </a:rPr>
              <a:t>win 55.6% · days up 60% · Sharpe 6.8 · max DD −$875.62</a:t>
            </a:r>
          </a:p>
        </p:txBody>
      </p:sp>
      <p:sp>
        <p:nvSpPr>
          <p:cNvPr id="24" name="Scorecard note"/>
          <p:cNvSpPr txBox="1"/>
          <p:nvPr/>
        </p:nvSpPr>
        <p:spPr>
          <a:xfrm>
            <a:off x="6812280" y="5248656"/>
            <a:ext cx="4465015" cy="512064"/>
          </a:xfrm>
          <a:prstGeom prst="rect">
            <a:avLst/>
          </a:prstGeom>
          <a:noFill/>
        </p:spPr>
        <p:txBody>
          <a:bodyPr wrap="square" anchor="t" lIns="0" tIns="0" rIns="0" bIns="0">
            <a:noAutofit/>
          </a:bodyPr>
          <a:lstStyle/>
          <a:p>
            <a:pPr algn="l">
              <a:lnSpc>
                <a:spcPct val="105000"/>
              </a:lnSpc>
            </a:pPr>
            <a:r>
              <a:rPr sz="900" b="0" i="0">
                <a:solidFill>
                  <a:srgbClr val="A1A1A6"/>
                </a:solidFill>
                <a:latin typeface="Inter"/>
              </a:rPr>
              <a:t>Paper money, every v2 fill replayed: Sharpe over trading days (199 / 40), max DD trade by trade. The paper uses calendar days (206 / 40) and daily P&amp;L: Sharpe 14.5 / 6.7, max DD −2.0% / −2.1%.</a:t>
            </a:r>
          </a:p>
        </p:txBody>
      </p:sp>
      <p:sp>
        <p:nvSpPr>
          <p:cNvPr id="25" name="Cost note"/>
          <p:cNvSpPr txBox="1"/>
          <p:nvPr/>
        </p:nvSpPr>
        <p:spPr>
          <a:xfrm>
            <a:off x="6537960" y="5870448"/>
            <a:ext cx="5013655" cy="365760"/>
          </a:xfrm>
          <a:prstGeom prst="rect">
            <a:avLst/>
          </a:prstGeom>
          <a:noFill/>
        </p:spPr>
        <p:txBody>
          <a:bodyPr wrap="square" anchor="t" lIns="0" tIns="0" rIns="0" bIns="0">
            <a:noAutofit/>
          </a:bodyPr>
          <a:lstStyle/>
          <a:p>
            <a:pPr algn="l"/>
            <a:r>
              <a:rPr sz="1050" b="0" i="0">
                <a:solidFill>
                  <a:srgbClr val="FFFFFF"/>
                </a:solidFill>
                <a:latin typeface="Inter"/>
              </a:rPr>
              <a:t>Fees ×2 held out: −0.34¢ a share; the edge does not survive doubled costs.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1D1D1F"/>
                </a:solidFill>
                <a:latin typeface="Inter"/>
              </a:rPr>
              <a:t>We tried to break it: only v2 clears zero</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08</a:t>
            </a:r>
            <a:r>
              <a:rPr sz="1050" b="1" i="0" spc="150">
                <a:solidFill>
                  <a:srgbClr val="6E6E73"/>
                </a:solidFill>
                <a:latin typeface="Inter"/>
              </a:rPr>
              <a:t>   ROBUSTNESS · WHAT WE TESTED</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IS = in sample · OOS = held out · net ¢ per share, 95% CI</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8</a:t>
            </a:r>
          </a:p>
        </p:txBody>
      </p:sp>
      <p:pic>
        <p:nvPicPr>
          <p:cNvPr id="8" name="Fig: every test (results/paper/v2/figA4_forest.png (repo figure; the paper lists the same tests in Table A1))" descr="figA4_forest.png"/>
          <p:cNvPicPr>
            <a:picLocks noChangeAspect="1"/>
          </p:cNvPicPr>
          <p:nvPr/>
        </p:nvPicPr>
        <p:blipFill>
          <a:blip r:embed="rId2"/>
          <a:stretch>
            <a:fillRect/>
          </a:stretch>
        </p:blipFill>
        <p:spPr>
          <a:xfrm>
            <a:off x="594359" y="2090740"/>
            <a:ext cx="5440680" cy="2996559"/>
          </a:xfrm>
          <a:prstGeom prst="rect">
            <a:avLst/>
          </a:prstGeom>
        </p:spPr>
      </p:pic>
      <p:sp>
        <p:nvSpPr>
          <p:cNvPr id="9" name="Fig caption"/>
          <p:cNvSpPr txBox="1"/>
          <p:nvPr/>
        </p:nvSpPr>
        <p:spPr>
          <a:xfrm>
            <a:off x="640080" y="5833872"/>
            <a:ext cx="5303520" cy="457200"/>
          </a:xfrm>
          <a:prstGeom prst="rect">
            <a:avLst/>
          </a:prstGeom>
          <a:noFill/>
        </p:spPr>
        <p:txBody>
          <a:bodyPr wrap="square" anchor="t" lIns="0" tIns="0" rIns="0" bIns="0">
            <a:noAutofit/>
          </a:bodyPr>
          <a:lstStyle/>
          <a:p>
            <a:pPr algn="l"/>
            <a:r>
              <a:rPr sz="1000" b="0" i="0">
                <a:solidFill>
                  <a:srgbClr val="6E6E73"/>
                </a:solidFill>
                <a:latin typeface="Inter"/>
              </a:rPr>
              <a:t>Every test on one axis; hollow = a held-out test. Source: results/paper/v2/figA4_forest.png (repo figure; the paper lists the same tests in Table A1).</a:t>
            </a:r>
          </a:p>
        </p:txBody>
      </p:sp>
      <p:graphicFrame>
        <p:nvGraphicFramePr>
          <p:cNvPr id="10" name="Robustness (paper Table A1)"/>
          <p:cNvGraphicFramePr>
            <a:graphicFrameLocks noGrp="1"/>
          </p:cNvGraphicFramePr>
          <p:nvPr/>
        </p:nvGraphicFramePr>
        <p:xfrm>
          <a:off x="6217920" y="1481328"/>
          <a:ext cx="5330952" cy="3328416"/>
        </p:xfrm>
        <a:graphic>
          <a:graphicData uri="http://schemas.openxmlformats.org/drawingml/2006/table">
            <a:tbl>
              <a:tblPr>
                <a:tableStyleId>{2D5ABB26-0587-4C30-8999-92F81FD0307C}</a:tableStyleId>
              </a:tblPr>
              <a:tblGrid>
                <a:gridCol w="2194560"/>
                <a:gridCol w="1051560"/>
                <a:gridCol w="1143000"/>
                <a:gridCol w="941832"/>
              </a:tblGrid>
              <a:tr h="329184">
                <a:tc>
                  <a:txBody>
                    <a:bodyPr wrap="square"/>
                    <a:lstStyle/>
                    <a:p>
                      <a:pPr algn="l"/>
                      <a:r>
                        <a:rPr sz="1000" b="1" i="0">
                          <a:solidFill>
                            <a:srgbClr val="6E6E73"/>
                          </a:solidFill>
                          <a:latin typeface="Inter"/>
                        </a:rPr>
                        <a:t>Test</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000" b="1" i="0">
                          <a:solidFill>
                            <a:srgbClr val="6E6E73"/>
                          </a:solidFill>
                          <a:latin typeface="Inter"/>
                        </a:rPr>
                        <a:t>IS</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000" b="1" i="0">
                          <a:solidFill>
                            <a:srgbClr val="6E6E73"/>
                          </a:solidFill>
                          <a:latin typeface="Inter"/>
                        </a:rPr>
                        <a:t>OOS / blind</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000" b="1" i="0">
                          <a:solidFill>
                            <a:srgbClr val="6E6E73"/>
                          </a:solidFill>
                          <a:latin typeface="Inter"/>
                        </a:rPr>
                        <a:t>Verdict</a:t>
                      </a:r>
                    </a:p>
                  </a:txBody>
                  <a:tcPr marL="54864" marR="54864" marT="18288" marB="18288" anchor="ctr">
                    <a:lnL w="9525">
                      <a:noFill/>
                    </a:lnL>
                    <a:lnR w="9525">
                      <a:noFill/>
                    </a:lnR>
                    <a:lnT w="9525">
                      <a:noFill/>
                    </a:lnT>
                    <a:lnB w="9525">
                      <a:solidFill>
                        <a:srgbClr val="D2D2D7"/>
                      </a:solidFill>
                    </a:lnB>
                    <a:noFill/>
                  </a:tcPr>
                </a:tc>
              </a:tr>
              <a:tr h="347472">
                <a:tc>
                  <a:txBody>
                    <a:bodyPr wrap="square"/>
                    <a:lstStyle/>
                    <a:p>
                      <a:pPr algn="l"/>
                      <a:r>
                        <a:rPr sz="1100" b="0" i="0">
                          <a:solidFill>
                            <a:srgbClr val="1D1D1F"/>
                          </a:solidFill>
                          <a:latin typeface="Inter"/>
                        </a:rPr>
                        <a:t>v2, ½ / 1 tick worse entry</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+0.88 / +0.38</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+0.10 / −0.40</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≈0 at ½ tick</a:t>
                      </a:r>
                    </a:p>
                  </a:txBody>
                  <a:tcPr marL="54864" marR="54864" marT="18288" marB="18288" anchor="ctr">
                    <a:lnL w="9525">
                      <a:noFill/>
                    </a:lnL>
                    <a:lnR w="9525">
                      <a:noFill/>
                    </a:lnR>
                    <a:lnT w="9525">
                      <a:noFill/>
                    </a:lnT>
                    <a:lnB w="9525">
                      <a:solidFill>
                        <a:srgbClr val="D2D2D7"/>
                      </a:solidFill>
                    </a:lnB>
                    <a:noFill/>
                  </a:tcPr>
                </a:tc>
              </a:tr>
              <a:tr h="347472">
                <a:tc>
                  <a:txBody>
                    <a:bodyPr wrap="square"/>
                    <a:lstStyle/>
                    <a:p>
                      <a:pPr algn="l"/>
                      <a:r>
                        <a:rPr sz="1100" b="0" i="0">
                          <a:solidFill>
                            <a:srgbClr val="1D1D1F"/>
                          </a:solidFill>
                          <a:latin typeface="Inter"/>
                        </a:rPr>
                        <a:t>v2, fees ×2 / all costs ×2</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+0.77 / +0.27</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−0.34 / −0.84</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fail OOS</a:t>
                      </a:r>
                    </a:p>
                  </a:txBody>
                  <a:tcPr marL="54864" marR="54864" marT="18288" marB="18288" anchor="ctr">
                    <a:lnL w="9525">
                      <a:noFill/>
                    </a:lnL>
                    <a:lnR w="9525">
                      <a:noFill/>
                    </a:lnR>
                    <a:lnT w="9525">
                      <a:noFill/>
                    </a:lnT>
                    <a:lnB w="9525">
                      <a:solidFill>
                        <a:srgbClr val="D2D2D7"/>
                      </a:solidFill>
                    </a:lnB>
                    <a:noFill/>
                  </a:tcPr>
                </a:tc>
              </a:tr>
              <a:tr h="347472">
                <a:tc>
                  <a:txBody>
                    <a:bodyPr wrap="square"/>
                    <a:lstStyle/>
                    <a:p>
                      <a:pPr algn="l"/>
                      <a:r>
                        <a:rPr sz="1100" b="0" i="0">
                          <a:solidFill>
                            <a:srgbClr val="1D1D1F"/>
                          </a:solidFill>
                          <a:latin typeface="Inter"/>
                        </a:rPr>
                        <a:t>v2, 11,307 unseen markets</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+2.02</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+1.22</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fail (blind)</a:t>
                      </a:r>
                    </a:p>
                  </a:txBody>
                  <a:tcPr marL="54864" marR="54864" marT="18288" marB="18288" anchor="ctr">
                    <a:lnL w="9525">
                      <a:noFill/>
                    </a:lnL>
                    <a:lnR w="9525">
                      <a:noFill/>
                    </a:lnR>
                    <a:lnT w="9525">
                      <a:noFill/>
                    </a:lnT>
                    <a:lnB w="9525">
                      <a:solidFill>
                        <a:srgbClr val="D2D2D7"/>
                      </a:solidFill>
                    </a:lnB>
                    <a:noFill/>
                  </a:tcPr>
                </a:tc>
              </a:tr>
              <a:tr h="347472">
                <a:tc>
                  <a:txBody>
                    <a:bodyPr wrap="square"/>
                    <a:lstStyle/>
                    <a:p>
                      <a:pPr algn="l"/>
                      <a:r>
                        <a:rPr sz="1100" b="0" i="0">
                          <a:solidFill>
                            <a:srgbClr val="1D1D1F"/>
                          </a:solidFill>
                          <a:latin typeface="Inter"/>
                        </a:rPr>
                        <a:t>Maker v1, per fill</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+2.02</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+1.87</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fail (blind)</a:t>
                      </a:r>
                    </a:p>
                  </a:txBody>
                  <a:tcPr marL="54864" marR="54864" marT="18288" marB="18288" anchor="ctr">
                    <a:lnL w="9525">
                      <a:noFill/>
                    </a:lnL>
                    <a:lnR w="9525">
                      <a:noFill/>
                    </a:lnR>
                    <a:lnT w="9525">
                      <a:noFill/>
                    </a:lnT>
                    <a:lnB w="9525">
                      <a:solidFill>
                        <a:srgbClr val="D2D2D7"/>
                      </a:solidFill>
                    </a:lnB>
                    <a:noFill/>
                  </a:tcPr>
                </a:tc>
              </a:tr>
              <a:tr h="347472">
                <a:tc>
                  <a:txBody>
                    <a:bodyPr wrap="square"/>
                    <a:lstStyle/>
                    <a:p>
                      <a:pPr algn="l"/>
                      <a:r>
                        <a:rPr sz="1100" b="0" i="0">
                          <a:solidFill>
                            <a:srgbClr val="1D1D1F"/>
                          </a:solidFill>
                          <a:latin typeface="Inter"/>
                        </a:rPr>
                        <a:t>CV v3 rule, unseen markets</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−0.22</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−0.52</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fail (blind)</a:t>
                      </a:r>
                    </a:p>
                  </a:txBody>
                  <a:tcPr marL="54864" marR="54864" marT="18288" marB="18288" anchor="ctr">
                    <a:lnL w="9525">
                      <a:noFill/>
                    </a:lnL>
                    <a:lnR w="9525">
                      <a:noFill/>
                    </a:lnR>
                    <a:lnT w="9525">
                      <a:noFill/>
                    </a:lnT>
                    <a:lnB w="9525">
                      <a:solidFill>
                        <a:srgbClr val="D2D2D7"/>
                      </a:solidFill>
                    </a:lnB>
                    <a:noFill/>
                  </a:tcPr>
                </a:tc>
              </a:tr>
              <a:tr h="347472">
                <a:tc>
                  <a:txBody>
                    <a:bodyPr wrap="square"/>
                    <a:lstStyle/>
                    <a:p>
                      <a:pPr algn="l"/>
                      <a:r>
                        <a:rPr sz="1100" b="0" i="0">
                          <a:solidFill>
                            <a:srgbClr val="1D1D1F"/>
                          </a:solidFill>
                          <a:latin typeface="Inter"/>
                        </a:rPr>
                        <a:t>CV replay, 9 real books, 1 s</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−0.94</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loses</a:t>
                      </a:r>
                    </a:p>
                  </a:txBody>
                  <a:tcPr marL="54864" marR="54864" marT="18288" marB="18288" anchor="ctr">
                    <a:lnL w="9525">
                      <a:noFill/>
                    </a:lnL>
                    <a:lnR w="9525">
                      <a:noFill/>
                    </a:lnR>
                    <a:lnT w="9525">
                      <a:noFill/>
                    </a:lnT>
                    <a:lnB w="9525">
                      <a:solidFill>
                        <a:srgbClr val="D2D2D7"/>
                      </a:solidFill>
                    </a:lnB>
                    <a:noFill/>
                  </a:tcPr>
                </a:tc>
              </a:tr>
              <a:tr h="347472">
                <a:tc>
                  <a:txBody>
                    <a:bodyPr wrap="square"/>
                    <a:lstStyle/>
                    <a:p>
                      <a:pPr algn="l"/>
                      <a:r>
                        <a:rPr sz="1100" b="0" i="0">
                          <a:solidFill>
                            <a:srgbClr val="1D1D1F"/>
                          </a:solidFill>
                          <a:latin typeface="Inter"/>
                        </a:rPr>
                        <a:t>v2 after fixed costs, $/day</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+$29</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−$75</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fail OOS</a:t>
                      </a:r>
                    </a:p>
                  </a:txBody>
                  <a:tcPr marL="54864" marR="54864" marT="18288" marB="18288" anchor="ctr">
                    <a:lnL w="9525">
                      <a:noFill/>
                    </a:lnL>
                    <a:lnR w="9525">
                      <a:noFill/>
                    </a:lnR>
                    <a:lnT w="9525">
                      <a:noFill/>
                    </a:lnT>
                    <a:lnB w="9525">
                      <a:solidFill>
                        <a:srgbClr val="D2D2D7"/>
                      </a:solidFill>
                    </a:lnB>
                    <a:noFill/>
                  </a:tcPr>
                </a:tc>
              </a:tr>
              <a:tr h="566928">
                <a:tc>
                  <a:txBody>
                    <a:bodyPr wrap="square"/>
                    <a:lstStyle/>
                    <a:p>
                      <a:pPr algn="l"/>
                      <a:r>
                        <a:rPr sz="1100" b="0" i="0">
                          <a:solidFill>
                            <a:srgbClr val="1D1D1F"/>
                          </a:solidFill>
                          <a:latin typeface="Inter"/>
                        </a:rPr>
                        <a:t>PBO · bootstrap P(SR ≤ 0) · deflated Sharpe OOS</a:t>
                      </a:r>
                    </a:p>
                  </a:txBody>
                  <a:tcPr marL="54864" marR="54864" marT="18288" marB="18288" anchor="ctr">
                    <a:lnL w="9525">
                      <a:noFill/>
                    </a:lnL>
                    <a:lnR w="9525">
                      <a:noFill/>
                    </a:lnR>
                    <a:lnT w="9525">
                      <a:noFill/>
                    </a:lnT>
                    <a:lnB w="9525">
                      <a:noFill/>
                    </a:lnB>
                    <a:noFill/>
                  </a:tcPr>
                </a:tc>
                <a:tc>
                  <a:txBody>
                    <a:bodyPr wrap="square"/>
                    <a:lstStyle/>
                    <a:p>
                      <a:pPr algn="r"/>
                      <a:r>
                        <a:rPr sz="1100" b="0" i="0">
                          <a:solidFill>
                            <a:srgbClr val="1D1D1F"/>
                          </a:solidFill>
                          <a:latin typeface="Inter"/>
                        </a:rPr>
                        <a:t>15% · 0.0023</a:t>
                      </a:r>
                    </a:p>
                  </a:txBody>
                  <a:tcPr marL="54864" marR="54864" marT="18288" marB="18288" anchor="ctr">
                    <a:lnL w="9525">
                      <a:noFill/>
                    </a:lnL>
                    <a:lnR w="9525">
                      <a:noFill/>
                    </a:lnR>
                    <a:lnT w="9525">
                      <a:noFill/>
                    </a:lnT>
                    <a:lnB w="9525">
                      <a:noFill/>
                    </a:lnB>
                    <a:noFill/>
                  </a:tcPr>
                </a:tc>
                <a:tc>
                  <a:txBody>
                    <a:bodyPr wrap="square"/>
                    <a:lstStyle/>
                    <a:p>
                      <a:pPr algn="r"/>
                      <a:r>
                        <a:rPr sz="1100" b="0" i="0">
                          <a:solidFill>
                            <a:srgbClr val="1D1D1F"/>
                          </a:solidFill>
                          <a:latin typeface="Inter"/>
                        </a:rPr>
                        <a:t>0.075</a:t>
                      </a:r>
                    </a:p>
                  </a:txBody>
                  <a:tcPr marL="54864" marR="54864" marT="18288" marB="18288" anchor="ctr">
                    <a:lnL w="9525">
                      <a:noFill/>
                    </a:lnL>
                    <a:lnR w="9525">
                      <a:noFill/>
                    </a:lnR>
                    <a:lnT w="9525">
                      <a:noFill/>
                    </a:lnT>
                    <a:lnB w="9525">
                      <a:noFill/>
                    </a:lnB>
                    <a:noFill/>
                  </a:tcPr>
                </a:tc>
                <a:tc>
                  <a:txBody>
                    <a:bodyPr wrap="square"/>
                    <a:lstStyle/>
                    <a:p>
                      <a:pPr algn="r"/>
                      <a:r>
                        <a:rPr sz="1100" b="0" i="0">
                          <a:solidFill>
                            <a:srgbClr val="1D1D1F"/>
                          </a:solidFill>
                          <a:latin typeface="Inter"/>
                        </a:rPr>
                        <a:t>luck not ruled out OOS</a:t>
                      </a:r>
                    </a:p>
                  </a:txBody>
                  <a:tcPr marL="54864" marR="54864" marT="18288" marB="18288" anchor="ctr">
                    <a:lnL w="9525">
                      <a:noFill/>
                    </a:lnL>
                    <a:lnR w="9525">
                      <a:noFill/>
                    </a:lnR>
                    <a:lnT w="9525">
                      <a:noFill/>
                    </a:lnT>
                    <a:lnB w="9525">
                      <a:noFill/>
                    </a:lnB>
                    <a:noFill/>
                  </a:tcPr>
                </a:tc>
              </a:tr>
            </a:tbl>
          </a:graphicData>
        </a:graphic>
      </p:graphicFrame>
      <p:sp>
        <p:nvSpPr>
          <p:cNvPr id="11" name="Forward slot card"/>
          <p:cNvSpPr/>
          <p:nvPr/>
        </p:nvSpPr>
        <p:spPr>
          <a:xfrm>
            <a:off x="6217920" y="4864608"/>
            <a:ext cx="5333695" cy="493776"/>
          </a:xfrm>
          <a:prstGeom prst="roundRect">
            <a:avLst>
              <a:gd name="adj" fmla="val 1481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orward test slot"/>
          <p:cNvSpPr txBox="1"/>
          <p:nvPr/>
        </p:nvSpPr>
        <p:spPr>
          <a:xfrm>
            <a:off x="6382512" y="4864608"/>
            <a:ext cx="5004511" cy="493776"/>
          </a:xfrm>
          <a:prstGeom prst="rect">
            <a:avLst/>
          </a:prstGeom>
          <a:noFill/>
        </p:spPr>
        <p:txBody>
          <a:bodyPr wrap="square" anchor="ctr" lIns="0" tIns="0" rIns="0" bIns="0">
            <a:noAutofit/>
          </a:bodyPr>
          <a:lstStyle/>
          <a:p>
            <a:pPr algn="l">
              <a:lnSpc>
                <a:spcPct val="105000"/>
              </a:lnSpc>
            </a:pPr>
            <a:r>
              <a:rPr sz="1150" b="1" i="0">
                <a:solidFill>
                  <a:srgbClr val="1D1D1F"/>
                </a:solidFill>
                <a:latin typeface="Inter"/>
              </a:rPr>
              <a:t>Blind forward test: pre-registered but not run within the hackathon window (HYPOTHESIS_V2.md A5)</a:t>
            </a:r>
          </a:p>
        </p:txBody>
      </p:sp>
      <p:sp>
        <p:nvSpPr>
          <p:cNvPr id="13" name="Rigor tally"/>
          <p:cNvSpPr txBox="1"/>
          <p:nvPr/>
        </p:nvSpPr>
        <p:spPr>
          <a:xfrm>
            <a:off x="6217920" y="5431536"/>
            <a:ext cx="5333695" cy="896112"/>
          </a:xfrm>
          <a:prstGeom prst="rect">
            <a:avLst/>
          </a:prstGeom>
          <a:noFill/>
        </p:spPr>
        <p:txBody>
          <a:bodyPr wrap="square" anchor="t" lIns="0" tIns="0" rIns="0" bIns="0">
            <a:noAutofit/>
          </a:bodyPr>
          <a:lstStyle/>
          <a:p>
            <a:pPr algn="l">
              <a:lnSpc>
                <a:spcPct val="105000"/>
              </a:lnSpc>
              <a:spcAft>
                <a:spcPts val="300"/>
              </a:spcAft>
            </a:pPr>
            <a:r>
              <a:rPr sz="1050" b="0" i="0">
                <a:solidFill>
                  <a:srgbClr val="1D1D1F"/>
                </a:solidFill>
                <a:latin typeface="Inter"/>
              </a:rPr>
              <a:t>4,219 variants in all; 3,410 strategy variants (the video's count); 3,386 in the deflated Sharpe. Held-out data read 77 times, every look logged; rules changed after a look: 2 for v2.</a:t>
            </a:r>
          </a:p>
          <a:p>
            <a:pPr algn="l">
              <a:lnSpc>
                <a:spcPct val="105000"/>
              </a:lnSpc>
            </a:pPr>
            <a:r>
              <a:rPr sz="1000" b="0" i="0">
                <a:solidFill>
                  <a:srgbClr val="6E6E73"/>
                </a:solidFill>
                <a:latin typeface="Inter"/>
              </a:rPr>
              <a:t>Also tested: chasing the move (−2.08¢ OOS), table tennis (no wallet qualifies; 27 matches, 94¢ median spread). The live paper session was stopped and is not used.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1D1D1F"/>
                </a:solidFill>
                <a:latin typeface="Inter"/>
              </a:rPr>
              <a:t>Small, capped and honest about costs</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09</a:t>
            </a:r>
            <a:r>
              <a:rPr sz="1050" b="1" i="0" spc="150">
                <a:solidFill>
                  <a:srgbClr val="6E6E73"/>
                </a:solidFill>
                <a:latin typeface="Inter"/>
              </a:rPr>
              <a:t>   RISK · CAPACITY · FINANCIALS</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feed-licence prices are quotes (assumptions); paper trading only</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9</a:t>
            </a:r>
          </a:p>
        </p:txBody>
      </p:sp>
      <p:sp>
        <p:nvSpPr>
          <p:cNvPr id="8" name="Col 0: head"/>
          <p:cNvSpPr txBox="1"/>
          <p:nvPr/>
        </p:nvSpPr>
        <p:spPr>
          <a:xfrm>
            <a:off x="640080" y="1481328"/>
            <a:ext cx="3484778" cy="292608"/>
          </a:xfrm>
          <a:prstGeom prst="rect">
            <a:avLst/>
          </a:prstGeom>
          <a:noFill/>
        </p:spPr>
        <p:txBody>
          <a:bodyPr wrap="square" anchor="t" lIns="0" tIns="0" rIns="0" bIns="0">
            <a:noAutofit/>
          </a:bodyPr>
          <a:lstStyle/>
          <a:p>
            <a:pPr algn="l"/>
            <a:r>
              <a:rPr sz="1300" b="1" i="0">
                <a:solidFill>
                  <a:srgbClr val="E8601C"/>
                </a:solidFill>
                <a:latin typeface="Inter"/>
              </a:rPr>
              <a:t>Risk limits, in code</a:t>
            </a:r>
          </a:p>
        </p:txBody>
      </p:sp>
      <p:cxnSp>
        <p:nvCxnSpPr>
          <p:cNvPr id="9" name="Col 0: rule"/>
          <p:cNvCxnSpPr/>
          <p:nvPr/>
        </p:nvCxnSpPr>
        <p:spPr>
          <a:xfrm>
            <a:off x="640080" y="1810512"/>
            <a:ext cx="3484778"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0" name="Col 0 item 0: value"/>
          <p:cNvSpPr txBox="1"/>
          <p:nvPr/>
        </p:nvSpPr>
        <p:spPr>
          <a:xfrm>
            <a:off x="640080" y="1901952"/>
            <a:ext cx="3484778" cy="438912"/>
          </a:xfrm>
          <a:prstGeom prst="rect">
            <a:avLst/>
          </a:prstGeom>
          <a:noFill/>
        </p:spPr>
        <p:txBody>
          <a:bodyPr wrap="square" anchor="ctr" lIns="0" tIns="0" rIns="0" bIns="0">
            <a:noAutofit/>
          </a:bodyPr>
          <a:lstStyle/>
          <a:p>
            <a:pPr algn="l"/>
            <a:r>
              <a:rPr sz="2400" b="1" i="0">
                <a:solidFill>
                  <a:srgbClr val="1D1D1F"/>
                </a:solidFill>
                <a:latin typeface="Inter"/>
              </a:rPr>
              <a:t>$1,000</a:t>
            </a:r>
          </a:p>
        </p:txBody>
      </p:sp>
      <p:sp>
        <p:nvSpPr>
          <p:cNvPr id="11" name="Col 0 item 0: caption"/>
          <p:cNvSpPr txBox="1"/>
          <p:nvPr/>
        </p:nvSpPr>
        <p:spPr>
          <a:xfrm>
            <a:off x="640080" y="23408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per order; 100 shares net per match, zone 0.05–0.95</a:t>
            </a:r>
          </a:p>
        </p:txBody>
      </p:sp>
      <p:sp>
        <p:nvSpPr>
          <p:cNvPr id="12" name="Col 0 item 1: value"/>
          <p:cNvSpPr txBox="1"/>
          <p:nvPr/>
        </p:nvSpPr>
        <p:spPr>
          <a:xfrm>
            <a:off x="640080" y="2816352"/>
            <a:ext cx="3484778" cy="438912"/>
          </a:xfrm>
          <a:prstGeom prst="rect">
            <a:avLst/>
          </a:prstGeom>
          <a:noFill/>
        </p:spPr>
        <p:txBody>
          <a:bodyPr wrap="square" anchor="ctr" lIns="0" tIns="0" rIns="0" bIns="0">
            <a:noAutofit/>
          </a:bodyPr>
          <a:lstStyle/>
          <a:p>
            <a:pPr algn="l"/>
            <a:r>
              <a:rPr sz="2400" b="1" i="0">
                <a:solidFill>
                  <a:srgbClr val="1D1D1F"/>
                </a:solidFill>
                <a:latin typeface="Inter"/>
              </a:rPr>
              <a:t>$95</a:t>
            </a:r>
          </a:p>
        </p:txBody>
      </p:sp>
      <p:sp>
        <p:nvSpPr>
          <p:cNvPr id="13" name="Col 0 item 1: caption"/>
          <p:cNvSpPr txBox="1"/>
          <p:nvPr/>
        </p:nvSpPr>
        <p:spPr>
          <a:xfrm>
            <a:off x="640080" y="32552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most one match can lose, plus fees</a:t>
            </a:r>
          </a:p>
        </p:txBody>
      </p:sp>
      <p:sp>
        <p:nvSpPr>
          <p:cNvPr id="14" name="Col 0 item 2: value"/>
          <p:cNvSpPr txBox="1"/>
          <p:nvPr/>
        </p:nvSpPr>
        <p:spPr>
          <a:xfrm>
            <a:off x="640080" y="3730752"/>
            <a:ext cx="3484778" cy="438912"/>
          </a:xfrm>
          <a:prstGeom prst="rect">
            <a:avLst/>
          </a:prstGeom>
          <a:noFill/>
        </p:spPr>
        <p:txBody>
          <a:bodyPr wrap="square" anchor="ctr" lIns="0" tIns="0" rIns="0" bIns="0">
            <a:noAutofit/>
          </a:bodyPr>
          <a:lstStyle/>
          <a:p>
            <a:pPr algn="l"/>
            <a:r>
              <a:rPr sz="2400" b="1" i="0">
                <a:solidFill>
                  <a:srgbClr val="1D1D1F"/>
                </a:solidFill>
                <a:latin typeface="Inter"/>
              </a:rPr>
              <a:t>$1,000</a:t>
            </a:r>
          </a:p>
        </p:txBody>
      </p:sp>
      <p:sp>
        <p:nvSpPr>
          <p:cNvPr id="15" name="Col 0 item 2: caption"/>
          <p:cNvSpPr txBox="1"/>
          <p:nvPr/>
        </p:nvSpPr>
        <p:spPr>
          <a:xfrm>
            <a:off x="640080" y="41696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daily stop; kill on stale feed &gt; 2 s, stale vision &gt; 1 s, latency above its rolling p95</a:t>
            </a:r>
          </a:p>
        </p:txBody>
      </p:sp>
      <p:sp>
        <p:nvSpPr>
          <p:cNvPr id="16" name="Col 0 item 3: value"/>
          <p:cNvSpPr txBox="1"/>
          <p:nvPr/>
        </p:nvSpPr>
        <p:spPr>
          <a:xfrm>
            <a:off x="640080" y="4645152"/>
            <a:ext cx="3484778" cy="438912"/>
          </a:xfrm>
          <a:prstGeom prst="rect">
            <a:avLst/>
          </a:prstGeom>
          <a:noFill/>
        </p:spPr>
        <p:txBody>
          <a:bodyPr wrap="square" anchor="ctr" lIns="0" tIns="0" rIns="0" bIns="0">
            <a:noAutofit/>
          </a:bodyPr>
          <a:lstStyle/>
          <a:p>
            <a:pPr algn="l"/>
            <a:r>
              <a:rPr sz="2400" b="1" i="0">
                <a:solidFill>
                  <a:srgbClr val="1D1D1F"/>
                </a:solidFill>
                <a:latin typeface="Inter"/>
              </a:rPr>
              <a:t>5%</a:t>
            </a:r>
          </a:p>
        </p:txBody>
      </p:sp>
      <p:sp>
        <p:nvSpPr>
          <p:cNvPr id="17" name="Col 0 item 3: caption"/>
          <p:cNvSpPr txBox="1"/>
          <p:nvPr/>
        </p:nvSpPr>
        <p:spPr>
          <a:xfrm>
            <a:off x="640080" y="50840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drawdown stop; halve size if the 30-day edge &lt; 0.3¢, stop at ≤ 0</a:t>
            </a:r>
          </a:p>
        </p:txBody>
      </p:sp>
      <p:sp>
        <p:nvSpPr>
          <p:cNvPr id="18" name="Col 1: head"/>
          <p:cNvSpPr txBox="1"/>
          <p:nvPr/>
        </p:nvSpPr>
        <p:spPr>
          <a:xfrm>
            <a:off x="4353458" y="1481328"/>
            <a:ext cx="3484778" cy="292608"/>
          </a:xfrm>
          <a:prstGeom prst="rect">
            <a:avLst/>
          </a:prstGeom>
          <a:noFill/>
        </p:spPr>
        <p:txBody>
          <a:bodyPr wrap="square" anchor="t" lIns="0" tIns="0" rIns="0" bIns="0">
            <a:noAutofit/>
          </a:bodyPr>
          <a:lstStyle/>
          <a:p>
            <a:pPr algn="l"/>
            <a:r>
              <a:rPr sz="1300" b="1" i="0">
                <a:solidFill>
                  <a:srgbClr val="E8601C"/>
                </a:solidFill>
                <a:latin typeface="Inter"/>
              </a:rPr>
              <a:t>Capital capacity</a:t>
            </a:r>
          </a:p>
        </p:txBody>
      </p:sp>
      <p:cxnSp>
        <p:nvCxnSpPr>
          <p:cNvPr id="19" name="Col 1: rule"/>
          <p:cNvCxnSpPr/>
          <p:nvPr/>
        </p:nvCxnSpPr>
        <p:spPr>
          <a:xfrm>
            <a:off x="4353458" y="1810512"/>
            <a:ext cx="3484778"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0" name="Col 1 item 0: value"/>
          <p:cNvSpPr txBox="1"/>
          <p:nvPr/>
        </p:nvSpPr>
        <p:spPr>
          <a:xfrm>
            <a:off x="4353458" y="1901952"/>
            <a:ext cx="3484778" cy="438912"/>
          </a:xfrm>
          <a:prstGeom prst="rect">
            <a:avLst/>
          </a:prstGeom>
          <a:noFill/>
        </p:spPr>
        <p:txBody>
          <a:bodyPr wrap="square" anchor="ctr" lIns="0" tIns="0" rIns="0" bIns="0">
            <a:noAutofit/>
          </a:bodyPr>
          <a:lstStyle/>
          <a:p>
            <a:pPr algn="l"/>
            <a:r>
              <a:rPr sz="2400" b="1" i="0">
                <a:solidFill>
                  <a:srgbClr val="1D1D1F"/>
                </a:solidFill>
                <a:latin typeface="Inter"/>
              </a:rPr>
              <a:t>$22,754</a:t>
            </a:r>
          </a:p>
        </p:txBody>
      </p:sp>
      <p:sp>
        <p:nvSpPr>
          <p:cNvPr id="21" name="Col 1 item 0: caption"/>
          <p:cNvSpPr txBox="1"/>
          <p:nvPr/>
        </p:nvSpPr>
        <p:spPr>
          <a:xfrm>
            <a:off x="4353458" y="23408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v2: held-out edge holds only at 1× size; 5× loses</a:t>
            </a:r>
          </a:p>
        </p:txBody>
      </p:sp>
      <p:sp>
        <p:nvSpPr>
          <p:cNvPr id="22" name="Col 1 item 1: value"/>
          <p:cNvSpPr txBox="1"/>
          <p:nvPr/>
        </p:nvSpPr>
        <p:spPr>
          <a:xfrm>
            <a:off x="4353458" y="2816352"/>
            <a:ext cx="3484778" cy="438912"/>
          </a:xfrm>
          <a:prstGeom prst="rect">
            <a:avLst/>
          </a:prstGeom>
          <a:noFill/>
        </p:spPr>
        <p:txBody>
          <a:bodyPr wrap="square" anchor="ctr" lIns="0" tIns="0" rIns="0" bIns="0">
            <a:noAutofit/>
          </a:bodyPr>
          <a:lstStyle/>
          <a:p>
            <a:pPr algn="l"/>
            <a:r>
              <a:rPr sz="2400" b="1" i="0">
                <a:solidFill>
                  <a:srgbClr val="1D1D1F"/>
                </a:solidFill>
                <a:latin typeface="Inter"/>
              </a:rPr>
              <a:t>$7,182</a:t>
            </a:r>
          </a:p>
        </p:txBody>
      </p:sp>
      <p:sp>
        <p:nvSpPr>
          <p:cNvPr id="23" name="Col 1 item 1: caption"/>
          <p:cNvSpPr txBox="1"/>
          <p:nvPr/>
        </p:nvSpPr>
        <p:spPr>
          <a:xfrm>
            <a:off x="4353458" y="32552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traded a day by v2: 0.07% of match volume</a:t>
            </a:r>
          </a:p>
        </p:txBody>
      </p:sp>
      <p:sp>
        <p:nvSpPr>
          <p:cNvPr id="24" name="Col 1 item 2: value"/>
          <p:cNvSpPr txBox="1"/>
          <p:nvPr/>
        </p:nvSpPr>
        <p:spPr>
          <a:xfrm>
            <a:off x="4353458" y="3730752"/>
            <a:ext cx="3484778" cy="438912"/>
          </a:xfrm>
          <a:prstGeom prst="rect">
            <a:avLst/>
          </a:prstGeom>
          <a:noFill/>
        </p:spPr>
        <p:txBody>
          <a:bodyPr wrap="square" anchor="ctr" lIns="0" tIns="0" rIns="0" bIns="0">
            <a:noAutofit/>
          </a:bodyPr>
          <a:lstStyle/>
          <a:p>
            <a:pPr algn="l"/>
            <a:r>
              <a:rPr sz="2400" b="1" i="0">
                <a:solidFill>
                  <a:srgbClr val="1D1D1F"/>
                </a:solidFill>
                <a:latin typeface="Inter"/>
              </a:rPr>
              <a:t>$40,000</a:t>
            </a:r>
          </a:p>
        </p:txBody>
      </p:sp>
      <p:sp>
        <p:nvSpPr>
          <p:cNvPr id="25" name="Col 1 item 2: caption"/>
          <p:cNvSpPr txBox="1"/>
          <p:nvPr/>
        </p:nvSpPr>
        <p:spPr>
          <a:xfrm>
            <a:off x="4353458" y="41696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CV, post hoc: Sharpe halves here (held out; $73,000 in sample)</a:t>
            </a:r>
          </a:p>
        </p:txBody>
      </p:sp>
      <p:sp>
        <p:nvSpPr>
          <p:cNvPr id="26" name="Col 1 item 3: value"/>
          <p:cNvSpPr txBox="1"/>
          <p:nvPr/>
        </p:nvSpPr>
        <p:spPr>
          <a:xfrm>
            <a:off x="4353458" y="4645152"/>
            <a:ext cx="3484778" cy="438912"/>
          </a:xfrm>
          <a:prstGeom prst="rect">
            <a:avLst/>
          </a:prstGeom>
          <a:noFill/>
        </p:spPr>
        <p:txBody>
          <a:bodyPr wrap="square" anchor="ctr" lIns="0" tIns="0" rIns="0" bIns="0">
            <a:noAutofit/>
          </a:bodyPr>
          <a:lstStyle/>
          <a:p>
            <a:pPr algn="l"/>
            <a:r>
              <a:rPr sz="2400" b="1" i="0">
                <a:solidFill>
                  <a:srgbClr val="1D1D1F"/>
                </a:solidFill>
                <a:latin typeface="Inter"/>
              </a:rPr>
              <a:t>none</a:t>
            </a:r>
          </a:p>
        </p:txBody>
      </p:sp>
      <p:sp>
        <p:nvSpPr>
          <p:cNvPr id="27" name="Col 1 item 3: caption"/>
          <p:cNvSpPr txBox="1"/>
          <p:nvPr/>
        </p:nvSpPr>
        <p:spPr>
          <a:xfrm>
            <a:off x="4353458" y="50840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CV, pre-registered: Sharpe 2.7 · 0.8 at its smallest size</a:t>
            </a:r>
          </a:p>
        </p:txBody>
      </p:sp>
      <p:sp>
        <p:nvSpPr>
          <p:cNvPr id="28" name="Col 2: head"/>
          <p:cNvSpPr txBox="1"/>
          <p:nvPr/>
        </p:nvSpPr>
        <p:spPr>
          <a:xfrm>
            <a:off x="8066836" y="1481328"/>
            <a:ext cx="3484778" cy="292608"/>
          </a:xfrm>
          <a:prstGeom prst="rect">
            <a:avLst/>
          </a:prstGeom>
          <a:noFill/>
        </p:spPr>
        <p:txBody>
          <a:bodyPr wrap="square" anchor="t" lIns="0" tIns="0" rIns="0" bIns="0">
            <a:noAutofit/>
          </a:bodyPr>
          <a:lstStyle/>
          <a:p>
            <a:pPr algn="l"/>
            <a:r>
              <a:rPr sz="1300" b="1" i="0">
                <a:solidFill>
                  <a:srgbClr val="E8601C"/>
                </a:solidFill>
                <a:latin typeface="Inter"/>
              </a:rPr>
              <a:t>Financials</a:t>
            </a:r>
          </a:p>
        </p:txBody>
      </p:sp>
      <p:cxnSp>
        <p:nvCxnSpPr>
          <p:cNvPr id="29" name="Col 2: rule"/>
          <p:cNvCxnSpPr/>
          <p:nvPr/>
        </p:nvCxnSpPr>
        <p:spPr>
          <a:xfrm>
            <a:off x="8066836" y="1810512"/>
            <a:ext cx="34847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30" name="Col 2 item 0: value"/>
          <p:cNvSpPr txBox="1"/>
          <p:nvPr/>
        </p:nvSpPr>
        <p:spPr>
          <a:xfrm>
            <a:off x="8066836" y="1901952"/>
            <a:ext cx="3484778" cy="438912"/>
          </a:xfrm>
          <a:prstGeom prst="rect">
            <a:avLst/>
          </a:prstGeom>
          <a:noFill/>
        </p:spPr>
        <p:txBody>
          <a:bodyPr wrap="square" anchor="ctr" lIns="0" tIns="0" rIns="0" bIns="0">
            <a:noAutofit/>
          </a:bodyPr>
          <a:lstStyle/>
          <a:p>
            <a:pPr algn="l"/>
            <a:r>
              <a:rPr sz="2400" b="1" i="0">
                <a:solidFill>
                  <a:srgbClr val="1D1D1F"/>
                </a:solidFill>
                <a:latin typeface="Inter"/>
              </a:rPr>
              <a:t>$42–$332</a:t>
            </a:r>
          </a:p>
        </p:txBody>
      </p:sp>
      <p:sp>
        <p:nvSpPr>
          <p:cNvPr id="31" name="Col 2 item 0: caption"/>
          <p:cNvSpPr txBox="1"/>
          <p:nvPr/>
        </p:nvSpPr>
        <p:spPr>
          <a:xfrm>
            <a:off x="8066836" y="23408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fixed costs a day (data licence + VPS; central $167)</a:t>
            </a:r>
          </a:p>
        </p:txBody>
      </p:sp>
      <p:sp>
        <p:nvSpPr>
          <p:cNvPr id="32" name="Col 2 item 1: value"/>
          <p:cNvSpPr txBox="1"/>
          <p:nvPr/>
        </p:nvSpPr>
        <p:spPr>
          <a:xfrm>
            <a:off x="8066836" y="2816352"/>
            <a:ext cx="3484778" cy="438912"/>
          </a:xfrm>
          <a:prstGeom prst="rect">
            <a:avLst/>
          </a:prstGeom>
          <a:noFill/>
        </p:spPr>
        <p:txBody>
          <a:bodyPr wrap="square" anchor="ctr" lIns="0" tIns="0" rIns="0" bIns="0">
            <a:noAutofit/>
          </a:bodyPr>
          <a:lstStyle/>
          <a:p>
            <a:pPr algn="l"/>
            <a:r>
              <a:rPr sz="2400" b="1" i="0">
                <a:solidFill>
                  <a:srgbClr val="1D1D1F"/>
                </a:solidFill>
                <a:latin typeface="Inter"/>
              </a:rPr>
              <a:t>−$75</a:t>
            </a:r>
          </a:p>
        </p:txBody>
      </p:sp>
      <p:sp>
        <p:nvSpPr>
          <p:cNvPr id="33" name="Col 2 item 1: caption"/>
          <p:cNvSpPr txBox="1"/>
          <p:nvPr/>
        </p:nvSpPr>
        <p:spPr>
          <a:xfrm>
            <a:off x="8066836" y="32552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v2 a day held out after central costs (+$29 in sample)</a:t>
            </a:r>
          </a:p>
        </p:txBody>
      </p:sp>
      <p:sp>
        <p:nvSpPr>
          <p:cNvPr id="34" name="Col 2 item 2: value"/>
          <p:cNvSpPr txBox="1"/>
          <p:nvPr/>
        </p:nvSpPr>
        <p:spPr>
          <a:xfrm>
            <a:off x="8066836" y="3730752"/>
            <a:ext cx="3484778" cy="438912"/>
          </a:xfrm>
          <a:prstGeom prst="rect">
            <a:avLst/>
          </a:prstGeom>
          <a:noFill/>
        </p:spPr>
        <p:txBody>
          <a:bodyPr wrap="square" anchor="ctr" lIns="0" tIns="0" rIns="0" bIns="0">
            <a:noAutofit/>
          </a:bodyPr>
          <a:lstStyle/>
          <a:p>
            <a:pPr algn="l"/>
            <a:r>
              <a:rPr sz="2400" b="1" i="0">
                <a:solidFill>
                  <a:srgbClr val="1D1D1F"/>
                </a:solidFill>
                <a:latin typeface="Inter"/>
              </a:rPr>
              <a:t>$1,644</a:t>
            </a:r>
          </a:p>
        </p:txBody>
      </p:sp>
      <p:sp>
        <p:nvSpPr>
          <p:cNvPr id="35" name="Col 2 item 2: caption"/>
          <p:cNvSpPr txBox="1"/>
          <p:nvPr/>
        </p:nvSpPr>
        <p:spPr>
          <a:xfrm>
            <a:off x="8066836" y="41696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most the CV book could pay for data a month at 1 s, post hoc ($55 pre-registered)</a:t>
            </a:r>
          </a:p>
        </p:txBody>
      </p:sp>
      <p:sp>
        <p:nvSpPr>
          <p:cNvPr id="36" name="Col 2 item 3: value"/>
          <p:cNvSpPr txBox="1"/>
          <p:nvPr/>
        </p:nvSpPr>
        <p:spPr>
          <a:xfrm>
            <a:off x="8066836" y="4645152"/>
            <a:ext cx="3484778" cy="438912"/>
          </a:xfrm>
          <a:prstGeom prst="rect">
            <a:avLst/>
          </a:prstGeom>
          <a:noFill/>
        </p:spPr>
        <p:txBody>
          <a:bodyPr wrap="square" anchor="ctr" lIns="0" tIns="0" rIns="0" bIns="0">
            <a:noAutofit/>
          </a:bodyPr>
          <a:lstStyle/>
          <a:p>
            <a:pPr algn="l"/>
            <a:r>
              <a:rPr sz="2400" b="1" i="0">
                <a:solidFill>
                  <a:srgbClr val="1D1D1F"/>
                </a:solidFill>
                <a:latin typeface="Inter"/>
              </a:rPr>
              <a:t>$1,250–$10,000</a:t>
            </a:r>
          </a:p>
        </p:txBody>
      </p:sp>
      <p:sp>
        <p:nvSpPr>
          <p:cNvPr id="37" name="Col 2 item 3: caption"/>
          <p:cNvSpPr txBox="1"/>
          <p:nvPr/>
        </p:nvSpPr>
        <p:spPr>
          <a:xfrm>
            <a:off x="8066836" y="50840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feed-licence quotes a month</a:t>
            </a:r>
          </a:p>
        </p:txBody>
      </p:sp>
      <p:sp>
        <p:nvSpPr>
          <p:cNvPr id="38" name="Verdict card"/>
          <p:cNvSpPr/>
          <p:nvPr/>
        </p:nvSpPr>
        <p:spPr>
          <a:xfrm>
            <a:off x="640080" y="5687568"/>
            <a:ext cx="10911535" cy="566928"/>
          </a:xfrm>
          <a:prstGeom prst="roundRect">
            <a:avLst>
              <a:gd name="adj" fmla="val 12903"/>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Verdict"/>
          <p:cNvSpPr txBox="1"/>
          <p:nvPr/>
        </p:nvSpPr>
        <p:spPr>
          <a:xfrm>
            <a:off x="914400" y="5687568"/>
            <a:ext cx="10362895" cy="566928"/>
          </a:xfrm>
          <a:prstGeom prst="rect">
            <a:avLst/>
          </a:prstGeom>
          <a:noFill/>
        </p:spPr>
        <p:txBody>
          <a:bodyPr wrap="square" anchor="ctr" lIns="0" tIns="0" rIns="0" bIns="0">
            <a:noAutofit/>
          </a:bodyPr>
          <a:lstStyle/>
          <a:p>
            <a:pPr algn="l"/>
            <a:r>
              <a:rPr sz="1400" b="1" i="0">
                <a:solidFill>
                  <a:srgbClr val="FFFFFF"/>
                </a:solidFill>
                <a:latin typeface="Inter"/>
              </a:rPr>
              <a:t>At today's 5% fee COURTSIDE prices speed; it is not yet a business. </a:t>
            </a:r>
            <a:r>
              <a:rPr sz="1200" b="0" i="0">
                <a:solidFill>
                  <a:srgbClr val="A1A1A6"/>
                </a:solidFill>
                <a:latin typeface="Inter"/>
              </a:rPr>
              <a:t>Our size: 0.22% of in-play volume but 9% of the fast tier's first 3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FFFFFF"/>
                </a:solidFill>
                <a:latin typeface="Inter"/>
              </a:rPr>
              <a:t>One licensed-feed session decides it</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10</a:t>
            </a:r>
            <a:r>
              <a:rPr sz="1050" b="1" i="0" spc="150">
                <a:solidFill>
                  <a:srgbClr val="A1A1A6"/>
                </a:solidFill>
                <a:latin typeface="Inter"/>
              </a:rPr>
              <a:t>   WHAT IT TAKES TO DEPLOY</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A1A1A6"/>
                </a:solidFill>
                <a:latin typeface="Inter"/>
              </a:rPr>
              <a:t>no licensed feed, match video or court access today</a:t>
            </a:r>
          </a:p>
        </p:txBody>
      </p:sp>
      <p:cxnSp>
        <p:nvCxnSpPr>
          <p:cNvPr id="5" name="Footer rule"/>
          <p:cNvCxnSpPr/>
          <p:nvPr/>
        </p:nvCxnSpPr>
        <p:spPr>
          <a:xfrm>
            <a:off x="640080" y="6419088"/>
            <a:ext cx="10911535" cy="0"/>
          </a:xfrm>
          <a:prstGeom prst="line">
            <a:avLst/>
          </a:prstGeom>
          <a:ln w="6350">
            <a:solidFill>
              <a:srgbClr val="2C2C2E"/>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A1A1A6"/>
                </a:solidFill>
                <a:latin typeface="Inter"/>
              </a:rPr>
              <a:t>COURTSIDE</a:t>
            </a:r>
            <a:r>
              <a:rPr sz="900" b="0" i="0">
                <a:solidFill>
                  <a:srgbClr val="A1A1A6"/>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A1A1A6"/>
                </a:solidFill>
                <a:latin typeface="Inter"/>
              </a:rPr>
              <a:t>10</a:t>
            </a:r>
          </a:p>
        </p:txBody>
      </p:sp>
      <p:sp>
        <p:nvSpPr>
          <p:cNvPr id="8" name="Step 1: number"/>
          <p:cNvSpPr txBox="1"/>
          <p:nvPr/>
        </p:nvSpPr>
        <p:spPr>
          <a:xfrm>
            <a:off x="640080" y="1600200"/>
            <a:ext cx="548640" cy="457200"/>
          </a:xfrm>
          <a:prstGeom prst="rect">
            <a:avLst/>
          </a:prstGeom>
          <a:noFill/>
        </p:spPr>
        <p:txBody>
          <a:bodyPr wrap="square" anchor="t" lIns="0" tIns="0" rIns="0" bIns="0">
            <a:noAutofit/>
          </a:bodyPr>
          <a:lstStyle/>
          <a:p>
            <a:pPr algn="l"/>
            <a:r>
              <a:rPr sz="2600" b="1" i="0">
                <a:solidFill>
                  <a:srgbClr val="E8601C"/>
                </a:solidFill>
                <a:latin typeface="Inter"/>
              </a:rPr>
              <a:t>1</a:t>
            </a:r>
          </a:p>
        </p:txBody>
      </p:sp>
      <p:sp>
        <p:nvSpPr>
          <p:cNvPr id="9" name="Step 1: head"/>
          <p:cNvSpPr txBox="1"/>
          <p:nvPr/>
        </p:nvSpPr>
        <p:spPr>
          <a:xfrm>
            <a:off x="1188719" y="1618488"/>
            <a:ext cx="6035040" cy="365760"/>
          </a:xfrm>
          <a:prstGeom prst="rect">
            <a:avLst/>
          </a:prstGeom>
          <a:noFill/>
        </p:spPr>
        <p:txBody>
          <a:bodyPr wrap="square" anchor="t" lIns="0" tIns="0" rIns="0" bIns="0">
            <a:noAutofit/>
          </a:bodyPr>
          <a:lstStyle/>
          <a:p>
            <a:pPr algn="l"/>
            <a:r>
              <a:rPr sz="1900" b="1" i="0">
                <a:solidFill>
                  <a:srgbClr val="FFFFFF"/>
                </a:solidFill>
                <a:latin typeface="Inter"/>
              </a:rPr>
              <a:t>License a low-latency feed</a:t>
            </a:r>
          </a:p>
        </p:txBody>
      </p:sp>
      <p:sp>
        <p:nvSpPr>
          <p:cNvPr id="10" name="Step 1: body"/>
          <p:cNvSpPr txBox="1"/>
          <p:nvPr/>
        </p:nvSpPr>
        <p:spPr>
          <a:xfrm>
            <a:off x="1188719" y="1993392"/>
            <a:ext cx="6035040" cy="502920"/>
          </a:xfrm>
          <a:prstGeom prst="rect">
            <a:avLst/>
          </a:prstGeom>
          <a:noFill/>
        </p:spPr>
        <p:txBody>
          <a:bodyPr wrap="square" anchor="t" lIns="0" tIns="0" rIns="0" bIns="0">
            <a:noAutofit/>
          </a:bodyPr>
          <a:lstStyle/>
          <a:p>
            <a:pPr algn="l">
              <a:lnSpc>
                <a:spcPct val="110000"/>
              </a:lnSpc>
            </a:pPr>
            <a:r>
              <a:rPr sz="1250" b="0" i="0">
                <a:solidFill>
                  <a:srgbClr val="A1A1A6"/>
                </a:solidFill>
                <a:latin typeface="Inter"/>
              </a:rPr>
              <a:t>vendors state 0.5–8 s for betting video, sold to licensed sportsbooks; Polymarket itself buys official data</a:t>
            </a:r>
          </a:p>
        </p:txBody>
      </p:sp>
      <p:sp>
        <p:nvSpPr>
          <p:cNvPr id="11" name="Step 2: number"/>
          <p:cNvSpPr txBox="1"/>
          <p:nvPr/>
        </p:nvSpPr>
        <p:spPr>
          <a:xfrm>
            <a:off x="640080" y="2679191"/>
            <a:ext cx="548640" cy="457200"/>
          </a:xfrm>
          <a:prstGeom prst="rect">
            <a:avLst/>
          </a:prstGeom>
          <a:noFill/>
        </p:spPr>
        <p:txBody>
          <a:bodyPr wrap="square" anchor="t" lIns="0" tIns="0" rIns="0" bIns="0">
            <a:noAutofit/>
          </a:bodyPr>
          <a:lstStyle/>
          <a:p>
            <a:pPr algn="l"/>
            <a:r>
              <a:rPr sz="2600" b="1" i="0">
                <a:solidFill>
                  <a:srgbClr val="E8601C"/>
                </a:solidFill>
                <a:latin typeface="Inter"/>
              </a:rPr>
              <a:t>2</a:t>
            </a:r>
          </a:p>
        </p:txBody>
      </p:sp>
      <p:sp>
        <p:nvSpPr>
          <p:cNvPr id="12" name="Step 2: head"/>
          <p:cNvSpPr txBox="1"/>
          <p:nvPr/>
        </p:nvSpPr>
        <p:spPr>
          <a:xfrm>
            <a:off x="1188719" y="2697479"/>
            <a:ext cx="6035040" cy="365760"/>
          </a:xfrm>
          <a:prstGeom prst="rect">
            <a:avLst/>
          </a:prstGeom>
          <a:noFill/>
        </p:spPr>
        <p:txBody>
          <a:bodyPr wrap="square" anchor="t" lIns="0" tIns="0" rIns="0" bIns="0">
            <a:noAutofit/>
          </a:bodyPr>
          <a:lstStyle/>
          <a:p>
            <a:pPr algn="l"/>
            <a:r>
              <a:rPr sz="1900" b="1" i="0">
                <a:solidFill>
                  <a:srgbClr val="FFFFFF"/>
                </a:solidFill>
                <a:latin typeface="Inter"/>
              </a:rPr>
              <a:t>Measure the umpire's stamp lag</a:t>
            </a:r>
          </a:p>
        </p:txBody>
      </p:sp>
      <p:sp>
        <p:nvSpPr>
          <p:cNvPr id="13" name="Step 2: body"/>
          <p:cNvSpPr txBox="1"/>
          <p:nvPr/>
        </p:nvSpPr>
        <p:spPr>
          <a:xfrm>
            <a:off x="1188719" y="3072384"/>
            <a:ext cx="6035040" cy="502920"/>
          </a:xfrm>
          <a:prstGeom prst="rect">
            <a:avLst/>
          </a:prstGeom>
          <a:noFill/>
        </p:spPr>
        <p:txBody>
          <a:bodyPr wrap="square" anchor="t" lIns="0" tIns="0" rIns="0" bIns="0">
            <a:noAutofit/>
          </a:bodyPr>
          <a:lstStyle/>
          <a:p>
            <a:pPr algn="l">
              <a:lnSpc>
                <a:spcPct val="110000"/>
              </a:lnSpc>
            </a:pPr>
            <a:r>
              <a:rPr sz="1250" b="0" i="0">
                <a:solidFill>
                  <a:srgbClr val="A1A1A6"/>
                </a:solidFill>
                <a:latin typeface="Inter"/>
              </a:rPr>
              <a:t>one session with test orders: the number that sets the sign; the break-even moves one for one with it</a:t>
            </a:r>
          </a:p>
        </p:txBody>
      </p:sp>
      <p:sp>
        <p:nvSpPr>
          <p:cNvPr id="14" name="Step 3: number"/>
          <p:cNvSpPr txBox="1"/>
          <p:nvPr/>
        </p:nvSpPr>
        <p:spPr>
          <a:xfrm>
            <a:off x="640080" y="3758183"/>
            <a:ext cx="548640" cy="457200"/>
          </a:xfrm>
          <a:prstGeom prst="rect">
            <a:avLst/>
          </a:prstGeom>
          <a:noFill/>
        </p:spPr>
        <p:txBody>
          <a:bodyPr wrap="square" anchor="t" lIns="0" tIns="0" rIns="0" bIns="0">
            <a:noAutofit/>
          </a:bodyPr>
          <a:lstStyle/>
          <a:p>
            <a:pPr algn="l"/>
            <a:r>
              <a:rPr sz="2600" b="1" i="0">
                <a:solidFill>
                  <a:srgbClr val="E8601C"/>
                </a:solidFill>
                <a:latin typeface="Inter"/>
              </a:rPr>
              <a:t>3</a:t>
            </a:r>
          </a:p>
        </p:txBody>
      </p:sp>
      <p:sp>
        <p:nvSpPr>
          <p:cNvPr id="15" name="Step 3: head"/>
          <p:cNvSpPr txBox="1"/>
          <p:nvPr/>
        </p:nvSpPr>
        <p:spPr>
          <a:xfrm>
            <a:off x="1188719" y="3776471"/>
            <a:ext cx="6035040" cy="365760"/>
          </a:xfrm>
          <a:prstGeom prst="rect">
            <a:avLst/>
          </a:prstGeom>
          <a:noFill/>
        </p:spPr>
        <p:txBody>
          <a:bodyPr wrap="square" anchor="t" lIns="0" tIns="0" rIns="0" bIns="0">
            <a:noAutofit/>
          </a:bodyPr>
          <a:lstStyle/>
          <a:p>
            <a:pPr algn="l"/>
            <a:r>
              <a:rPr sz="1900" b="1" i="0">
                <a:solidFill>
                  <a:srgbClr val="FFFFFF"/>
                </a:solidFill>
                <a:latin typeface="Inter"/>
              </a:rPr>
              <a:t>Trade from London</a:t>
            </a:r>
          </a:p>
        </p:txBody>
      </p:sp>
      <p:sp>
        <p:nvSpPr>
          <p:cNvPr id="16" name="Step 3: body"/>
          <p:cNvSpPr txBox="1"/>
          <p:nvPr/>
        </p:nvSpPr>
        <p:spPr>
          <a:xfrm>
            <a:off x="1188719" y="4151375"/>
            <a:ext cx="6035040" cy="502920"/>
          </a:xfrm>
          <a:prstGeom prst="rect">
            <a:avLst/>
          </a:prstGeom>
          <a:noFill/>
        </p:spPr>
        <p:txBody>
          <a:bodyPr wrap="square" anchor="t" lIns="0" tIns="0" rIns="0" bIns="0">
            <a:noAutofit/>
          </a:bodyPr>
          <a:lstStyle/>
          <a:p>
            <a:pPr algn="l">
              <a:lnSpc>
                <a:spcPct val="110000"/>
              </a:lnSpc>
            </a:pPr>
            <a:r>
              <a:rPr sz="1250" b="0" i="0">
                <a:solidFill>
                  <a:srgbClr val="A1A1A6"/>
                </a:solidFill>
                <a:latin typeface="Inter"/>
              </a:rPr>
              <a:t>2 ms to the venue, vs 67 ms from Florida</a:t>
            </a:r>
          </a:p>
        </p:txBody>
      </p:sp>
      <p:sp>
        <p:nvSpPr>
          <p:cNvPr id="17" name="Step 4: number"/>
          <p:cNvSpPr txBox="1"/>
          <p:nvPr/>
        </p:nvSpPr>
        <p:spPr>
          <a:xfrm>
            <a:off x="640080" y="4837175"/>
            <a:ext cx="548640" cy="457200"/>
          </a:xfrm>
          <a:prstGeom prst="rect">
            <a:avLst/>
          </a:prstGeom>
          <a:noFill/>
        </p:spPr>
        <p:txBody>
          <a:bodyPr wrap="square" anchor="t" lIns="0" tIns="0" rIns="0" bIns="0">
            <a:noAutofit/>
          </a:bodyPr>
          <a:lstStyle/>
          <a:p>
            <a:pPr algn="l"/>
            <a:r>
              <a:rPr sz="2600" b="1" i="0">
                <a:solidFill>
                  <a:srgbClr val="E8601C"/>
                </a:solidFill>
                <a:latin typeface="Inter"/>
              </a:rPr>
              <a:t>4</a:t>
            </a:r>
          </a:p>
        </p:txBody>
      </p:sp>
      <p:sp>
        <p:nvSpPr>
          <p:cNvPr id="18" name="Step 4: head"/>
          <p:cNvSpPr txBox="1"/>
          <p:nvPr/>
        </p:nvSpPr>
        <p:spPr>
          <a:xfrm>
            <a:off x="1188719" y="4855463"/>
            <a:ext cx="6035040" cy="365760"/>
          </a:xfrm>
          <a:prstGeom prst="rect">
            <a:avLst/>
          </a:prstGeom>
          <a:noFill/>
        </p:spPr>
        <p:txBody>
          <a:bodyPr wrap="square" anchor="t" lIns="0" tIns="0" rIns="0" bIns="0">
            <a:noAutofit/>
          </a:bodyPr>
          <a:lstStyle/>
          <a:p>
            <a:pPr algn="l"/>
            <a:r>
              <a:rPr sz="1900" b="1" i="0">
                <a:solidFill>
                  <a:srgbClr val="FFFFFF"/>
                </a:solidFill>
                <a:latin typeface="Inter"/>
              </a:rPr>
              <a:t>Permitted venue, legal review</a:t>
            </a:r>
          </a:p>
        </p:txBody>
      </p:sp>
      <p:sp>
        <p:nvSpPr>
          <p:cNvPr id="19" name="Step 4: body"/>
          <p:cNvSpPr txBox="1"/>
          <p:nvPr/>
        </p:nvSpPr>
        <p:spPr>
          <a:xfrm>
            <a:off x="1188719" y="5230367"/>
            <a:ext cx="6035040" cy="502920"/>
          </a:xfrm>
          <a:prstGeom prst="rect">
            <a:avLst/>
          </a:prstGeom>
          <a:noFill/>
        </p:spPr>
        <p:txBody>
          <a:bodyPr wrap="square" anchor="t" lIns="0" tIns="0" rIns="0" bIns="0">
            <a:noAutofit/>
          </a:bodyPr>
          <a:lstStyle/>
          <a:p>
            <a:pPr algn="l">
              <a:lnSpc>
                <a:spcPct val="110000"/>
              </a:lnSpc>
            </a:pPr>
            <a:r>
              <a:rPr sz="1250" b="0" i="0">
                <a:solidFill>
                  <a:srgbClr val="A1A1A6"/>
                </a:solidFill>
                <a:latin typeface="Inter"/>
              </a:rPr>
              <a:t>until then: paper only, no funded account, no courtsiding</a:t>
            </a:r>
          </a:p>
        </p:txBody>
      </p:sp>
      <p:sp>
        <p:nvSpPr>
          <p:cNvPr id="20" name="Repo card"/>
          <p:cNvSpPr/>
          <p:nvPr/>
        </p:nvSpPr>
        <p:spPr>
          <a:xfrm>
            <a:off x="7315200" y="1600200"/>
            <a:ext cx="4236415" cy="3429000"/>
          </a:xfrm>
          <a:prstGeom prst="roundRect">
            <a:avLst>
              <a:gd name="adj" fmla="val 3200"/>
            </a:avLst>
          </a:prstGeom>
          <a:solidFill>
            <a:srgbClr val="161618"/>
          </a:solidFill>
          <a:ln w="9525">
            <a:solidFill>
              <a:srgbClr val="2C2C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po"/>
          <p:cNvSpPr txBox="1"/>
          <p:nvPr/>
        </p:nvSpPr>
        <p:spPr>
          <a:xfrm>
            <a:off x="7589520" y="1737360"/>
            <a:ext cx="3687775" cy="3246120"/>
          </a:xfrm>
          <a:prstGeom prst="rect">
            <a:avLst/>
          </a:prstGeom>
          <a:noFill/>
        </p:spPr>
        <p:txBody>
          <a:bodyPr wrap="square" anchor="t" lIns="0" tIns="0" rIns="0" bIns="0">
            <a:noAutofit/>
          </a:bodyPr>
          <a:lstStyle/>
          <a:p>
            <a:pPr algn="l">
              <a:spcAft>
                <a:spcPts val="600"/>
              </a:spcAft>
            </a:pPr>
            <a:r>
              <a:rPr sz="1300" b="1" i="0">
                <a:solidFill>
                  <a:srgbClr val="E8601C"/>
                </a:solidFill>
                <a:latin typeface="Inter"/>
              </a:rPr>
              <a:t>Reproduce it</a:t>
            </a:r>
          </a:p>
          <a:p>
            <a:pPr algn="l"/>
            <a:r>
              <a:rPr sz="1000" b="0" i="0">
                <a:solidFill>
                  <a:srgbClr val="FFFFFF"/>
                </a:solidFill>
                <a:latin typeface="Menlo"/>
              </a:rPr>
              <a:t>github.com/OjasMishra32/</a:t>
            </a:r>
          </a:p>
          <a:p>
            <a:pPr algn="l">
              <a:spcAft>
                <a:spcPts val="1000"/>
              </a:spcAft>
            </a:pPr>
            <a:r>
              <a:rPr sz="850" b="0" i="0">
                <a:solidFill>
                  <a:srgbClr val="FFFFFF"/>
                </a:solidFill>
                <a:latin typeface="Menlo"/>
              </a:rPr>
              <a:t>computervisionpredictivetabletennismoneymachineouuushiii</a:t>
            </a:r>
          </a:p>
          <a:p>
            <a:pPr algn="l">
              <a:spcAft>
                <a:spcPts val="400"/>
              </a:spcAft>
            </a:pPr>
            <a:r>
              <a:rPr sz="1300" b="1" i="0">
                <a:solidFill>
                  <a:srgbClr val="FFFFFF"/>
                </a:solidFill>
                <a:latin typeface="Menlo"/>
              </a:rPr>
              <a:t>bash run.sh setup &amp;&amp; bash run.sh replay</a:t>
            </a:r>
          </a:p>
          <a:p>
            <a:pPr algn="l">
              <a:spcAft>
                <a:spcPts val="1000"/>
              </a:spcAft>
            </a:pPr>
            <a:r>
              <a:rPr sz="1100" b="0" i="0">
                <a:solidFill>
                  <a:srgbClr val="A1A1A6"/>
                </a:solidFill>
                <a:latin typeface="Inter"/>
              </a:rPr>
              <a:t>recorded live books through the paper trader, ~15 s, no network</a:t>
            </a:r>
          </a:p>
          <a:p>
            <a:pPr algn="l">
              <a:spcAft>
                <a:spcPts val="400"/>
              </a:spcAft>
            </a:pPr>
            <a:r>
              <a:rPr sz="1200" b="0" i="0">
                <a:solidFill>
                  <a:srgbClr val="FFFFFF"/>
                </a:solidFill>
                <a:latin typeface="Menlo"/>
              </a:rPr>
              <a:t>bash run.sh data &amp;&amp; bash run.sh reproduce</a:t>
            </a:r>
          </a:p>
          <a:p>
            <a:pPr algn="l">
              <a:spcAft>
                <a:spcPts val="1000"/>
              </a:spcAft>
            </a:pPr>
            <a:r>
              <a:rPr sz="1100" b="0" i="0">
                <a:solidFill>
                  <a:srgbClr val="A1A1A6"/>
                </a:solidFill>
                <a:latin typeface="Inter"/>
              </a:rPr>
              <a:t>every number in the paper, from public Polymarket data</a:t>
            </a:r>
          </a:p>
          <a:p>
            <a:pPr algn="l">
              <a:spcAft>
                <a:spcPts val="400"/>
              </a:spcAft>
            </a:pPr>
            <a:r>
              <a:rPr sz="1200" b="0" i="0">
                <a:solidFill>
                  <a:srgbClr val="FFFFFF"/>
                </a:solidFill>
                <a:latin typeface="Menlo"/>
              </a:rPr>
              <a:t>bash run.sh money</a:t>
            </a:r>
          </a:p>
          <a:p>
            <a:pPr algn="l"/>
            <a:r>
              <a:rPr sz="1100" b="0" i="0">
                <a:solidFill>
                  <a:srgbClr val="A1A1A6"/>
                </a:solidFill>
                <a:latin typeface="Inter"/>
              </a:rPr>
              <a:t>the money counter on slide 7</a:t>
            </a:r>
          </a:p>
        </p:txBody>
      </p:sp>
      <p:sp>
        <p:nvSpPr>
          <p:cNvPr id="22" name="Close label"/>
          <p:cNvSpPr txBox="1"/>
          <p:nvPr/>
        </p:nvSpPr>
        <p:spPr>
          <a:xfrm>
            <a:off x="7315200" y="5120640"/>
            <a:ext cx="4236415" cy="1097280"/>
          </a:xfrm>
          <a:prstGeom prst="rect">
            <a:avLst/>
          </a:prstGeom>
          <a:noFill/>
        </p:spPr>
        <p:txBody>
          <a:bodyPr wrap="square" anchor="t" lIns="0" tIns="0" rIns="0" bIns="0">
            <a:noAutofit/>
          </a:bodyPr>
          <a:lstStyle/>
          <a:p>
            <a:pPr algn="l">
              <a:lnSpc>
                <a:spcPct val="110000"/>
              </a:lnSpc>
            </a:pPr>
            <a:r>
              <a:rPr sz="1050" b="0" i="0">
                <a:solidFill>
                  <a:srgbClr val="A1A1A6"/>
                </a:solidFill>
                <a:latin typeface="Inter"/>
              </a:rPr>
              <a:t>Paper trading only. CV strategy simulated at an assumed feed latency (licensed feed not purchased). Footage: OpenTTGames, CC BY-NC-SA 4.0; tennis rally: “Tennis Players Playing Match” by Gelato Prod, Pexels (Pexels License). Video voice: AI (ElevenLabs).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Can you really trade inside 3 s, frame to order?</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Q1</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11</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Yes: 2,119 ms with a simulated 1 s feed, 881 ms under the 3 s bar, every one of 24 traces.</a:t>
            </a:r>
          </a:p>
          <a:p>
            <a:pPr algn="l">
              <a:lnSpc>
                <a:spcPct val="112000"/>
              </a:lnSpc>
              <a:spcAft>
                <a:spcPts val="1200"/>
              </a:spcAft>
            </a:pPr>
            <a:r>
              <a:rPr sz="1600" b="0" i="0">
                <a:solidFill>
                  <a:srgbClr val="6E6E73"/>
                </a:solidFill>
                <a:latin typeface="Inter"/>
              </a:rPr>
              <a:t>Our part is 54 ms on a laptop (vision 4.6 ms p50 per frame on an L4 GPU at 119.9 fps, 6.9 ms per emitted call as in the video; 0 of 102,120 frames dropped). WebRTC frame to call: 46 ms p50, 67 ms p99. Network: 67 ms from Florida, 2 ms from London; then the venue holds every taker order 1 s.</a:t>
            </a:r>
          </a:p>
          <a:p>
            <a:pPr algn="l">
              <a:lnSpc>
                <a:spcPct val="112000"/>
              </a:lnSpc>
              <a:spcAft>
                <a:spcPts val="1200"/>
              </a:spcAft>
            </a:pPr>
            <a:r>
              <a:rPr sz="1600" b="0" i="0">
                <a:solidFill>
                  <a:srgbClr val="6E6E73"/>
                </a:solidFill>
                <a:latin typeface="Inter"/>
              </a:rPr>
              <a:t>Under 3 s is necessary, not sufficient: pre-registered, the call must reach the venue 0.89 s before the umpire's stamp, and every reading loses by a 3 s feed. Orders sent: 0 (unsigned, timing probes; table-tennis calls mapped onto a tennis market for timing only).</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results/e2e/summary.json; results/engine/online_vs_offline.json; results/webrtc/latency.json; paper Fig.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How much capital can this run?</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Q2</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12</a:t>
            </a:r>
          </a:p>
        </p:txBody>
      </p:sp>
      <p:sp>
        <p:nvSpPr>
          <p:cNvPr id="8" name="Answer"/>
          <p:cNvSpPr txBox="1"/>
          <p:nvPr/>
        </p:nvSpPr>
        <p:spPr>
          <a:xfrm>
            <a:off x="640080" y="1600200"/>
            <a:ext cx="6309360"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Not much. v2's held-out edge holds only at 1× size ($22,754, +0.60¢ [0.09, 1.13]); 2× spans zero (+0.34¢) and 5× loses (−$25 a day).</a:t>
            </a:r>
          </a:p>
          <a:p>
            <a:pPr algn="l">
              <a:lnSpc>
                <a:spcPct val="112000"/>
              </a:lnSpc>
              <a:spcAft>
                <a:spcPts val="1200"/>
              </a:spcAft>
            </a:pPr>
            <a:r>
              <a:rPr sz="1600" b="0" i="0">
                <a:solidFill>
                  <a:srgbClr val="6E6E73"/>
                </a:solidFill>
                <a:latin typeface="Inter"/>
              </a:rPr>
              <a:t>CV book, pre-registered: Sharpe 2.7 · 0.8 at its smallest size, so no capacity. Post hoc: Sharpe halves at $40,000 held out ($73,000 in sample); $/day peaks at $177 on $83,000 (Sharpe 1.3).</a:t>
            </a:r>
          </a:p>
          <a:p>
            <a:pPr algn="l">
              <a:lnSpc>
                <a:spcPct val="112000"/>
              </a:lnSpc>
              <a:spcAft>
                <a:spcPts val="1200"/>
              </a:spcAft>
            </a:pPr>
            <a:r>
              <a:rPr sz="1600" b="0" i="0">
                <a:solidFill>
                  <a:srgbClr val="6E6E73"/>
                </a:solidFill>
                <a:latin typeface="Inter"/>
              </a:rPr>
              <a:t>The binding limit is the stale depth on each point: we would be 0.22% of in-play volume but 9% of the fast tier's first 3 s.</a:t>
            </a:r>
          </a:p>
        </p:txBody>
      </p:sp>
      <p:pic>
        <p:nvPicPr>
          <p:cNvPr id="9" name="Fig: results/paper/v2/figA8_capacity.png" descr="figA8_capacity.png"/>
          <p:cNvPicPr>
            <a:picLocks noChangeAspect="1"/>
          </p:cNvPicPr>
          <p:nvPr/>
        </p:nvPicPr>
        <p:blipFill>
          <a:blip r:embed="rId2"/>
          <a:stretch>
            <a:fillRect/>
          </a:stretch>
        </p:blipFill>
        <p:spPr>
          <a:xfrm>
            <a:off x="7223760" y="2846182"/>
            <a:ext cx="4327855" cy="1531394"/>
          </a:xfrm>
          <a:prstGeom prst="rect">
            <a:avLst/>
          </a:prstGeom>
        </p:spPr>
      </p:pic>
      <p:sp>
        <p:nvSpPr>
          <p:cNvPr id="10"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results/capacity/capacity.json; results/alpha/alpha.json::H_capacity; paper Section 7, Fig. A4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Where does a sub-second tennis feed come from?</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Q3</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13</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Today, nowhere we can reach, and we say so. We bought no feed and have no match video.</a:t>
            </a:r>
          </a:p>
          <a:p>
            <a:pPr algn="l">
              <a:lnSpc>
                <a:spcPct val="112000"/>
              </a:lnSpc>
              <a:spcAft>
                <a:spcPts val="1200"/>
              </a:spcAft>
            </a:pPr>
            <a:r>
              <a:rPr sz="1600" b="0" i="0">
                <a:solidFill>
                  <a:srgbClr val="6E6E73"/>
                </a:solidFill>
                <a:latin typeface="Inter"/>
              </a:rPr>
              <a:t>The fastest public stream we measured is 12.2 s behind; public score feeds 28.2–44.1 s. Licensed betting video is vendor-stated at 0.5–8 s (none for tennis) and is sold to licensed sportsbooks. A spectator camera breaches ITF rules and ticket terms.</a:t>
            </a:r>
          </a:p>
          <a:p>
            <a:pPr algn="l">
              <a:lnSpc>
                <a:spcPct val="112000"/>
              </a:lnSpc>
              <a:spcAft>
                <a:spcPts val="1200"/>
              </a:spcAft>
            </a:pPr>
            <a:r>
              <a:rPr sz="1600" b="0" i="0">
                <a:solidFill>
                  <a:srgbClr val="6E6E73"/>
                </a:solidFill>
                <a:latin typeface="Inter"/>
              </a:rPr>
              <a:t>A venue-side route exists: Polymarket already buys official data. The deck's numbers at 0.5, 1 and 3 s are scenarios, not a feed we have.</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results/home_stream/sub_second_routes.json; results/tier0/latency_sweep.json::sources; paper Fig. A3a, Appendix 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Trading only points that later moved ≥4¢: look-ahead?</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Q4</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14</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Yes for the sweep's trade set, and we label it: selected on outcomes, not ex ante. It prices speed given a point worth trading; it is not yet a deployable rule.</a:t>
            </a:r>
          </a:p>
          <a:p>
            <a:pPr algn="l">
              <a:lnSpc>
                <a:spcPct val="112000"/>
              </a:lnSpc>
              <a:spcAft>
                <a:spcPts val="1200"/>
              </a:spcAft>
            </a:pPr>
            <a:r>
              <a:rPr sz="1600" b="0" i="0">
                <a:solidFill>
                  <a:srgbClr val="6E6E73"/>
                </a:solidFill>
                <a:latin typeface="Inter"/>
              </a:rPr>
              <a:t>The ex-ante test is the replay on 9 real books recorded 2026-10-03, calling every point: −0.94¢ [−1.28, −0.58] at a 1 s feed; 36 of 36 settings lose. An ex-ante Markov swing filter (exploratory): −0.95¢ [−1.64, −0.40].</a:t>
            </a:r>
          </a:p>
          <a:p>
            <a:pPr algn="l">
              <a:lnSpc>
                <a:spcPct val="112000"/>
              </a:lnSpc>
              <a:spcAft>
                <a:spcPts val="1200"/>
              </a:spcAft>
            </a:pPr>
            <a:r>
              <a:rPr sz="1600" b="0" i="0">
                <a:solidFill>
                  <a:srgbClr val="6E6E73"/>
                </a:solidFill>
                <a:latin typeface="Inter"/>
              </a:rPr>
              <a:t>Widening the sweep to all 482 points: +0.25 [−0.35, 0.86]¢ held out at a zero-delay feed.</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results/replay/replay.json; research/v2/tier0/RESULTS.md §8; paper Table A1, Fig. A2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Isn't the 3.14 s stamp lag tuning on the held-out window?</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Q5</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15</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The pre-registered reading (L = 2.0 s) is our result: break-even at a 1.0–1.1 s feed, +$4 a day held out, −0.38¢ [−2.08, 1.21].</a:t>
            </a:r>
          </a:p>
          <a:p>
            <a:pPr algn="l">
              <a:lnSpc>
                <a:spcPct val="112000"/>
              </a:lnSpc>
              <a:spcAft>
                <a:spcPts val="1200"/>
              </a:spcAft>
            </a:pPr>
            <a:r>
              <a:rPr sz="1600" b="0" i="0">
                <a:solidFill>
                  <a:srgbClr val="6E6E73"/>
                </a:solidFill>
                <a:latin typeface="Inter"/>
              </a:rPr>
              <a:t>3.14 s is a one-day inference from fast-tier prints (95% CI 2.23–3.22 s; it assumes courtside humans). Showing it as a headline was a post hoc choice and is counted as a trial. At the CI's low end the 1 s cell makes only +$8 a day held out.</a:t>
            </a:r>
          </a:p>
          <a:p>
            <a:pPr algn="l">
              <a:lnSpc>
                <a:spcPct val="112000"/>
              </a:lnSpc>
              <a:spcAft>
                <a:spcPts val="1200"/>
              </a:spcAft>
            </a:pPr>
            <a:r>
              <a:rPr sz="1600" b="0" i="0">
                <a:solidFill>
                  <a:srgbClr val="6E6E73"/>
                </a:solidFill>
                <a:latin typeface="Inter"/>
              </a:rPr>
              <a:t>Read per point, the same inference loses −$17 a day (break-even 0.29–0.34 s). The tier-0 PREREG was written 17:25 UTC, before the first P&amp;L.</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research/v2/tier0/PREREG.md; DEVIATIONS.md V3; results/redteam/stamp_lag.json; results/oos_peeks.log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The call model's offline score used look-ahead. Causally?</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Q6</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16</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The live engine is causal: on held-out games it called 4 of 41 misses early, none wrong (95% lower bound 51%), median lead 162 ms.</a:t>
            </a:r>
          </a:p>
          <a:p>
            <a:pPr algn="l">
              <a:lnSpc>
                <a:spcPct val="112000"/>
              </a:lnSpc>
              <a:spcAft>
                <a:spcPts val="1200"/>
              </a:spcAft>
            </a:pPr>
            <a:r>
              <a:rPr sz="1600" b="0" i="0">
                <a:solidFill>
                  <a:srgbClr val="6E6E73"/>
                </a:solidFill>
                <a:latin typeface="Inter"/>
              </a:rPr>
              <a:t>The offline evaluation's 11 of 11 correct calls at 50 ms used a look-ahead feature (offline only); we lead with the live numbers.</a:t>
            </a:r>
          </a:p>
          <a:p>
            <a:pPr algn="l">
              <a:lnSpc>
                <a:spcPct val="112000"/>
              </a:lnSpc>
              <a:spcAft>
                <a:spcPts val="1200"/>
              </a:spcAft>
            </a:pPr>
            <a:r>
              <a:rPr sz="1600" b="0" i="0">
                <a:solidFill>
                  <a:srgbClr val="6E6E73"/>
                </a:solidFill>
                <a:latin typeface="Inter"/>
              </a:rPr>
              <a:t>It does not drive the 1 s result: with the live engine's own calls the 1 s cells are +$17 · +$4 pre-registered and +$98 · +$57 post hoc (IS · OOS a day). With no early calls at all: +$8 · −$13. Phantom calls between rallies (~30 an hour) are a known gap: a rally-state gate is coded, not yet evaluated.</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results/engine/online_vs_offline.json; results/redteam/causal_cv.json; engine/README.md (Known gaps)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Sharpe 14.5 on daily data? Assume a bug.</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Q7</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17</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We assumed one and found one: the onset look-ahead fix cut in-sample Sharpe from 16.8 to 14.5.</a:t>
            </a:r>
          </a:p>
          <a:p>
            <a:pPr algn="l">
              <a:lnSpc>
                <a:spcPct val="112000"/>
              </a:lnSpc>
              <a:spcAft>
                <a:spcPts val="1200"/>
              </a:spcAft>
            </a:pPr>
            <a:r>
              <a:rPr sz="1600" b="0" i="0">
                <a:solidFill>
                  <a:srgbClr val="6E6E73"/>
                </a:solidFill>
                <a:latin typeface="Inter"/>
              </a:rPr>
              <a:t>What remains is about 270 small, near-independent bets a day with a 100-share net cap per match: +$196 a day on $28,302 of capital. It falls fast: +0.10¢ held out at ½ tick worse entry, −0.34¢ with fees doubled.</a:t>
            </a:r>
          </a:p>
          <a:p>
            <a:pPr algn="l">
              <a:lnSpc>
                <a:spcPct val="112000"/>
              </a:lnSpc>
              <a:spcAft>
                <a:spcPts val="1200"/>
              </a:spcAft>
            </a:pPr>
            <a:r>
              <a:rPr sz="1600" b="0" i="0">
                <a:solidFill>
                  <a:srgbClr val="6E6E73"/>
                </a:solidFill>
                <a:latin typeface="Inter"/>
              </a:rPr>
              <a:t>Deflated at 3,386 trials: 0.997 in sample, 0.075 held out. Forty days cannot rule out luck.</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results/v2/note_metrics.json; results/rigor/rigor.json; results/v2/cost_stress.json; paper Table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What happens when costs double?</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Q8</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18</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In sample it survives; held out it does not. Fees ×2: +0.77¢ (7/7 months) in sample, −0.34¢ [−0.86, 0.19] (0/3 months) held out.</a:t>
            </a:r>
          </a:p>
          <a:p>
            <a:pPr algn="l">
              <a:lnSpc>
                <a:spcPct val="112000"/>
              </a:lnSpc>
              <a:spcAft>
                <a:spcPts val="1200"/>
              </a:spcAft>
            </a:pPr>
            <a:r>
              <a:rPr sz="1600" b="0" i="0">
                <a:solidFill>
                  <a:srgbClr val="6E6E73"/>
                </a:solidFill>
                <a:latin typeface="Inter"/>
              </a:rPr>
              <a:t>All costs ×2: +0.27¢ in sample, −0.84¢ held out. Fees are each match's own rate × q(1−q): 120 bps of notional in sample, 179 held out.</a:t>
            </a:r>
          </a:p>
          <a:p>
            <a:pPr algn="l">
              <a:lnSpc>
                <a:spcPct val="112000"/>
              </a:lnSpc>
              <a:spcAft>
                <a:spcPts val="1200"/>
              </a:spcAft>
            </a:pPr>
            <a:r>
              <a:rPr sz="1600" b="0" i="0">
                <a:solidFill>
                  <a:srgbClr val="6E6E73"/>
                </a:solidFill>
                <a:latin typeface="Inter"/>
              </a:rPr>
              <a:t>Venue fee and delay rules are therefore the first risk, and a fee change is a kill switch.</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results/v2/cost_stress.json; results/v2/note_metrics.json; paper Table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After paying for data, what do you make?</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Q9</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19</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Today, less than the data costs. The cheapest data stack is $42 a day, central $167, high $332 (licence quotes $1,250–$10,000 a month; assumptions).</a:t>
            </a:r>
          </a:p>
          <a:p>
            <a:pPr algn="l">
              <a:lnSpc>
                <a:spcPct val="112000"/>
              </a:lnSpc>
              <a:spcAft>
                <a:spcPts val="1200"/>
              </a:spcAft>
            </a:pPr>
            <a:r>
              <a:rPr sz="1600" b="0" i="0">
                <a:solidFill>
                  <a:srgbClr val="6E6E73"/>
                </a:solidFill>
                <a:latin typeface="Inter"/>
              </a:rPr>
              <a:t>After central costs: v2 +$29 in sample, −$75 held out a day; the CV book at 1 s −$110 post hoc and −$163 pre-registered (held out).</a:t>
            </a:r>
          </a:p>
          <a:p>
            <a:pPr algn="l">
              <a:lnSpc>
                <a:spcPct val="112000"/>
              </a:lnSpc>
              <a:spcAft>
                <a:spcPts val="1200"/>
              </a:spcAft>
            </a:pPr>
            <a:r>
              <a:rPr sz="1600" b="0" i="0">
                <a:solidFill>
                  <a:srgbClr val="6E6E73"/>
                </a:solidFill>
                <a:latin typeface="Inter"/>
              </a:rPr>
              <a:t>At 1 s the CV book could pay at most $1,644 a month for data post hoc and $55 pre-registered. COURTSIDE prices speed; it is not yet a business.</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results/financials/financials.json; paper Section 7, Fig. A5, Appendix 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What kills it?</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Q10</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20</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In order of size: (1) the unmeasured stamp lag, which flips the CV sign; (2) our queue position against the fast tier; (3) fees: doubling them erases v2 held out; (4) a longer venue hold.</a:t>
            </a:r>
          </a:p>
          <a:p>
            <a:pPr algn="l">
              <a:lnSpc>
                <a:spcPct val="112000"/>
              </a:lnSpc>
              <a:spcAft>
                <a:spcPts val="1200"/>
              </a:spcAft>
            </a:pPr>
            <a:r>
              <a:rPr sz="1600" b="0" i="0">
                <a:solidFill>
                  <a:srgbClr val="6E6E73"/>
                </a:solidFill>
                <a:latin typeface="Inter"/>
              </a:rPr>
              <a:t>(5) The edge is shrinking: 0.20¢ a month (t = −3.98). (6) Concentration: the top 5 copied wallets carry 81% of v2's in-sample P&amp;L and 142% held out.</a:t>
            </a:r>
          </a:p>
          <a:p>
            <a:pPr algn="l">
              <a:lnSpc>
                <a:spcPct val="112000"/>
              </a:lnSpc>
              <a:spcAft>
                <a:spcPts val="1200"/>
              </a:spcAft>
            </a:pPr>
            <a:r>
              <a:rPr sz="1600" b="0" i="0">
                <a:solidFill>
                  <a:srgbClr val="6E6E73"/>
                </a:solidFill>
                <a:latin typeface="Inter"/>
              </a:rPr>
              <a:t>Kill switches in code: $1,000 daily stop, stale feed &gt; 2 s, stale vision &gt; 1 s, latency above its rolling p95; stop at a 5% drawdown.</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docs/RISK.md; engine/risk/; results/alpha/alpha.json::headline; paper Section 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Is this allowed? Isn't it courtsiding?</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Q11</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21</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The track allows any liquid, publicly traded market. Polymarket has a public book and public data with no keys; $2.84B traded across our 13,084 matches.</a:t>
            </a:r>
          </a:p>
          <a:p>
            <a:pPr algn="l">
              <a:lnSpc>
                <a:spcPct val="112000"/>
              </a:lnSpc>
              <a:spcAft>
                <a:spcPts val="1200"/>
              </a:spcAft>
            </a:pPr>
            <a:r>
              <a:rPr sz="1600" b="0" i="0">
                <a:solidFill>
                  <a:srgbClr val="6E6E73"/>
                </a:solidFill>
                <a:latin typeface="Inter"/>
              </a:rPr>
              <a:t>We placed no orders and connected no funded account. US persons are close-only on the international venue, so a deployment needs a permitted venue, licensed data and legal review.</a:t>
            </a:r>
          </a:p>
          <a:p>
            <a:pPr algn="l">
              <a:lnSpc>
                <a:spcPct val="112000"/>
              </a:lnSpc>
              <a:spcAft>
                <a:spcPts val="1200"/>
              </a:spcAft>
            </a:pPr>
            <a:r>
              <a:rPr sz="1600" b="0" i="0">
                <a:solidFill>
                  <a:srgbClr val="6E6E73"/>
                </a:solidFill>
                <a:latin typeface="Inter"/>
              </a:rPr>
              <a:t>We do not courtside: the design is a licensed feed. A spectator camera for betting breaks ITF rules and ticket terms, and we cite them.</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research/compliance/REQUIREMENTS.md §G; results/home_stream/sub_second_routes.json::compliance_flags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Can we run your code and get your numbers?</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Q12</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22</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Yes. bash run.sh setup, then bash run.sh replay (~15 s, no network) runs recorded live books through the paper trader; bash run.sh data &amp;&amp; bash run.sh reproduce regenerates every number and figure in the paper.</a:t>
            </a:r>
          </a:p>
          <a:p>
            <a:pPr algn="l">
              <a:lnSpc>
                <a:spcPct val="112000"/>
              </a:lnSpc>
              <a:spcAft>
                <a:spcPts val="1200"/>
              </a:spcAft>
            </a:pPr>
            <a:r>
              <a:rPr sz="1600" b="0" i="0">
                <a:solidFill>
                  <a:srgbClr val="6E6E73"/>
                </a:solidFill>
                <a:latin typeface="Inter"/>
              </a:rPr>
              <a:t>Every number in the paper, the video and this deck is read from a results file through a manifest (docs/deck/courtside_manifest.json lists this deck's).</a:t>
            </a:r>
          </a:p>
          <a:p>
            <a:pPr algn="l">
              <a:lnSpc>
                <a:spcPct val="112000"/>
              </a:lnSpc>
              <a:spcAft>
                <a:spcPts val="1200"/>
              </a:spcAft>
            </a:pPr>
            <a:r>
              <a:rPr sz="1600" b="0" i="0">
                <a:solidFill>
                  <a:srgbClr val="6E6E73"/>
                </a:solidFill>
                <a:latin typeface="Inter"/>
              </a:rPr>
              <a:t>One gap: the frozen vision model (12 MB) is not in git, so CV calls cannot be regenerated from a clone; tracking still runs.</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README.md; research/compliance/CLEAN_CLONE.md; docs/deck/courtside_manifest.json</a:t>
            </a:r>
          </a:p>
        </p:txBody>
      </p:sp>
    </p:spTree>
  </p:cSld>
  <p:clrMapOvr>
    <a:masterClrMapping/>
  </p:clrMapOvr>
</p:sld>
</file>

<file path=ppt/theme/theme1.xml><?xml version="1.0" encoding="utf-8"?>
<a:theme xmlns:a="http://schemas.openxmlformats.org/drawingml/2006/main" name="Courtside">
  <a:themeElements>
    <a:clrScheme name="Courtside">
      <a:dk1>
        <a:srgbClr val="000000"/>
      </a:dk1>
      <a:lt1>
        <a:srgbClr val="FFFFFF"/>
      </a:lt1>
      <a:dk2>
        <a:srgbClr val="1D1D1F"/>
      </a:dk2>
      <a:lt2>
        <a:srgbClr val="F5F5F7"/>
      </a:lt2>
      <a:accent1>
        <a:srgbClr val="E8601C"/>
      </a:accent1>
      <a:accent2>
        <a:srgbClr val="6E6E73"/>
      </a:accent2>
      <a:accent3>
        <a:srgbClr val="A1A1A6"/>
      </a:accent3>
      <a:accent4>
        <a:srgbClr val="1D1D1F"/>
      </a:accent4>
      <a:accent5>
        <a:srgbClr val="D2D2D7"/>
      </a:accent5>
      <a:accent6>
        <a:srgbClr val="F4AE88"/>
      </a:accent6>
      <a:hlink>
        <a:srgbClr val="E8601C"/>
      </a:hlink>
      <a:folHlink>
        <a:srgbClr val="6E6E73"/>
      </a:folHlink>
    </a:clrScheme>
    <a:fontScheme name="Courtsid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COURTSIDE</dc:title>
  <dc:subject>Gator Quant Hacks 2026 · Systematic Trading · investment-committee pitch</dc:subject>
  <dc:creator>Ojasva Mishra, Yoan Exposito, Rafael Penhas, Ian Hoang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