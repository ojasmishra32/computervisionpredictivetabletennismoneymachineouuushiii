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talk (4:45)" id="{C0DE0000-5D1E-4C2B-9A11-C0A7F1D0000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Q&amp;A backup" id="{C0DE0001-5D1E-4C2B-9A11-C0A7F1D00001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Manifest (hidden)" id="{C0DE0002-5D1E-4C2B-9A11-C0A7F1D00002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Fast tier (0–3 s)</c:v>
                </c:pt>
              </c:strCache>
            </c:strRef>
          </c:tx>
          <c:spPr>
            <a:solidFill>
              <a:srgbClr val="27598B"/>
            </a:solidFill>
            <a:ln>
              <a:noFill/>
            </a:ln>
          </c:spPr>
          <c:invertIfNegative val="0"/>
          <c:dPt>
            <c:idx val="8"/>
            <c:spPr>
              <a:solidFill>
                <a:srgbClr val="9DB8D3"/>
              </a:solidFill>
              <a:ln>
                <a:noFill/>
              </a:ln>
            </c:spPr>
          </c:dPt>
          <c:dPt>
            <c:idx val="9"/>
            <c:spPr>
              <a:solidFill>
                <a:srgbClr val="9DB8D3"/>
              </a:solidFill>
              <a:ln>
                <a:noFill/>
              </a:ln>
            </c:spPr>
          </c:dPt>
          <c:dPt>
            <c:idx val="10"/>
            <c:spPr>
              <a:solidFill>
                <a:srgbClr val="9DB8D3"/>
              </a:solidFill>
              <a:ln>
                <a:noFill/>
              </a:ln>
            </c:spPr>
          </c:dPt>
          <c:cat>
            <c:strRef>
              <c:f>Sheet1!$A$2:$A$12</c:f>
              <c:strCache>
                <c:ptCount val="11"/>
                <c:pt idx="0">
                  <c:v>Dec</c:v>
                </c:pt>
                <c:pt idx="1">
                  <c:v>Jan</c:v>
                </c:pt>
                <c:pt idx="2">
                  <c:v>Feb</c:v>
                </c:pt>
                <c:pt idx="3">
                  <c:v>Mar</c:v>
                </c:pt>
                <c:pt idx="4">
                  <c:v>Apr</c:v>
                </c:pt>
                <c:pt idx="5">
                  <c:v>May</c:v>
                </c:pt>
                <c:pt idx="6">
                  <c:v>Jun</c:v>
                </c:pt>
                <c:pt idx="7">
                  <c:v>Jul</c:v>
                </c:pt>
                <c:pt idx="8">
                  <c:v>Aug</c:v>
                </c:pt>
                <c:pt idx="9">
                  <c:v>Sep</c:v>
                </c:pt>
                <c:pt idx="10">
                  <c:v>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1.97</c:v>
                </c:pt>
                <c:pt idx="1">
                  <c:v>2.41</c:v>
                </c:pt>
                <c:pt idx="2">
                  <c:v>1.21</c:v>
                </c:pt>
                <c:pt idx="3">
                  <c:v>2.02</c:v>
                </c:pt>
                <c:pt idx="4">
                  <c:v>1.43</c:v>
                </c:pt>
                <c:pt idx="5">
                  <c:v>0.8</c:v>
                </c:pt>
                <c:pt idx="6">
                  <c:v>0.73</c:v>
                </c:pt>
                <c:pt idx="7">
                  <c:v>0.6</c:v>
                </c:pt>
                <c:pt idx="8">
                  <c:v>0.83</c:v>
                </c:pt>
                <c:pt idx="9">
                  <c:v>0.7</c:v>
                </c:pt>
                <c:pt idx="10">
                  <c:v>0.44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Everyone else, same 0–3 s</c:v>
                </c:pt>
              </c:strCache>
            </c:strRef>
          </c:tx>
          <c:spPr>
            <a:solidFill>
              <a:srgbClr val="7D8FA3"/>
            </a:solidFill>
            <a:ln>
              <a:noFill/>
            </a:ln>
          </c:spPr>
          <c:invertIfNegative val="0"/>
          <c:dPt>
            <c:idx val="8"/>
            <c:spPr>
              <a:solidFill>
                <a:srgbClr val="C3CCD6"/>
              </a:solidFill>
              <a:ln>
                <a:noFill/>
              </a:ln>
            </c:spPr>
          </c:dPt>
          <c:dPt>
            <c:idx val="9"/>
            <c:spPr>
              <a:solidFill>
                <a:srgbClr val="C3CCD6"/>
              </a:solidFill>
              <a:ln>
                <a:noFill/>
              </a:ln>
            </c:spPr>
          </c:dPt>
          <c:dPt>
            <c:idx val="10"/>
            <c:spPr>
              <a:solidFill>
                <a:srgbClr val="C3CCD6"/>
              </a:solidFill>
              <a:ln>
                <a:noFill/>
              </a:ln>
            </c:spPr>
          </c:dPt>
          <c:cat>
            <c:strRef>
              <c:f>Sheet1!$A$2:$A$12</c:f>
              <c:strCache>
                <c:ptCount val="11"/>
                <c:pt idx="0">
                  <c:v>Dec</c:v>
                </c:pt>
                <c:pt idx="1">
                  <c:v>Jan</c:v>
                </c:pt>
                <c:pt idx="2">
                  <c:v>Feb</c:v>
                </c:pt>
                <c:pt idx="3">
                  <c:v>Mar</c:v>
                </c:pt>
                <c:pt idx="4">
                  <c:v>Apr</c:v>
                </c:pt>
                <c:pt idx="5">
                  <c:v>May</c:v>
                </c:pt>
                <c:pt idx="6">
                  <c:v>Jun</c:v>
                </c:pt>
                <c:pt idx="7">
                  <c:v>Jul</c:v>
                </c:pt>
                <c:pt idx="8">
                  <c:v>Aug</c:v>
                </c:pt>
                <c:pt idx="9">
                  <c:v>Sep</c:v>
                </c:pt>
                <c:pt idx="10">
                  <c:v>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-0.48</c:v>
                </c:pt>
                <c:pt idx="1">
                  <c:v>-0.56</c:v>
                </c:pt>
                <c:pt idx="2">
                  <c:v>-0.63</c:v>
                </c:pt>
                <c:pt idx="3">
                  <c:v>-0.49</c:v>
                </c:pt>
                <c:pt idx="4">
                  <c:v>-0.87</c:v>
                </c:pt>
                <c:pt idx="5">
                  <c:v>-1.68</c:v>
                </c:pt>
                <c:pt idx="6">
                  <c:v>-0.84</c:v>
                </c:pt>
                <c:pt idx="7">
                  <c:v>-1.27</c:v>
                </c:pt>
                <c:pt idx="8">
                  <c:v>-1.2</c:v>
                </c:pt>
                <c:pt idx="9">
                  <c:v>-1.22</c:v>
                </c:pt>
                <c:pt idx="10">
                  <c:v>-1.86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Fast tier's trades copied ~3 s later</c:v>
                </c:pt>
              </c:strCache>
            </c:strRef>
          </c:tx>
          <c:spPr>
            <a:solidFill>
              <a:srgbClr val="D1432F"/>
            </a:solidFill>
            <a:ln>
              <a:noFill/>
            </a:ln>
          </c:spPr>
          <c:invertIfNegative val="0"/>
          <c:dPt>
            <c:idx val="8"/>
            <c:spPr>
              <a:solidFill>
                <a:srgbClr val="EBA79C"/>
              </a:solidFill>
              <a:ln>
                <a:noFill/>
              </a:ln>
            </c:spPr>
          </c:dPt>
          <c:dPt>
            <c:idx val="9"/>
            <c:spPr>
              <a:solidFill>
                <a:srgbClr val="EBA79C"/>
              </a:solidFill>
              <a:ln>
                <a:noFill/>
              </a:ln>
            </c:spPr>
          </c:dPt>
          <c:dPt>
            <c:idx val="10"/>
            <c:spPr>
              <a:solidFill>
                <a:srgbClr val="EBA79C"/>
              </a:solidFill>
              <a:ln>
                <a:noFill/>
              </a:ln>
            </c:spPr>
          </c:dPt>
          <c:cat>
            <c:strRef>
              <c:f>Sheet1!$A$2:$A$12</c:f>
              <c:strCache>
                <c:ptCount val="11"/>
                <c:pt idx="0">
                  <c:v>Dec</c:v>
                </c:pt>
                <c:pt idx="1">
                  <c:v>Jan</c:v>
                </c:pt>
                <c:pt idx="2">
                  <c:v>Feb</c:v>
                </c:pt>
                <c:pt idx="3">
                  <c:v>Mar</c:v>
                </c:pt>
                <c:pt idx="4">
                  <c:v>Apr</c:v>
                </c:pt>
                <c:pt idx="5">
                  <c:v>May</c:v>
                </c:pt>
                <c:pt idx="6">
                  <c:v>Jun</c:v>
                </c:pt>
                <c:pt idx="7">
                  <c:v>Jul</c:v>
                </c:pt>
                <c:pt idx="8">
                  <c:v>Aug</c:v>
                </c:pt>
                <c:pt idx="9">
                  <c:v>Sep</c:v>
                </c:pt>
                <c:pt idx="10">
                  <c:v>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-0.37</c:v>
                </c:pt>
                <c:pt idx="1">
                  <c:v>-2.1</c:v>
                </c:pt>
                <c:pt idx="2">
                  <c:v>-0.06</c:v>
                </c:pt>
                <c:pt idx="3">
                  <c:v>-2.53</c:v>
                </c:pt>
                <c:pt idx="4">
                  <c:v>-1.02</c:v>
                </c:pt>
                <c:pt idx="5">
                  <c:v>-1.03</c:v>
                </c:pt>
                <c:pt idx="6">
                  <c:v>-0.7</c:v>
                </c:pt>
                <c:pt idx="7">
                  <c:v>-0.97</c:v>
                </c:pt>
                <c:pt idx="8">
                  <c:v>-1.53</c:v>
                </c:pt>
                <c:pt idx="9">
                  <c:v>-1.57</c:v>
                </c:pt>
                <c:pt idx="10">
                  <c:v>-2.42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566676"/>
            </a:solidFill>
          </a:ln>
        </c:spPr>
        <c:txPr>
          <a:bodyPr/>
          <a:lstStyle/>
          <a:p>
            <a:pPr>
              <a:defRPr sz="1100">
                <a:solidFill>
                  <a:srgbClr val="56667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3DCE5"/>
              </a:solidFill>
            </a:ln>
          </c:spPr>
        </c:majorGridlines>
        <c:numFmt formatCode="0&quot;¢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676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0C1A28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6667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 sample</c:v>
                </c:pt>
              </c:strCache>
            </c:strRef>
          </c:tx>
          <c:spPr>
            <a:solidFill>
              <a:srgbClr val="27598B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Fast-tier fills</c:v>
                </c:pt>
                <c:pt idx="1">
                  <c:v>+½ tick</c:v>
                </c:pt>
                <c:pt idx="2">
                  <c:v>+1 tick</c:v>
                </c:pt>
                <c:pt idx="3">
                  <c:v>Fees ×2</c:v>
                </c:pt>
                <c:pt idx="4">
                  <c:v>All costs ×2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1.38</c:v>
                </c:pt>
                <c:pt idx="1">
                  <c:v>0.88</c:v>
                </c:pt>
                <c:pt idx="2">
                  <c:v>0.38</c:v>
                </c:pt>
                <c:pt idx="3">
                  <c:v>0.77</c:v>
                </c:pt>
                <c:pt idx="4">
                  <c:v>0.27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Burned OOS (non-blind)</c:v>
                </c:pt>
              </c:strCache>
            </c:strRef>
          </c:tx>
          <c:spPr>
            <a:solidFill>
              <a:srgbClr val="D1432F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Fast-tier fills</c:v>
                </c:pt>
                <c:pt idx="1">
                  <c:v>+½ tick</c:v>
                </c:pt>
                <c:pt idx="2">
                  <c:v>+1 tick</c:v>
                </c:pt>
                <c:pt idx="3">
                  <c:v>Fees ×2</c:v>
                </c:pt>
                <c:pt idx="4">
                  <c:v>All costs ×2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</c:v>
                </c:pt>
                <c:pt idx="1">
                  <c:v>0.1</c:v>
                </c:pt>
                <c:pt idx="2">
                  <c:v>-0.4</c:v>
                </c:pt>
                <c:pt idx="3">
                  <c:v>-0.34</c:v>
                </c:pt>
                <c:pt idx="4">
                  <c:v>-0.84</c:v>
                </c:pt>
              </c:numCache>
            </c:numRef>
          </c:val>
        </c:ser>
        <c:dLbls>
          <c:numFmt formatCode="+0.00;−0.00" sourceLinked="0"/>
          <c:txPr>
            <a:bodyPr/>
            <a:lstStyle/>
            <a:p>
              <a:pPr>
                <a:defRPr sz="1100" b="1">
                  <a:solidFill>
                    <a:srgbClr val="0C1A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566676"/>
            </a:solidFill>
          </a:ln>
        </c:spPr>
        <c:txPr>
          <a:bodyPr/>
          <a:lstStyle/>
          <a:p>
            <a:pPr>
              <a:defRPr sz="1100">
                <a:solidFill>
                  <a:srgbClr val="56667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3DCE5"/>
              </a:solidFill>
            </a:ln>
          </c:spPr>
        </c:majorGridlines>
        <c:numFmt formatCode="0.0&quot;¢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676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0C1A28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6667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 sample, tournament timing</c:v>
                </c:pt>
              </c:strCache>
            </c:strRef>
          </c:tx>
          <c:spPr>
            <a:ln w="28575">
              <a:solidFill>
                <a:srgbClr val="27598B"/>
              </a:solidFill>
            </a:ln>
          </c:spPr>
          <c:marker>
            <c:symbol val="circle"/>
            <c:size val="5"/>
            <c:spPr>
              <a:solidFill>
                <a:srgbClr val="27598B"/>
              </a:solidFill>
              <a:ln>
                <a:noFill/>
              </a:ln>
            </c:spPr>
          </c:marker>
          <c:xVal>
            <c:numRef>
              <c:f>Sheet1!$A$2:$A$13</c:f>
              <c:numCache>
                <c:formatCode>General</c:formatCode>
                <c:ptCount val="12"/>
                <c:pt idx="0">
                  <c:v>0.6</c:v>
                </c:pt>
                <c:pt idx="1">
                  <c:v>0.8</c:v>
                </c:pt>
                <c:pt idx="2">
                  <c:v>1.0</c:v>
                </c:pt>
                <c:pt idx="3">
                  <c:v>1.1</c:v>
                </c:pt>
                <c:pt idx="4">
                  <c:v>1.2</c:v>
                </c:pt>
                <c:pt idx="5">
                  <c:v>1.3</c:v>
                </c:pt>
                <c:pt idx="6">
                  <c:v>1.35</c:v>
                </c:pt>
                <c:pt idx="7">
                  <c:v>1.4</c:v>
                </c:pt>
                <c:pt idx="8">
                  <c:v>1.5</c:v>
                </c:pt>
                <c:pt idx="9">
                  <c:v>1.75</c:v>
                </c:pt>
                <c:pt idx="10">
                  <c:v>2.0</c:v>
                </c:pt>
                <c:pt idx="11">
                  <c:v>2.5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0.855</c:v>
                </c:pt>
                <c:pt idx="1">
                  <c:v>1.057</c:v>
                </c:pt>
                <c:pt idx="2">
                  <c:v>1.099</c:v>
                </c:pt>
                <c:pt idx="3">
                  <c:v>1.139</c:v>
                </c:pt>
                <c:pt idx="4">
                  <c:v>1.149</c:v>
                </c:pt>
                <c:pt idx="5">
                  <c:v>1.177</c:v>
                </c:pt>
                <c:pt idx="6">
                  <c:v>1.195</c:v>
                </c:pt>
                <c:pt idx="7">
                  <c:v>1.197</c:v>
                </c:pt>
                <c:pt idx="8">
                  <c:v>1.206</c:v>
                </c:pt>
                <c:pt idx="9">
                  <c:v>1.339</c:v>
                </c:pt>
                <c:pt idx="10">
                  <c:v>1.361</c:v>
                </c:pt>
                <c:pt idx="11">
                  <c:v>1.442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Sheet1!$B$15</c:f>
              <c:strCache>
                <c:ptCount val="1"/>
                <c:pt idx="0">
                  <c:v>Burned OOS, tournament timing</c:v>
                </c:pt>
              </c:strCache>
            </c:strRef>
          </c:tx>
          <c:spPr>
            <a:ln w="28575">
              <a:solidFill>
                <a:srgbClr val="D1432F"/>
              </a:solidFill>
            </a:ln>
          </c:spPr>
          <c:marker>
            <c:symbol val="circle"/>
            <c:size val="5"/>
            <c:spPr>
              <a:solidFill>
                <a:srgbClr val="D1432F"/>
              </a:solidFill>
              <a:ln>
                <a:noFill/>
              </a:ln>
            </c:spPr>
          </c:marker>
          <c:xVal>
            <c:numRef>
              <c:f>Sheet1!$A$16:$A$27</c:f>
              <c:numCache>
                <c:formatCode>General</c:formatCode>
                <c:ptCount val="12"/>
                <c:pt idx="0">
                  <c:v>0.6</c:v>
                </c:pt>
                <c:pt idx="1">
                  <c:v>0.8</c:v>
                </c:pt>
                <c:pt idx="2">
                  <c:v>1.0</c:v>
                </c:pt>
                <c:pt idx="3">
                  <c:v>1.1</c:v>
                </c:pt>
                <c:pt idx="4">
                  <c:v>1.2</c:v>
                </c:pt>
                <c:pt idx="5">
                  <c:v>1.3</c:v>
                </c:pt>
                <c:pt idx="6">
                  <c:v>1.35</c:v>
                </c:pt>
                <c:pt idx="7">
                  <c:v>1.4</c:v>
                </c:pt>
                <c:pt idx="8">
                  <c:v>1.5</c:v>
                </c:pt>
                <c:pt idx="9">
                  <c:v>1.75</c:v>
                </c:pt>
                <c:pt idx="10">
                  <c:v>2.0</c:v>
                </c:pt>
                <c:pt idx="11">
                  <c:v>2.5</c:v>
                </c:pt>
              </c:numCache>
            </c:numRef>
          </c:xVal>
          <c:yVal>
            <c:numRef>
              <c:f>Sheet1!$B$16:$B$27</c:f>
              <c:numCache>
                <c:formatCode>General</c:formatCode>
                <c:ptCount val="12"/>
                <c:pt idx="0">
                  <c:v>0.227</c:v>
                </c:pt>
                <c:pt idx="1">
                  <c:v>0.665</c:v>
                </c:pt>
                <c:pt idx="2">
                  <c:v>0.729</c:v>
                </c:pt>
                <c:pt idx="3">
                  <c:v>0.778</c:v>
                </c:pt>
                <c:pt idx="4">
                  <c:v>0.84</c:v>
                </c:pt>
                <c:pt idx="5">
                  <c:v>0.831</c:v>
                </c:pt>
                <c:pt idx="6">
                  <c:v>0.826</c:v>
                </c:pt>
                <c:pt idx="7">
                  <c:v>0.831</c:v>
                </c:pt>
                <c:pt idx="8">
                  <c:v>0.837</c:v>
                </c:pt>
                <c:pt idx="9">
                  <c:v>0.932</c:v>
                </c:pt>
                <c:pt idx="10">
                  <c:v>0.967</c:v>
                </c:pt>
                <c:pt idx="11">
                  <c:v>1.013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Sheet1!$B$29</c:f>
              <c:strCache>
                <c:ptCount val="1"/>
                <c:pt idx="0">
                  <c:v>Burned OOS, stamp timing</c:v>
                </c:pt>
              </c:strCache>
            </c:strRef>
          </c:tx>
          <c:spPr>
            <a:ln w="28575">
              <a:solidFill>
                <a:srgbClr val="7D8FA3"/>
              </a:solidFill>
              <a:prstDash val="dash"/>
            </a:ln>
          </c:spPr>
          <c:marker>
            <c:symbol val="circle"/>
            <c:size val="5"/>
            <c:spPr>
              <a:solidFill>
                <a:srgbClr val="7D8FA3"/>
              </a:solidFill>
              <a:ln>
                <a:noFill/>
              </a:ln>
            </c:spPr>
          </c:marker>
          <c:xVal>
            <c:numRef>
              <c:f>Sheet1!$A$30:$A$41</c:f>
              <c:numCache>
                <c:formatCode>General</c:formatCode>
                <c:ptCount val="12"/>
                <c:pt idx="0">
                  <c:v>0.6</c:v>
                </c:pt>
                <c:pt idx="1">
                  <c:v>0.8</c:v>
                </c:pt>
                <c:pt idx="2">
                  <c:v>1.0</c:v>
                </c:pt>
                <c:pt idx="3">
                  <c:v>1.1</c:v>
                </c:pt>
                <c:pt idx="4">
                  <c:v>1.2</c:v>
                </c:pt>
                <c:pt idx="5">
                  <c:v>1.3</c:v>
                </c:pt>
                <c:pt idx="6">
                  <c:v>1.35</c:v>
                </c:pt>
                <c:pt idx="7">
                  <c:v>1.4</c:v>
                </c:pt>
                <c:pt idx="8">
                  <c:v>1.5</c:v>
                </c:pt>
                <c:pt idx="9">
                  <c:v>1.75</c:v>
                </c:pt>
                <c:pt idx="10">
                  <c:v>2.0</c:v>
                </c:pt>
                <c:pt idx="11">
                  <c:v>2.5</c:v>
                </c:pt>
              </c:numCache>
            </c:numRef>
          </c:xVal>
          <c:yVal>
            <c:numRef>
              <c:f>Sheet1!$B$30:$B$41</c:f>
              <c:numCache>
                <c:formatCode>General</c:formatCode>
                <c:ptCount val="12"/>
                <c:pt idx="0">
                  <c:v>-2.103</c:v>
                </c:pt>
                <c:pt idx="1">
                  <c:v>-3.928</c:v>
                </c:pt>
                <c:pt idx="2">
                  <c:v>-3.248</c:v>
                </c:pt>
                <c:pt idx="3">
                  <c:v>0.706</c:v>
                </c:pt>
                <c:pt idx="4">
                  <c:v>0.856</c:v>
                </c:pt>
                <c:pt idx="5">
                  <c:v>0.856</c:v>
                </c:pt>
                <c:pt idx="6">
                  <c:v>0.844</c:v>
                </c:pt>
                <c:pt idx="7">
                  <c:v>0.833</c:v>
                </c:pt>
                <c:pt idx="8">
                  <c:v>0.859</c:v>
                </c:pt>
                <c:pt idx="9">
                  <c:v>0.954</c:v>
                </c:pt>
                <c:pt idx="10">
                  <c:v>1.053</c:v>
                </c:pt>
                <c:pt idx="11">
                  <c:v>1.117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Sheet1!$B$43</c:f>
              <c:strCache>
                <c:ptCount val="1"/>
                <c:pt idx="0">
                  <c:v>pre-registered: 0.68 s</c:v>
                </c:pt>
              </c:strCache>
            </c:strRef>
          </c:tx>
          <c:spPr>
            <a:ln w="12700">
              <a:solidFill>
                <a:srgbClr val="566676"/>
              </a:solidFill>
              <a:prstDash val="dash"/>
            </a:ln>
          </c:spPr>
          <c:marker>
            <c:symbol val="none"/>
          </c:marker>
          <c:xVal>
            <c:numRef>
              <c:f>Sheet1!$A$44:$A$45</c:f>
              <c:numCache>
                <c:formatCode>General</c:formatCode>
                <c:ptCount val="2"/>
                <c:pt idx="0">
                  <c:v>0.68</c:v>
                </c:pt>
                <c:pt idx="1">
                  <c:v>0.68</c:v>
                </c:pt>
              </c:numCache>
            </c:numRef>
          </c:xVal>
          <c:yVal>
            <c:numRef>
              <c:f>Sheet1!$B$44:$B$45</c:f>
              <c:numCache>
                <c:formatCode>General</c:formatCode>
                <c:ptCount val="2"/>
                <c:pt idx="0">
                  <c:v>-4</c:v>
                </c:pt>
                <c:pt idx="1">
                  <c:v>2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Sheet1!$B$47</c:f>
              <c:strCache>
                <c:ptCount val="1"/>
                <c:pt idx="0">
                  <c:v>inferred: 1.35 s</c:v>
                </c:pt>
              </c:strCache>
            </c:strRef>
          </c:tx>
          <c:spPr>
            <a:ln w="12700">
              <a:solidFill>
                <a:srgbClr val="566676"/>
              </a:solidFill>
              <a:prstDash val="dash"/>
            </a:ln>
          </c:spPr>
          <c:marker>
            <c:symbol val="none"/>
          </c:marker>
          <c:xVal>
            <c:numRef>
              <c:f>Sheet1!$A$48:$A$49</c:f>
              <c:numCache>
                <c:formatCode>General</c:formatCode>
                <c:ptCount val="2"/>
                <c:pt idx="0">
                  <c:v>1.349</c:v>
                </c:pt>
                <c:pt idx="1">
                  <c:v>1.349</c:v>
                </c:pt>
              </c:numCache>
            </c:numRef>
          </c:xVal>
          <c:yVal>
            <c:numRef>
              <c:f>Sheet1!$B$48:$B$49</c:f>
              <c:numCache>
                <c:formatCode>General</c:formatCode>
                <c:ptCount val="2"/>
                <c:pt idx="0">
                  <c:v>-4</c:v>
                </c:pt>
                <c:pt idx="1">
                  <c:v>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0.0&quot; s&quot;" sourceLinked="0"/>
        <c:majorTickMark val="none"/>
        <c:minorTickMark val="none"/>
        <c:tickLblPos val="low"/>
        <c:spPr>
          <a:ln w="9525">
            <a:solidFill>
              <a:srgbClr val="566676"/>
            </a:solidFill>
          </a:ln>
        </c:spPr>
        <c:txPr>
          <a:bodyPr/>
          <a:lstStyle/>
          <a:p>
            <a:pPr>
              <a:defRPr sz="1100">
                <a:solidFill>
                  <a:srgbClr val="566676"/>
                </a:solidFill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2.0"/>
          <c:min val="-4.0"/>
        </c:scaling>
        <c:delete val="0"/>
        <c:axPos val="l"/>
        <c:majorGridlines>
          <c:spPr>
            <a:ln w="6350">
              <a:solidFill>
                <a:srgbClr val="D3DCE5"/>
              </a:solidFill>
            </a:ln>
          </c:spPr>
        </c:majorGridlines>
        <c:numFmt formatCode="0&quot;¢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676"/>
                </a:solidFill>
              </a:defRPr>
            </a:pPr>
          </a:p>
        </c:txPr>
        <c:crossAx val="-2128940872"/>
        <c:crosses val="autoZero"/>
        <c:crossBetween val="midCat"/>
      </c:valAx>
    </c:plotArea>
    <c:legend>
      <c:legendPos val="t"/>
      <c:layout/>
      <c:overlay val="0"/>
      <c:txPr>
        <a:bodyPr/>
        <a:lstStyle/>
        <a:p>
          <a:pPr>
            <a:defRPr sz="1000">
              <a:solidFill>
                <a:srgbClr val="0C1A28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56667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to 0:25, 25 s]  TITLE + HOOK</a:t>
            </a:r>
          </a:p>
          <a:p/>
          <a:p>
            <a:r>
              <a:t>Every tennis point moves a prediction market: on average about 5.7% of a player's fair value per point.</a:t>
            </a:r>
          </a:p>
          <a:p/>
          <a:p>
            <a:r>
              <a:t>So we asked: when the price jumps, who is on the other side, and who gets paid?</a:t>
            </a:r>
          </a:p>
          <a:p/>
          <a:p>
            <a:r>
              <a:t>We took every resolved ATP and WTA moneyline on Polymarket for a year: 13,084 matches, $2.84B traded, every print classified by side, net of its own fee. Everything you will see is public data and paper trading. No order was ever sent.</a:t>
            </a:r>
          </a:p>
          <a:p/>
          <a:p>
            <a:r>
              <a:t>[The video pairs a real tape (Nakashima v Medvedev, 2026-08-18) with a simulated groundstroke; it is not that point's line call. Blue dots are the fast tier.]</a:t>
            </a:r>
          </a:p>
          <a:p>
            <a:r>
              <a:t>[PRE-FLIGHT: open the .pptx in PowerPoint (not Keynote, Google Slides or the PDF) so the videos autoplay. Bring results/viz/courtside_replay.mp4 and the slide 4 video as separate files; if a video fails, talk over its poster frame.]</a:t>
            </a:r>
          </a:p>
          <a:p>
            <a:r>
              <a:t>[Every number in this deck is read from a results file at build time; the hidden slides at the end list each one with its source key.]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[0:25 to 0:55, 30 s]  ECONOMIC FOUNDATION: THE INFORMATION LADDER</a:t>
            </a:r>
          </a:p>
          <a:p/>
          <a:p>
            <a:r>
              <a:t>Why does anyone lose? Because a point ends in tiers.</a:t>
            </a:r>
          </a:p>
          <a:p/>
          <a:p>
            <a:r>
              <a:t>Ball tracking knows where the ball lands before it bounces. The umpire knows at the bounce. Market makers reprice the book −1.32 s relative to the official stamp, which an umpire types in after the ball lands. TV and public scores trail the book: ESPN by +28.2 s; in our pre-registered live test the book moved first on 93% of 75 points. Streams are slower still.</a:t>
            </a:r>
          </a:p>
          <a:p/>
          <a:p>
            <a:r>
              <a:t>Over a match a one-dollar share's fair value travels $4.2 in total. Whoever trades on an older tier sells to someone faster. The venue admits it: it holds every marketable order 1 s so makers can reprice, and charges takers 5% times p(1−p).</a:t>
            </a:r>
          </a:p>
          <a:p/>
          <a:p>
            <a:r>
              <a:t>[If asked about the clocks: the WTA stamp is the public point log, 1 s resolution, read after the fact; its lag to the bounce (≈3.1 s) is an inference from fast-tier prints, not a measurement. ATP has no public official point clock.]</a:t>
            </a:r>
          </a:p>
          <a:p>
            <a:r>
              <a:t>[Sources: results/tier0/results.json timing; results/decay/decay.json latency_inputs; results/summary.json h4 and tracking_tennis_physics; results/leverage_stats.json atp; results/risk/risk_stats.json regime.]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[0:55 to 1:25, 30 s]  EVIDENCE: WHO GETS PAID</a:t>
            </a:r>
          </a:p>
          <a:p/>
          <a:p>
            <a:r>
              <a:t>Every taker print, by seconds since the point, marked out 30 seconds later, net of fees.</a:t>
            </a:r>
          </a:p>
          <a:p/>
          <a:p>
            <a:r>
              <a:t>A small group of wallets, the fast tier, trades within three seconds and wins. Picked each month from earlier months only, it made money in 11/11 months: 8 in sample, where we found it, and 3/3 out of sample, the real test. Everyone else in the same window lost in 11/11 months.</a:t>
            </a:r>
          </a:p>
          <a:p/>
          <a:p>
            <a:r>
              <a:t>The control: copy their exact trades about three seconds later and you lose in 11/11 months. So it is not who they are. The edge is speed.</a:t>
            </a:r>
          </a:p>
          <a:p/>
          <a:p>
            <a:r>
              <a:t>And it replicates blind on 11,307 markets we had never looked at: fast tier minus everyone else +3.09¢ in sample, +2.16¢ out of sample.</a:t>
            </a:r>
          </a:p>
          <a:p/>
          <a:p>
            <a:r>
              <a:t>[Honest framing if asked: H6 was written after the in-sample wallet study (DEVIATIONS D4, D5), so only the out-of-sample months test it. These are onset-aligned windows, an ex-post event study; every tradable v2 number uses the causal window (D9).]</a:t>
            </a:r>
          </a:p>
          <a:p>
            <a:r>
              <a:t>[Sources: results/summary.json :: is &gt; h6_walkforward (months before universe &gt; oos_start) + oos &gt; h6_walkforward; results/expand/results.json fast_minus_others_u2.]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 to 2:05, 40 s]  INNOVATION: CALLING THE POINT BEFORE IT LANDS</a:t>
            </a:r>
          </a:p>
          <a:p/>
          <a:p>
            <a:r>
              <a:t>Can anyone reach tier zero? This is real 120-frame-per-second table-tennis footage, OpenTTGames, a public labelled high-speed set; table tennis itself is not tradable on a liquid book, tennis video at this frame rate is not public.</a:t>
            </a:r>
          </a:p>
          <a:p/>
          <a:p>
            <a:r>
              <a:t>Our tracker finds the ball within five pixels on 97.7% of labelled held-out frames. The frozen call model, scored once on held-out games, made 11/11 correct miss calls fifty milliseconds before contact. It is conservative: it called 11 of 41 misses, recall 27%, and with that sample the lower bound on precision is 74%.</a:t>
            </a:r>
          </a:p>
          <a:p/>
          <a:p>
            <a:r>
              <a:t>The engine runs it as a stream: about 100 ms per call on a laptop. The lead comes from frame rate and cameras, so it lives in the venue.</a:t>
            </a:r>
          </a:p>
          <a:p/>
          <a:p>
            <a:r>
              <a:t>[If asked about the laptop: it sustains 51 fps, not 120, under load; HiPerGator GPU timing is in hpg/engine_vision.sbatch. Footage credit: OpenTTGames, CC BY-NC-SA 4.0 (non-commercial; credited on the slide).]</a:t>
            </a:r>
          </a:p>
          <a:p>
            <a:r>
              <a:t>[Sources: results/tracking/summary.json early_call; results/engine/demo_run.json vision + latency_budget; results/engine/vision_bench.json summary.]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 to 2:40, 35 s]  BACKTEST: IN SAMPLE VS OUT OF SAMPLE, AND COSTS DOUBLED</a:t>
            </a:r>
          </a:p>
          <a:p/>
          <a:p>
            <a:r>
              <a:t>We priced that opportunity as a paper strategy on the fast tier's own fills. It measures their speed, not our execution.</a:t>
            </a:r>
          </a:p>
          <a:p/>
          <a:p>
            <a:r>
              <a:t>Version one copied their tickets and lost $36.1k out of sample. Version two adds five rules. In sample: +1.38¢ a share, Sharpe 14.5. Out of sample, on a window we had already seen, so we call it burned: +0.60¢, Sharpe 6.7.</a:t>
            </a:r>
          </a:p>
          <a:p/>
          <a:p>
            <a:r>
              <a:t>Now the stress. Half a tick worse and the out-of-sample edge is +0.10¢. Double the fees and it is −0.34¢: negative. Double all costs: −0.84¢. In today's fee regime it does not survive doubled costs, and we say so.</a:t>
            </a:r>
          </a:p>
          <a:p/>
          <a:p>
            <a:r>
              <a:t>The blind forward test runs once tomorrow; it is pending and will be reported either way.</a:t>
            </a:r>
          </a:p>
          <a:p/>
          <a:p>
            <a:r>
              <a:t>[If asked "whose fills?": the fast tier's. Second place earns nothing out of sample (+1/2 tick: +0.10¢).]</a:t>
            </a:r>
          </a:p>
          <a:p>
            <a:r>
              <a:t>[Sources: results/v2/causal.json (slippage cases), results/v2/cost_stress.json (fees x2, all costs x2), results/summary.json oos h6_shadow (v1), results/v2/forward.json (forward).]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[2:40 to 3:10, 30 s]  RIGOR AND BLIND TESTS, INCLUDING THE FAILURES</a:t>
            </a:r>
          </a:p>
          <a:p/>
          <a:p>
            <a:r>
              <a:t>We tried 3,386 variants, and we count all of them. In sample the deflated Sharpe is 1.00. On the burned 40 days it is 0.075 at the full trial count: 40 days cannot rule out luck, and we say that. Overfitting probability on our risk grid: 15.4%.</a:t>
            </a:r>
          </a:p>
          <a:p/>
          <a:p>
            <a:r>
              <a:t>Then the blind tests, which we could not tune. Run frozen on markets we had never opened, v2 passed in the in-sample period and failed out of sample: its interval includes zero. Our side-market maker, pre-registered, failed its blind test. Table tennis has no fast tier at all. Fees doubled: negative.</a:t>
            </a:r>
          </a:p>
          <a:p/>
          <a:p>
            <a:r>
              <a:t>The one clean test left is the forward run tomorrow. 45 lines in the peek log show every time we looked.</a:t>
            </a:r>
          </a:p>
          <a:p/>
          <a:p>
            <a:r>
              <a:t>[Sources: results/rigor/rigor.json (psr_dsr, pbo_cscv, bootstrap); results/expand/results.json primary; results/maker/oos.json primary; results/tt/results.json TT1-TT3; results/v2/cost_stress.json; results/oos_peeks.log.]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 to 3:45, 35 s]  THE CV EDGE, AS A LABELLED COUNTERFACTUAL</a:t>
            </a:r>
          </a:p>
          <a:p/>
          <a:p>
            <a:r>
              <a:t>What would calling the point first buy? We cannot buy a licensed live feed or put a camera courtside, so this slide carries the label COUNTERFACTUAL: assumes a licensed live feed + courtside camera (not purchased); parameters measured. No live ATP or WTA data was used.</a:t>
            </a:r>
          </a:p>
          <a:p/>
          <a:p>
            <a:r>
              <a:t>We simulate a trader with our measured CV call rate and latency, a London gateway, and live-book fill prices. In sample: +1.10¢ a share, Sharpe 11.4 plus or minus 2.5. Out of sample: +0.58¢, Sharpe 7.3, and its interval touches zero.</a:t>
            </a:r>
          </a:p>
          <a:p/>
          <a:p>
            <a:r>
              <a:t>The chart is the honest part: profit depends on how long after the bounce the book reprices, which nobody publishes. Under one reading of the clocks, below 1.1 s it is negative.</a:t>
            </a:r>
          </a:p>
          <a:p/>
          <a:p>
            <a:r>
              <a:t>And at today's costs it does not pay for the feed licence and the camera. The value of the CV is the time budget it measures, not a P&amp;L we can bank.</a:t>
            </a:r>
          </a:p>
          <a:p/>
          <a:p>
            <a:r>
              <a:t>[Second-round verification of this counterfactual is running separately (results/tier0_v3); the headline here is results/tier0/results.json "headline", marked VERIFIED.]</a:t>
            </a:r>
          </a:p>
          <a:p>
            <a:r>
              <a:t>[Sources: results/tier0/results.json headline, timing, pnl_vs_t_reprice_minus_t_bounce; results/financials/financials.json Tier-0 rows.]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 to 4:10, 25 s]  THE ENGINE RUNS END TO END, PAPER ONLY</a:t>
            </a:r>
          </a:p>
          <a:p/>
          <a:p>
            <a:r>
              <a:t>This is not just a backtest. The engine connects to live Polymarket order books, read-only: 7,785 · 54 messages and assets in a 60 s window, feed delay (p50/95/99) 65 / 84 / 123 ms, no gaps, and zero orders sent, by construction.</a:t>
            </a:r>
          </a:p>
          <a:p/>
          <a:p>
            <a:r>
              <a:t>On the right, the full chain on a real recorded WTA book: vision call, paper order, the one-second venue delay, the fill, then the reprice. It is an illustrative pairing of table-tennis calls with a tennis book, so it shows timing, not edge.</a:t>
            </a:r>
          </a:p>
          <a:p/>
          <a:p>
            <a:r>
              <a:t>Tonight it is running a live paper session with our pre-registered maker and a taker control. Status at build time: QUOTING (paper). Primary book: 0 fills, P&amp;L +$0.00. It is a plumbing check; that strategy already failed its blind test.</a:t>
            </a:r>
          </a:p>
          <a:p/>
          <a:p>
            <a:r>
              <a:t>[Paper only: TERMS 5.3 forbids funded accounts; the executor raises LiveTradingForbidden if keys or live flags exist. If the session summary updates before the talk, rebuild: the numbers are read at build time.]</a:t>
            </a:r>
          </a:p>
          <a:p>
            <a:r>
              <a:t>[Sources: results/engine/live_market_run.json; results/live/summary.json; results/engine/demo_timeline.png from results/engine/demo_run.json.]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[4:10 to 4:35, 25 s]  RISK, LIQUIDITY AND CAPITAL, FINANCIALS</a:t>
            </a:r>
          </a:p>
          <a:p/>
          <a:p>
            <a:r>
              <a:t>Small by design. Every order goes through hard limits: $1,000 per order, 100 shares net per match, a $1,000 daily stop, and kill switches when data or vision goes stale.</a:t>
            </a:r>
          </a:p>
          <a:p/>
          <a:p>
            <a:r>
              <a:t>Liquidity: the median trade is $11.17; at most 18.1% of the fast tier's own volume in any month; capital is three times peak locked, $28.3k.</a:t>
            </a:r>
          </a:p>
          <a:p/>
          <a:p>
            <a:r>
              <a:t>Financials, honestly: before fixed costs v2 makes money. After a data licence and a London server, it is about break-even in sample and negative on the burned out-of-sample. The CV counterfactual is far below its fixed costs. So this is a measured opportunity, not a business yet.</a:t>
            </a:r>
          </a:p>
          <a:p/>
          <a:p>
            <a:r>
              <a:t>[Biggest risk is the venue: one fee or delay change moves the edge more than any parameter (R11). Wallet concentration: top wallet 41.7% of IS P&amp;L (R2).]</a:t>
            </a:r>
          </a:p>
          <a:p>
            <a:r>
              <a:t>[Sources: results/engine/demo_run.json risk_config; results/risk/risk_stats.json liquidity_capital, concentration; results/v2/causal.json; results/financials/financials.json headline rows and cost_assumptions; docs/RISK.md.]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[4:35 to 4:45, 10 s]  CLOSE</a:t>
            </a:r>
          </a:p>
          <a:p/>
          <a:p>
            <a:r>
              <a:t>One command reproduces every number from public data: bash reproduce.sh. The repo is public, the failures are in it, and the blind forward test runs once tomorrow. Thank you.</a:t>
            </a:r>
          </a:p>
          <a:p/>
          <a:p>
            <a:r>
              <a:t>[Status at build time: forward test pending; live session QUOTING (paper).]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Q1: Table 2 fills at the fast tier's own print. You only know that print exists because it happened. Isn't that lookahead, and isn't this someone else's P&amp;L?</a:t>
            </a:r>
          </a:p>
          <a:p/>
          <a:p>
            <a:r>
              <a:t>Answer in this order:</a:t>
            </a:r>
          </a:p>
          <a:p>
            <a:r>
              <a:t>- Yes, it is their speed, and we say so. v2 measures the opportunity for a trader as fast as the fast tier, not our execution.</a:t>
            </a:r>
          </a:p>
          <a:p>
            <a:r>
              <a:t>- What gets counted uses no future information: wallets qualify on past months only, the fee filter uses the fee at the time, and the 0–3 s window runs from detection, not hindsight onset (D9).</a:t>
            </a:r>
          </a:p>
          <a:p>
            <a:r>
              <a:t>- The executable lagged copy loses: the same trades ~3 s later lose in 11/11 months.</a:t>
            </a:r>
          </a:p>
          <a:p>
            <a:r>
              <a:t>- Out of sample, second place earns nothing: +½ tick gives +0.10¢ [−0.41, 0.63].</a:t>
            </a:r>
          </a:p>
          <a:p>
            <a:r>
              <a:t>- Our own route to first place is tier 0, which we only model as a labelled counterfactual.</a:t>
            </a:r>
          </a:p>
          <a:p/>
          <a:p>
            <a:r>
              <a:t>[Sources: results/summary.json; results/v2/causal.json]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Q2: You built v2 after v1 lost $36.1k out of sample. Isn't that tuning on the out-of-sample period?</a:t>
            </a:r>
          </a:p>
          <a:p/>
          <a:p>
            <a:r>
              <a:t>Answer in this order:</a:t>
            </a:r>
          </a:p>
          <a:p>
            <a:r>
              <a:t>- The OOS was opened once, blind, for v1 (2026-10-03 10:42 UTC); v1's −$36.1k loss is reported.</a:t>
            </a:r>
          </a:p>
          <a:p>
            <a:r>
              <a:t>- v2's rules were tuned on in-sample data only, but its motivation came from how v1 failed. So that window is burned, and every v2 number on it is labelled non-blind.</a:t>
            </a:r>
          </a:p>
          <a:p>
            <a:r>
              <a:t>- v2's clean tests are pre-registered. Blind, on 11,307 never-examined markets: +2.02¢ [1.14, 2.93] in the in-sample period (pass); +1.22¢ [−0.19, 2.65] out of sample: a fail by our rule.</a:t>
            </a:r>
          </a:p>
          <a:p>
            <a:r>
              <a:t>- The forward window is run once, tomorrow, and reported either way.</a:t>
            </a:r>
          </a:p>
          <a:p>
            <a:r>
              <a:t>- All 45 looks at held-out data are in results/oos_peeks.log.</a:t>
            </a:r>
          </a:p>
          <a:p/>
          <a:p>
            <a:r>
              <a:t>[Sources: results/summary.json; results/expand/results.json; results/oos_peeks.log]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Q3: A Sharpe of 14.5 on daily data. The brief says above 3, assume a bug.</a:t>
            </a:r>
          </a:p>
          <a:p/>
          <a:p>
            <a:r>
              <a:t>Answer in this order:</a:t>
            </a:r>
          </a:p>
          <a:p>
            <a:r>
              <a:t>- We assumed one and found one: the onset hindsight (D9). Fixing it cut the in-sample Sharpe from 16.8 to 14.5.</a:t>
            </a:r>
          </a:p>
          <a:p>
            <a:r>
              <a:t>- What remains is structural: about 270 small bets a day, each settled by an exogenous binary outcome, net exposure capped at 100 shares per match.</a:t>
            </a:r>
          </a:p>
          <a:p>
            <a:r>
              <a:t>- Tails are mild: skew 0.53, kurtosis 4.3, worst day −1.9%.</a:t>
            </a:r>
          </a:p>
          <a:p>
            <a:r>
              <a:t>- It falls fast with costs: Sharpe 9.8 at +½ tick, 4.3 at +1 tick, 3.0 with all costs doubled; burned OOS 6.7 (bootstrap [1.9, 12.3]).</a:t>
            </a:r>
          </a:p>
          <a:p/>
          <a:p>
            <a:r>
              <a:t>[Sources: results/summary.json; results/v2/causal.json; results/v2/note_metrics.json; results/rigor/rigor.json]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Q4: What happens when costs double? What is your cost in bps?</a:t>
            </a:r>
          </a:p>
          <a:p/>
          <a:p>
            <a:r>
              <a:t>Answer in this order:</a:t>
            </a:r>
          </a:p>
          <a:p>
            <a:r>
              <a:t>- Fees: each match's own rate × q(1−q): about 120 bps of notional in sample (mixed fee regimes) and 179 bps out of sample (all at today's rate).</a:t>
            </a:r>
          </a:p>
          <a:p>
            <a:r>
              <a:t>- Fees doubled: +0.77¢ in sample (7/7 months), but −0.34¢ [−0.86, 0.19] out of sample (0/3 months).</a:t>
            </a:r>
          </a:p>
          <a:p>
            <a:r>
              <a:t>- All costs doubled: +0.27¢ in sample and −0.84¢ out of sample.</a:t>
            </a:r>
          </a:p>
          <a:p>
            <a:r>
              <a:t>- So in today's regime the edge does not survive doubled costs, and we say so. Break-even taker fee rate on the burned OOS, before fixed costs: 8.2%.</a:t>
            </a:r>
          </a:p>
          <a:p>
            <a:r>
              <a:t>- That is why venue rules are risk R11 and why the halve/stop rule exists.</a:t>
            </a:r>
          </a:p>
          <a:p/>
          <a:p>
            <a:r>
              <a:t>[Sources: results/v2/note_metrics.json; results/v2/cost_stress.json; results/financials/financials.json]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Q5: Is Polymarket even allowed in this track, and can you trade it from the US?</a:t>
            </a:r>
          </a:p>
          <a:p/>
          <a:p>
            <a:r>
              <a:t>Answer in this order:</a:t>
            </a:r>
          </a:p>
          <a:p>
            <a:r>
              <a:t>- The track allows any liquid, publicly traded market. Polymarket tennis has a public order book, keyless public data, and $2.84B traded in our universe.</a:t>
            </a:r>
          </a:p>
          <a:p>
            <a:r>
              <a:t>- The international venue restricts US persons, and we say so. TERMS 5.3 forbids funded accounts during the event, so everything here is paper.</a:t>
            </a:r>
          </a:p>
          <a:p>
            <a:r>
              <a:t>- The repo only reads public data. The engine is paper-only by construction (orders sent in the live run: 0); it refuses to start if a key or live flag exists.</a:t>
            </a:r>
          </a:p>
          <a:p>
            <a:r>
              <a:t>- A deployment needs a permitted venue, licensed data and legal review (docs/RISK.md R16).</a:t>
            </a:r>
          </a:p>
          <a:p>
            <a:r>
              <a:t>- Kalshi, the regulated alternative, leads most repricings, but its fee leaves the hedged laggard trade at about zero (research/v2/kalshi/RESULTS.md).</a:t>
            </a:r>
          </a:p>
          <a:p/>
          <a:p>
            <a:r>
              <a:t>[Sources: results/summary.json; results/engine/live_market_run.json; docs/RISK.md R16]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Q6: Who is the fast tier, and why hasn't competition killed the edge?</a:t>
            </a:r>
          </a:p>
          <a:p/>
          <a:p>
            <a:r>
              <a:t>Answer in this order:</a:t>
            </a:r>
          </a:p>
          <a:p>
            <a:r>
              <a:t>- We can't identify them; we can characterize them: they trade within 3 s of a detected point, and selected walk-forward they made money in 11/11 months.</a:t>
            </a:r>
          </a:p>
          <a:p>
            <a:r>
              <a:t>- They replicate blind: on unseen markets they beat everyone else by +3.09¢ in sample and +2.16¢ [1.79, 2.53] out of sample.</a:t>
            </a:r>
          </a:p>
          <a:p>
            <a:r>
              <a:t>- Someone knows the point before the book. Courtside humans would imply an official-stamp lag of about 3.1 s, but that is an inference, not a measurement.</a:t>
            </a:r>
          </a:p>
          <a:p>
            <a:r>
              <a:t>- Competition is biting: the 30 s edge went from +2.0¢ in the first month to +0.4¢ in the last; qualifying wallets grew from 4 to 131. It shrank but stayed positive.</a:t>
            </a:r>
          </a:p>
          <a:p/>
          <a:p>
            <a:r>
              <a:t>[Sources: results/summary.json; results/expand/results.json; results/tier0/results.json]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Q7: You tried 3,386 or more variants. Why isn't this the luckiest draw?</a:t>
            </a:r>
          </a:p>
          <a:p/>
          <a:p>
            <a:r>
              <a:t>Answer in this order:</a:t>
            </a:r>
          </a:p>
          <a:p>
            <a:r>
              <a:t>- Every variant is counted and reported: N = 3,386.</a:t>
            </a:r>
          </a:p>
          <a:p>
            <a:r>
              <a:t>- In sample the deflated Sharpe at that N is 1.00, even with the most conservative variance.</a:t>
            </a:r>
          </a:p>
          <a:p>
            <a:r>
              <a:t>- On the 40-day burned OOS it is 0.481 at N = 44 and 0.075 at N = 3,386. 40 days cannot rule out luck at the full trial count, and we say that.</a:t>
            </a:r>
          </a:p>
          <a:p>
            <a:r>
              <a:t>- Probability of backtest overfitting: 0.0% on the sizing grid, 15.4% by Sharpe on the v2-safe grid, 42.0% by its selection rule.</a:t>
            </a:r>
          </a:p>
          <a:p>
            <a:r>
              <a:t>- Many variants are near-duplicates, so N overstates independent trials. The real answer is the forward test.</a:t>
            </a:r>
          </a:p>
          <a:p/>
          <a:p>
            <a:r>
              <a:t>[Sources: results/rigor/rigor.json]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Q8: Your OOS is 20% of matches but only 39 of 360 days, and your universe keeps matches with at least $5k of lifetime volume, which you only know afterwards. Isn't that survivorship and lookahead?</a:t>
            </a:r>
          </a:p>
          <a:p/>
          <a:p>
            <a:r>
              <a:t>Answer in this order:</a:t>
            </a:r>
          </a:p>
          <a:p>
            <a:r>
              <a:t>- We read “20%” as a share of observations: 2,617 of 13,084 matches, 21% of volume. By calendar time it is 39 of 360 days; a time-based 20% would start 2026-07-23.</a:t>
            </a:r>
          </a:p>
          <a:p>
            <a:r>
              <a:t>- The volume filter is ex-post. It drops thin markets a live trader would see. The OOS trades nearest the threshold made −1.96¢ a share.</a:t>
            </a:r>
          </a:p>
          <a:p>
            <a:r>
              <a:t>- Our check is the blind test on 11,307 other markets (mostly ITF): the fast-tier gap holds there; v2's out-of-sample interval includes zero.</a:t>
            </a:r>
          </a:p>
          <a:p>
            <a:r>
              <a:t>- H1–H6 use onset-aligned windows: an ex-post event study, labelled as such. Every tradable v2 number uses the causal window.</a:t>
            </a:r>
          </a:p>
          <a:p/>
          <a:p>
            <a:r>
              <a:t>[Sources: results/v2/note_metrics.json; results/risk/risk_stats.json; results/expand/results.json]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Q9: How much capital could this run, and doesn't it hang on a handful of wallets?</a:t>
            </a:r>
          </a:p>
          <a:p/>
          <a:p>
            <a:r>
              <a:t>Answer in this order:</a:t>
            </a:r>
          </a:p>
          <a:p>
            <a:r>
              <a:t>- Not much. v2 ran about $7.2k a day of notional ($1.48M in 206 days) on $28.3k of capital; median trade $11.17.</a:t>
            </a:r>
          </a:p>
          <a:p>
            <a:r>
              <a:t>- Capacity is bounded by the fast tier's own prints, not book depth: every qualifying print totals $82.3k/day in sample and $105.5k/day out of sample.</a:t>
            </a:r>
          </a:p>
          <a:p>
            <a:r>
              <a:t>- Concentration is real: the top wallet carries 41.7% of in-sample P&amp;L and 48.4% out of sample. Clustered by wallet, the burned-OOS CI is [−0.45, 2.38].</a:t>
            </a:r>
          </a:p>
          <a:p>
            <a:r>
              <a:t>- Does it cover central fixed costs out of sample? No: not even with every qualifying print (central cost $167/day). That is why we say “positive but not proven”.</a:t>
            </a:r>
          </a:p>
          <a:p/>
          <a:p>
            <a:r>
              <a:t>[Sources: results/v2/note_metrics.json; results/v2/causal.json; results/risk/risk_stats.json; results/financials/financials.json; results/financials/pm_compute.json]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Q10: What does the computer vision add? Your own counterfactual says the camera barely matters.</a:t>
            </a:r>
          </a:p>
          <a:p/>
          <a:p>
            <a:r>
              <a:t>Answer in this order:</a:t>
            </a:r>
          </a:p>
          <a:p>
            <a:r>
              <a:t>- It measures what tier 0 can know: real 120 fps video called 11/11 misses correctly 50 ms before contact (recall 27%, lower bound 74%); 25 fps broadcast is off by 0.7–1.2 m: useless.</a:t>
            </a:r>
          </a:p>
          <a:p>
            <a:r>
              <a:t>- Against a 1 s order delay those leads are small. In the counterfactual (assumed feed, not bought) the unmeasured bounce-to-reprice time dominates: under the stamp reading it is negative below 1.1 s.</a:t>
            </a:r>
          </a:p>
          <a:p>
            <a:r>
              <a:t>- The contribution is the time budget: where a lead comes from (frame rate, cameras, being in the venue) and what it costs in latency (~100 ms per call on a laptop).</a:t>
            </a:r>
          </a:p>
          <a:p>
            <a:r>
              <a:t>- Not shown: a tier-0 order reaching a stale quote end to end live. We have no camera at a tennis venue and no licensed feed.</a:t>
            </a:r>
          </a:p>
          <a:p/>
          <a:p>
            <a:r>
              <a:t>[Sources: results/tracking/summary.json; results/tennis_tracking/summary.json; results/tier0/results.json; results/engine/demo_run.json]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73152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b="1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896112"/>
            <a:ext cx="4663440" cy="1024128"/>
          </a:xfrm>
        </p:spPr>
        <p:txBody>
          <a:bodyPr lIns="0" tIns="0" rIns="0" bIns="0"/>
          <a:lstStyle/>
          <a:p>
            <a:r>
              <a:rPr sz="6000" b="1" i="0">
                <a:solidFill>
                  <a:srgbClr val="FFFFFF"/>
                </a:solidFill>
                <a:latin typeface="Arial Narrow" panose="020B0606020202030204" pitchFamily="34" charset="0"/>
              </a:rPr>
              <a:t>COURTSIDE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9FB3C8"/>
                </a:solidFill>
                <a:latin typeface="Arial" panose="020B0604020202020204" pitchFamily="34" charset="0"/>
              </a:rPr>
              <a:t>GATOR QUANT HACKS 2026  ·  SYSTEMATIC TRADING</a:t>
            </a:r>
          </a:p>
        </p:txBody>
      </p:sp>
      <p:sp>
        <p:nvSpPr>
          <p:cNvPr id="5" name="Hook"/>
          <p:cNvSpPr txBox="1"/>
          <p:nvPr/>
        </p:nvSpPr>
        <p:spPr>
          <a:xfrm>
            <a:off x="548640" y="2057400"/>
            <a:ext cx="4663440" cy="187451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FFFFF"/>
                </a:solidFill>
                <a:latin typeface="Arial Narrow" panose="020B0606020202030204" pitchFamily="34" charset="0"/>
              </a:rPr>
              <a:t>Every point</a:t>
            </a:r>
          </a:p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FFFFF"/>
                </a:solidFill>
                <a:latin typeface="Arial Narrow" panose="020B0606020202030204" pitchFamily="34" charset="0"/>
              </a:rPr>
              <a:t>moves a market.</a:t>
            </a:r>
          </a:p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D1432F"/>
                </a:solidFill>
                <a:latin typeface="Arial Narrow" panose="020B0606020202030204" pitchFamily="34" charset="0"/>
              </a:rPr>
              <a:t>Who gets paid?</a:t>
            </a:r>
          </a:p>
        </p:txBody>
      </p:sp>
      <p:sp>
        <p:nvSpPr>
          <p:cNvPr id="6" name="Universe"/>
          <p:cNvSpPr txBox="1"/>
          <p:nvPr/>
        </p:nvSpPr>
        <p:spPr>
          <a:xfrm>
            <a:off x="548640" y="4069080"/>
            <a:ext cx="4663440" cy="68580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 Narrow" panose="020B0606020202030204" pitchFamily="34" charset="0"/>
              </a:rPr>
              <a:t>13,084</a:t>
            </a:r>
            <a:r>
              <a:rPr sz="1800" b="0" i="0">
                <a:solidFill>
                  <a:srgbClr val="9FB3C8"/>
                </a:solidFill>
                <a:latin typeface="Arial Narrow" panose="020B0606020202030204" pitchFamily="34" charset="0"/>
              </a:rPr>
              <a:t> matches   </a:t>
            </a:r>
            <a:r>
              <a:rPr sz="3800" b="1" i="0">
                <a:solidFill>
                  <a:srgbClr val="FFFFFF"/>
                </a:solidFill>
                <a:latin typeface="Arial Narrow" panose="020B0606020202030204" pitchFamily="34" charset="0"/>
              </a:rPr>
              <a:t>$2.84B</a:t>
            </a:r>
            <a:r>
              <a:rPr sz="1800" b="0" i="0">
                <a:solidFill>
                  <a:srgbClr val="9FB3C8"/>
                </a:solidFill>
                <a:latin typeface="Arial Narrow" panose="020B0606020202030204" pitchFamily="34" charset="0"/>
              </a:rPr>
              <a:t> traded</a:t>
            </a:r>
          </a:p>
        </p:txBody>
      </p:sp>
      <p:sp>
        <p:nvSpPr>
          <p:cNvPr id="7" name="Universe caption"/>
          <p:cNvSpPr txBox="1"/>
          <p:nvPr/>
        </p:nvSpPr>
        <p:spPr>
          <a:xfrm>
            <a:off x="548640" y="4846320"/>
            <a:ext cx="4572000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9FB3C8"/>
                </a:solidFill>
                <a:latin typeface="Arial" panose="020B0604020202020204" pitchFamily="34" charset="0"/>
              </a:rPr>
              <a:t>Every resolved Polymarket ATP/WTA singles moneyline with lifetime volume ≥ $5k, Oct 2025 – Oct 2026</a:t>
            </a:r>
          </a:p>
        </p:txBody>
      </p:sp>
      <p:sp>
        <p:nvSpPr>
          <p:cNvPr id="8" name="Paper chip"/>
          <p:cNvSpPr/>
          <p:nvPr/>
        </p:nvSpPr>
        <p:spPr>
          <a:xfrm>
            <a:off x="548640" y="5577840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17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aper only"/>
          <p:cNvSpPr txBox="1"/>
          <p:nvPr/>
        </p:nvSpPr>
        <p:spPr>
          <a:xfrm>
            <a:off x="548640" y="5577840"/>
            <a:ext cx="39319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/>
            <a:r>
              <a:rPr sz="1150" b="1" i="0" spc="120">
                <a:solidFill>
                  <a:srgbClr val="F07A66"/>
                </a:solidFill>
                <a:latin typeface="Arial" panose="020B0604020202020204" pitchFamily="34" charset="0"/>
              </a:rPr>
              <a:t>PAPER ONLY  ·  PUBLIC DATA  ·  NO ORDERS SENT</a:t>
            </a:r>
          </a:p>
        </p:txBody>
      </p:sp>
      <p:sp>
        <p:nvSpPr>
          <p:cNvPr id="10" name="Video frame"/>
          <p:cNvSpPr/>
          <p:nvPr/>
        </p:nvSpPr>
        <p:spPr>
          <a:xfrm>
            <a:off x="5495544" y="923544"/>
            <a:ext cx="6184087" cy="3510553"/>
          </a:xfrm>
          <a:prstGeom prst="roundRect">
            <a:avLst>
              <a:gd name="adj" fmla="val 1562"/>
            </a:avLst>
          </a:prstGeom>
          <a:solidFill>
            <a:srgbClr val="17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Video: Hawk-Eye-style replay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532120" y="960120"/>
            <a:ext cx="6110935" cy="3437401"/>
          </a:xfrm>
          <a:prstGeom prst="rect">
            <a:avLst/>
          </a:prstGeom>
        </p:spPr>
      </p:pic>
      <p:sp>
        <p:nvSpPr>
          <p:cNvPr id="12" name="Video caption"/>
          <p:cNvSpPr txBox="1"/>
          <p:nvPr/>
        </p:nvSpPr>
        <p:spPr>
          <a:xfrm>
            <a:off x="5532120" y="4507249"/>
            <a:ext cx="6110935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200" b="0" i="0">
                <a:solidFill>
                  <a:srgbClr val="9FB3C8"/>
                </a:solidFill>
                <a:latin typeface="Arial" panose="020B0604020202020204" pitchFamily="34" charset="0"/>
              </a:rPr>
              <a:t>Real Polymarket tape (Nakashima v Medvedev, 2026-08-18) beside a simulated Hawk-Eye-style call</a:t>
            </a:r>
          </a:p>
        </p:txBody>
      </p:sp>
      <p:sp>
        <p:nvSpPr>
          <p:cNvPr id="13" name="Repo"/>
          <p:cNvSpPr txBox="1"/>
          <p:nvPr/>
        </p:nvSpPr>
        <p:spPr>
          <a:xfrm>
            <a:off x="548640" y="6400800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0" i="0">
                <a:solidFill>
                  <a:srgbClr val="9FB3C8"/>
                </a:solidFill>
                <a:latin typeface="Courier New"/>
              </a:rPr>
              <a:t>github.com/OjasMishra32/computervisionpredictivetabletennismoneymachineouuushiii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0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A point ends in tiers. Slow tiers pay fast ones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01  ·  ECONOMIC FOUNDATION</a:t>
            </a:r>
          </a:p>
        </p:txBody>
      </p:sp>
      <p:sp>
        <p:nvSpPr>
          <p:cNvPr id="5" name="Ladder rung 0"/>
          <p:cNvSpPr/>
          <p:nvPr/>
        </p:nvSpPr>
        <p:spPr>
          <a:xfrm>
            <a:off x="548640" y="1591056"/>
            <a:ext cx="7269480" cy="603504"/>
          </a:xfrm>
          <a:prstGeom prst="roundRect">
            <a:avLst>
              <a:gd name="adj" fmla="val 12121"/>
            </a:avLst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adder who 0"/>
          <p:cNvSpPr txBox="1"/>
          <p:nvPr/>
        </p:nvSpPr>
        <p:spPr>
          <a:xfrm>
            <a:off x="731520" y="1609344"/>
            <a:ext cx="443484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050" b="1" i="0" spc="120">
                <a:solidFill>
                  <a:srgbClr val="F6D3CC"/>
                </a:solidFill>
                <a:latin typeface="Arial" panose="020B0604020202020204" pitchFamily="34" charset="0"/>
              </a:rPr>
              <a:t>TIER 0  </a:t>
            </a: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Ball tracking</a:t>
            </a:r>
          </a:p>
          <a:p>
            <a:pPr algn="l"/>
            <a:r>
              <a:rPr sz="1100" b="0" i="0">
                <a:solidFill>
                  <a:srgbClr val="F6D3CC"/>
                </a:solidFill>
                <a:latin typeface="Arial" panose="020B0604020202020204" pitchFamily="34" charset="0"/>
              </a:rPr>
              <a:t>cameras in the venue</a:t>
            </a:r>
          </a:p>
        </p:txBody>
      </p:sp>
      <p:sp>
        <p:nvSpPr>
          <p:cNvPr id="7" name="Ladder when 0"/>
          <p:cNvSpPr txBox="1"/>
          <p:nvPr/>
        </p:nvSpPr>
        <p:spPr>
          <a:xfrm>
            <a:off x="5074920" y="1609344"/>
            <a:ext cx="257860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>
              <a:lnSpc>
                <a:spcPct val="90000"/>
              </a:lnSpc>
            </a:pP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before the bounce</a:t>
            </a:r>
          </a:p>
          <a:p>
            <a:pPr algn="r"/>
            <a:r>
              <a:rPr sz="1050" b="0" i="0">
                <a:solidFill>
                  <a:srgbClr val="F6D3CC"/>
                </a:solidFill>
                <a:latin typeface="Arial" panose="020B0604020202020204" pitchFamily="34" charset="0"/>
              </a:rPr>
              <a:t>±2.4 cm at 100 ms (simulated)</a:t>
            </a:r>
          </a:p>
        </p:txBody>
      </p:sp>
      <p:sp>
        <p:nvSpPr>
          <p:cNvPr id="8" name="Ladder rung 1"/>
          <p:cNvSpPr/>
          <p:nvPr/>
        </p:nvSpPr>
        <p:spPr>
          <a:xfrm>
            <a:off x="822959" y="2267712"/>
            <a:ext cx="6995160" cy="603504"/>
          </a:xfrm>
          <a:prstGeom prst="roundRect">
            <a:avLst>
              <a:gd name="adj" fmla="val 12121"/>
            </a:avLst>
          </a:prstGeom>
          <a:solidFill>
            <a:srgbClr val="0C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adder who 1"/>
          <p:cNvSpPr txBox="1"/>
          <p:nvPr/>
        </p:nvSpPr>
        <p:spPr>
          <a:xfrm>
            <a:off x="1005839" y="2286000"/>
            <a:ext cx="416052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050" b="1" i="0" spc="120">
                <a:solidFill>
                  <a:srgbClr val="9FB3C8"/>
                </a:solidFill>
                <a:latin typeface="Arial" panose="020B0604020202020204" pitchFamily="34" charset="0"/>
              </a:rPr>
              <a:t>TIER 1  </a:t>
            </a: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Chair umpire</a:t>
            </a:r>
          </a:p>
        </p:txBody>
      </p:sp>
      <p:sp>
        <p:nvSpPr>
          <p:cNvPr id="10" name="Ladder when 1"/>
          <p:cNvSpPr txBox="1"/>
          <p:nvPr/>
        </p:nvSpPr>
        <p:spPr>
          <a:xfrm>
            <a:off x="5074920" y="2286000"/>
            <a:ext cx="257860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>
              <a:lnSpc>
                <a:spcPct val="90000"/>
              </a:lnSpc>
            </a:pP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at the bounce</a:t>
            </a:r>
          </a:p>
        </p:txBody>
      </p:sp>
      <p:sp>
        <p:nvSpPr>
          <p:cNvPr id="11" name="Ladder rung 2"/>
          <p:cNvSpPr/>
          <p:nvPr/>
        </p:nvSpPr>
        <p:spPr>
          <a:xfrm>
            <a:off x="1097280" y="2944368"/>
            <a:ext cx="6720840" cy="603504"/>
          </a:xfrm>
          <a:prstGeom prst="roundRect">
            <a:avLst>
              <a:gd name="adj" fmla="val 12121"/>
            </a:avLst>
          </a:prstGeom>
          <a:solidFill>
            <a:srgbClr val="275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adder who 2"/>
          <p:cNvSpPr txBox="1"/>
          <p:nvPr/>
        </p:nvSpPr>
        <p:spPr>
          <a:xfrm>
            <a:off x="1280160" y="2962656"/>
            <a:ext cx="38862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050" b="1" i="0" spc="120">
                <a:solidFill>
                  <a:srgbClr val="C9D9EA"/>
                </a:solidFill>
                <a:latin typeface="Arial" panose="020B0604020202020204" pitchFamily="34" charset="0"/>
              </a:rPr>
              <a:t>TIER 2  </a:t>
            </a: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Market makers</a:t>
            </a:r>
          </a:p>
          <a:p>
            <a:pPr algn="l"/>
            <a:r>
              <a:rPr sz="1100" b="0" i="0">
                <a:solidFill>
                  <a:srgbClr val="C9D9EA"/>
                </a:solidFill>
                <a:latin typeface="Arial" panose="020B0604020202020204" pitchFamily="34" charset="0"/>
              </a:rPr>
              <a:t>the book reprices</a:t>
            </a:r>
          </a:p>
        </p:txBody>
      </p:sp>
      <p:sp>
        <p:nvSpPr>
          <p:cNvPr id="13" name="Ladder when 2"/>
          <p:cNvSpPr txBox="1"/>
          <p:nvPr/>
        </p:nvSpPr>
        <p:spPr>
          <a:xfrm>
            <a:off x="5074920" y="2962656"/>
            <a:ext cx="257860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>
              <a:lnSpc>
                <a:spcPct val="90000"/>
              </a:lnSpc>
            </a:pP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−1.32 s</a:t>
            </a:r>
          </a:p>
          <a:p>
            <a:pPr algn="r"/>
            <a:r>
              <a:rPr sz="1050" b="0" i="0">
                <a:solidFill>
                  <a:srgbClr val="C9D9EA"/>
                </a:solidFill>
                <a:latin typeface="Arial" panose="020B0604020202020204" pitchFamily="34" charset="0"/>
              </a:rPr>
              <a:t>vs the official stamp (median)</a:t>
            </a:r>
          </a:p>
        </p:txBody>
      </p:sp>
      <p:sp>
        <p:nvSpPr>
          <p:cNvPr id="14" name="Ladder rung 3"/>
          <p:cNvSpPr/>
          <p:nvPr/>
        </p:nvSpPr>
        <p:spPr>
          <a:xfrm>
            <a:off x="1371600" y="3621024"/>
            <a:ext cx="6446520" cy="603504"/>
          </a:xfrm>
          <a:prstGeom prst="roundRect">
            <a:avLst>
              <a:gd name="adj" fmla="val 12121"/>
            </a:avLst>
          </a:prstGeom>
          <a:solidFill>
            <a:srgbClr val="3F6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adder who 3"/>
          <p:cNvSpPr txBox="1"/>
          <p:nvPr/>
        </p:nvSpPr>
        <p:spPr>
          <a:xfrm>
            <a:off x="1554480" y="3639312"/>
            <a:ext cx="361188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050" b="1" i="0" spc="120">
                <a:solidFill>
                  <a:srgbClr val="C9D9EA"/>
                </a:solidFill>
                <a:latin typeface="Arial" panose="020B0604020202020204" pitchFamily="34" charset="0"/>
              </a:rPr>
              <a:t>TIER 3  </a:t>
            </a: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Official feed</a:t>
            </a:r>
          </a:p>
          <a:p>
            <a:pPr algn="l"/>
            <a:r>
              <a:rPr sz="1100" b="0" i="0">
                <a:solidFill>
                  <a:srgbClr val="C9D9EA"/>
                </a:solidFill>
                <a:latin typeface="Arial" panose="020B0604020202020204" pitchFamily="34" charset="0"/>
              </a:rPr>
              <a:t>umpire-entered point stamp</a:t>
            </a:r>
          </a:p>
        </p:txBody>
      </p:sp>
      <p:sp>
        <p:nvSpPr>
          <p:cNvPr id="16" name="Ladder when 3"/>
          <p:cNvSpPr txBox="1"/>
          <p:nvPr/>
        </p:nvSpPr>
        <p:spPr>
          <a:xfrm>
            <a:off x="5074920" y="3639312"/>
            <a:ext cx="257860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>
              <a:lnSpc>
                <a:spcPct val="90000"/>
              </a:lnSpc>
            </a:pPr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reference</a:t>
            </a:r>
          </a:p>
          <a:p>
            <a:pPr algn="r"/>
            <a:r>
              <a:rPr sz="1050" b="0" i="0">
                <a:solidFill>
                  <a:srgbClr val="C9D9EA"/>
                </a:solidFill>
                <a:latin typeface="Arial" panose="020B0604020202020204" pitchFamily="34" charset="0"/>
              </a:rPr>
              <a:t>≈3.1 s after the bounce (inferred)</a:t>
            </a:r>
          </a:p>
        </p:txBody>
      </p:sp>
      <p:sp>
        <p:nvSpPr>
          <p:cNvPr id="17" name="Ladder rung 4"/>
          <p:cNvSpPr/>
          <p:nvPr/>
        </p:nvSpPr>
        <p:spPr>
          <a:xfrm>
            <a:off x="1645919" y="4297680"/>
            <a:ext cx="6172200" cy="603504"/>
          </a:xfrm>
          <a:prstGeom prst="roundRect">
            <a:avLst>
              <a:gd name="adj" fmla="val 12121"/>
            </a:avLst>
          </a:prstGeom>
          <a:solidFill>
            <a:srgbClr val="C9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adder who 4"/>
          <p:cNvSpPr txBox="1"/>
          <p:nvPr/>
        </p:nvSpPr>
        <p:spPr>
          <a:xfrm>
            <a:off x="1828799" y="4315968"/>
            <a:ext cx="33375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050" b="1" i="0" spc="120">
                <a:solidFill>
                  <a:srgbClr val="566676"/>
                </a:solidFill>
                <a:latin typeface="Arial" panose="020B0604020202020204" pitchFamily="34" charset="0"/>
              </a:rPr>
              <a:t>TIER 4  </a:t>
            </a:r>
            <a:r>
              <a:rPr sz="1900" b="1" i="0">
                <a:solidFill>
                  <a:srgbClr val="0C1A28"/>
                </a:solidFill>
                <a:latin typeface="Arial Narrow" panose="020B0606020202030204" pitchFamily="34" charset="0"/>
              </a:rPr>
              <a:t>TV and public scores</a:t>
            </a:r>
          </a:p>
          <a:p>
            <a:pPr algn="l"/>
            <a:r>
              <a:rPr sz="1100" b="0" i="0">
                <a:solidFill>
                  <a:srgbClr val="566676"/>
                </a:solidFill>
                <a:latin typeface="Arial" panose="020B0604020202020204" pitchFamily="34" charset="0"/>
              </a:rPr>
              <a:t>book first on 93% of 75 points, median 44.5 s</a:t>
            </a:r>
          </a:p>
        </p:txBody>
      </p:sp>
      <p:sp>
        <p:nvSpPr>
          <p:cNvPr id="19" name="Ladder when 4"/>
          <p:cNvSpPr txBox="1"/>
          <p:nvPr/>
        </p:nvSpPr>
        <p:spPr>
          <a:xfrm>
            <a:off x="5074920" y="4315968"/>
            <a:ext cx="257860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>
              <a:lnSpc>
                <a:spcPct val="90000"/>
              </a:lnSpc>
            </a:pPr>
            <a:r>
              <a:rPr sz="1900" b="1" i="0">
                <a:solidFill>
                  <a:srgbClr val="0C1A28"/>
                </a:solidFill>
                <a:latin typeface="Arial Narrow" panose="020B0606020202030204" pitchFamily="34" charset="0"/>
              </a:rPr>
              <a:t>+28.2 s</a:t>
            </a:r>
          </a:p>
          <a:p>
            <a:pPr algn="r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ESPN behind the book</a:t>
            </a:r>
          </a:p>
        </p:txBody>
      </p:sp>
      <p:sp>
        <p:nvSpPr>
          <p:cNvPr id="20" name="Ladder rung 5"/>
          <p:cNvSpPr/>
          <p:nvPr/>
        </p:nvSpPr>
        <p:spPr>
          <a:xfrm>
            <a:off x="1920240" y="4974336"/>
            <a:ext cx="5897880" cy="603504"/>
          </a:xfrm>
          <a:prstGeom prst="roundRect">
            <a:avLst>
              <a:gd name="adj" fmla="val 12121"/>
            </a:avLst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Ladder who 5"/>
          <p:cNvSpPr txBox="1"/>
          <p:nvPr/>
        </p:nvSpPr>
        <p:spPr>
          <a:xfrm>
            <a:off x="2103120" y="4992624"/>
            <a:ext cx="306324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90000"/>
              </a:lnSpc>
            </a:pPr>
            <a:r>
              <a:rPr sz="1050" b="1" i="0" spc="120">
                <a:solidFill>
                  <a:srgbClr val="566676"/>
                </a:solidFill>
                <a:latin typeface="Arial" panose="020B0604020202020204" pitchFamily="34" charset="0"/>
              </a:rPr>
              <a:t>TIER 5  </a:t>
            </a:r>
            <a:r>
              <a:rPr sz="1900" b="1" i="0">
                <a:solidFill>
                  <a:srgbClr val="0C1A28"/>
                </a:solidFill>
                <a:latin typeface="Arial Narrow" panose="020B0606020202030204" pitchFamily="34" charset="0"/>
              </a:rPr>
              <a:t>Streams</a:t>
            </a:r>
          </a:p>
          <a:p>
            <a:pPr algn="l"/>
            <a:r>
              <a:rPr sz="1100" b="0" i="0">
                <a:solidFill>
                  <a:srgbClr val="566676"/>
                </a:solidFill>
                <a:latin typeface="Arial" panose="020B0604020202020204" pitchFamily="34" charset="0"/>
              </a:rPr>
              <a:t>the slowest money</a:t>
            </a:r>
          </a:p>
        </p:txBody>
      </p:sp>
      <p:sp>
        <p:nvSpPr>
          <p:cNvPr id="22" name="Ladder when 5"/>
          <p:cNvSpPr txBox="1"/>
          <p:nvPr/>
        </p:nvSpPr>
        <p:spPr>
          <a:xfrm>
            <a:off x="5074920" y="4992624"/>
            <a:ext cx="257860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>
              <a:lnSpc>
                <a:spcPct val="90000"/>
              </a:lnSpc>
            </a:pPr>
            <a:r>
              <a:rPr sz="1900" b="1" i="0">
                <a:solidFill>
                  <a:srgbClr val="0C1A28"/>
                </a:solidFill>
                <a:latin typeface="Arial Narrow" panose="020B0606020202030204" pitchFamily="34" charset="0"/>
              </a:rPr>
              <a:t>+5–30 s</a:t>
            </a:r>
          </a:p>
          <a:p>
            <a:pPr algn="r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assumed, not measured</a:t>
            </a:r>
          </a:p>
        </p:txBody>
      </p:sp>
      <p:sp>
        <p:nvSpPr>
          <p:cNvPr id="23" name="Ladder source"/>
          <p:cNvSpPr txBox="1"/>
          <p:nvPr/>
        </p:nvSpPr>
        <p:spPr>
          <a:xfrm>
            <a:off x="548640" y="5715000"/>
            <a:ext cx="726948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Tier 0: physics simulation of Hawk-Eye-class tracking. Tiers 2–4: live books vs the WTA's public point log, read after the fact (stamp-to-bounce lag is inferred, not measured). Streams: assumption.</a:t>
            </a:r>
          </a:p>
        </p:txBody>
      </p:sp>
      <p:sp>
        <p:nvSpPr>
          <p:cNvPr id="24" name="Label: WHO PAYS WHOM"/>
          <p:cNvSpPr txBox="1"/>
          <p:nvPr/>
        </p:nvSpPr>
        <p:spPr>
          <a:xfrm>
            <a:off x="8275320" y="1591056"/>
            <a:ext cx="33677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WHO PAYS WHOM</a:t>
            </a:r>
          </a:p>
        </p:txBody>
      </p:sp>
      <p:sp>
        <p:nvSpPr>
          <p:cNvPr id="25" name="Leverage value"/>
          <p:cNvSpPr txBox="1"/>
          <p:nvPr/>
        </p:nvSpPr>
        <p:spPr>
          <a:xfrm>
            <a:off x="8275320" y="1783080"/>
            <a:ext cx="3367735" cy="7772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5000" b="1" i="0">
                <a:solidFill>
                  <a:srgbClr val="27598B"/>
                </a:solidFill>
                <a:latin typeface="Arial Narrow" panose="020B0606020202030204" pitchFamily="34" charset="0"/>
              </a:rPr>
              <a:t>$4.2</a:t>
            </a:r>
          </a:p>
        </p:txBody>
      </p:sp>
      <p:sp>
        <p:nvSpPr>
          <p:cNvPr id="26" name="Leverage caption"/>
          <p:cNvSpPr txBox="1"/>
          <p:nvPr/>
        </p:nvSpPr>
        <p:spPr>
          <a:xfrm>
            <a:off x="8275320" y="2578608"/>
            <a:ext cx="3367735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total |fair-value move| per $1 share over a simulated ATP best-of-3 (161 points, 5.7% mean per point)</a:t>
            </a:r>
          </a:p>
        </p:txBody>
      </p:sp>
      <p:sp>
        <p:nvSpPr>
          <p:cNvPr id="27" name="Venue value"/>
          <p:cNvSpPr txBox="1"/>
          <p:nvPr/>
        </p:nvSpPr>
        <p:spPr>
          <a:xfrm>
            <a:off x="8275320" y="3310128"/>
            <a:ext cx="3367735" cy="7772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5000" b="1" i="0">
                <a:solidFill>
                  <a:srgbClr val="D1432F"/>
                </a:solidFill>
                <a:latin typeface="Arial Narrow" panose="020B0606020202030204" pitchFamily="34" charset="0"/>
              </a:rPr>
              <a:t>1 s · 5%</a:t>
            </a:r>
          </a:p>
        </p:txBody>
      </p:sp>
      <p:sp>
        <p:nvSpPr>
          <p:cNvPr id="28" name="Venue caption"/>
          <p:cNvSpPr txBox="1"/>
          <p:nvPr/>
        </p:nvSpPr>
        <p:spPr>
          <a:xfrm>
            <a:off x="8275320" y="4105655"/>
            <a:ext cx="3367735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Polymarket's order delay on every marketable sports order (so makers can reprice) and its taker fee rate, × p(1−p)</a:t>
            </a:r>
          </a:p>
        </p:txBody>
      </p:sp>
      <p:sp>
        <p:nvSpPr>
          <p:cNvPr id="29" name="Takeaway panel"/>
          <p:cNvSpPr/>
          <p:nvPr/>
        </p:nvSpPr>
        <p:spPr>
          <a:xfrm>
            <a:off x="8275320" y="4846320"/>
            <a:ext cx="3367735" cy="868680"/>
          </a:xfrm>
          <a:prstGeom prst="roundRect">
            <a:avLst>
              <a:gd name="adj" fmla="val 10526"/>
            </a:avLst>
          </a:prstGeom>
          <a:solidFill>
            <a:srgbClr val="0C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akeaway"/>
          <p:cNvSpPr txBox="1"/>
          <p:nvPr/>
        </p:nvSpPr>
        <p:spPr>
          <a:xfrm>
            <a:off x="8476488" y="4846320"/>
            <a:ext cx="2965399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Arial Narrow" panose="020B0606020202030204" pitchFamily="34" charset="0"/>
              </a:rPr>
              <a:t>The gaps are physical, so they persist.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32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The fast tier wins every month. 3 s later loses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02  ·  EVIDENCE</a:t>
            </a:r>
          </a:p>
        </p:txBody>
      </p:sp>
      <p:sp>
        <p:nvSpPr>
          <p:cNvPr id="5" name="Label: 30 S NET ¢/SHARE BY MONT"/>
          <p:cNvSpPr txBox="1"/>
          <p:nvPr/>
        </p:nvSpPr>
        <p:spPr>
          <a:xfrm>
            <a:off x="548640" y="1572768"/>
            <a:ext cx="7086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30 S NET ¢/SHARE BY MONTH, WALK-FORWARD (PALE = OUT OF SAMPLE)</a:t>
            </a:r>
          </a:p>
        </p:txBody>
      </p:sp>
      <p:graphicFrame>
        <p:nvGraphicFramePr>
          <p:cNvPr id="6" name="Chart: walk-forward months"/>
          <p:cNvGraphicFramePr>
            <a:graphicFrameLocks noGrp="1"/>
          </p:cNvGraphicFramePr>
          <p:nvPr/>
        </p:nvGraphicFramePr>
        <p:xfrm>
          <a:off x="502919" y="1847088"/>
          <a:ext cx="70866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hart caption"/>
          <p:cNvSpPr txBox="1"/>
          <p:nvPr/>
        </p:nvSpPr>
        <p:spPr>
          <a:xfrm>
            <a:off x="548640" y="5120640"/>
            <a:ext cx="708660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30 s markout per taker print, net of its fee. Wallets picked each month from earlier months only. Onset-aligned event study; tradable numbers (slide 5) use the causal window.</a:t>
            </a:r>
          </a:p>
        </p:txBody>
      </p:sp>
      <p:sp>
        <p:nvSpPr>
          <p:cNvPr id="8" name="Months value"/>
          <p:cNvSpPr txBox="1"/>
          <p:nvPr/>
        </p:nvSpPr>
        <p:spPr>
          <a:xfrm>
            <a:off x="7955279" y="1481328"/>
            <a:ext cx="3687775" cy="8412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5400" b="1" i="0">
                <a:solidFill>
                  <a:srgbClr val="27598B"/>
                </a:solidFill>
                <a:latin typeface="Arial Narrow" panose="020B0606020202030204" pitchFamily="34" charset="0"/>
              </a:rPr>
              <a:t>11/11</a:t>
            </a:r>
          </a:p>
        </p:txBody>
      </p:sp>
      <p:sp>
        <p:nvSpPr>
          <p:cNvPr id="9" name="Months caption"/>
          <p:cNvSpPr txBox="1"/>
          <p:nvPr/>
        </p:nvSpPr>
        <p:spPr>
          <a:xfrm>
            <a:off x="7955279" y="2340864"/>
            <a:ext cx="36877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months the fast tier made money: 8 in sample + 3/3 out of sample. H6 came after the in-sample wallet study, so only the out-of-sample months test it</a:t>
            </a:r>
          </a:p>
        </p:txBody>
      </p:sp>
      <p:sp>
        <p:nvSpPr>
          <p:cNvPr id="10" name="Copy value"/>
          <p:cNvSpPr txBox="1"/>
          <p:nvPr/>
        </p:nvSpPr>
        <p:spPr>
          <a:xfrm>
            <a:off x="7955279" y="3291840"/>
            <a:ext cx="3687775" cy="8412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5400" b="1" i="0">
                <a:solidFill>
                  <a:srgbClr val="D1432F"/>
                </a:solidFill>
                <a:latin typeface="Arial Narrow" panose="020B0606020202030204" pitchFamily="34" charset="0"/>
              </a:rPr>
              <a:t>11/11</a:t>
            </a:r>
          </a:p>
        </p:txBody>
      </p:sp>
      <p:sp>
        <p:nvSpPr>
          <p:cNvPr id="11" name="Copy caption"/>
          <p:cNvSpPr txBox="1"/>
          <p:nvPr/>
        </p:nvSpPr>
        <p:spPr>
          <a:xfrm>
            <a:off x="7955279" y="4151376"/>
            <a:ext cx="3687775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months copying their exact trades ~3 s later lost money (everyone else in the window: 11/11 negative)</a:t>
            </a:r>
          </a:p>
        </p:txBody>
      </p:sp>
      <p:sp>
        <p:nvSpPr>
          <p:cNvPr id="12" name="U2 gap"/>
          <p:cNvSpPr txBox="1"/>
          <p:nvPr/>
        </p:nvSpPr>
        <p:spPr>
          <a:xfrm>
            <a:off x="7955279" y="4800600"/>
            <a:ext cx="3687775" cy="7315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50" b="1" i="0" spc="120">
                <a:solidFill>
                  <a:srgbClr val="27598B"/>
                </a:solidFill>
                <a:latin typeface="Arial" panose="020B0604020202020204" pitchFamily="34" charset="0"/>
              </a:rPr>
              <a:t>BLIND, ON UNSEEN MARKETS</a:t>
            </a:r>
          </a:p>
          <a:p>
            <a:pPr algn="l"/>
            <a:r>
              <a:rPr sz="1200" b="0" i="0">
                <a:solidFill>
                  <a:srgbClr val="0C1A28"/>
                </a:solidFill>
                <a:latin typeface="Arial" panose="020B0604020202020204" pitchFamily="34" charset="0"/>
              </a:rPr>
              <a:t>Fast tier minus everyone else on 11,307 never-examined markets: +3.09¢ in sample, +2.16¢ [1.79, 2.53] out of sample.</a:t>
            </a:r>
          </a:p>
        </p:txBody>
      </p:sp>
      <p:sp>
        <p:nvSpPr>
          <p:cNvPr id="13" name="Takeaway panel"/>
          <p:cNvSpPr/>
          <p:nvPr/>
        </p:nvSpPr>
        <p:spPr>
          <a:xfrm>
            <a:off x="548640" y="5623560"/>
            <a:ext cx="11094415" cy="713232"/>
          </a:xfrm>
          <a:prstGeom prst="roundRect">
            <a:avLst>
              <a:gd name="adj" fmla="val 12820"/>
            </a:avLst>
          </a:prstGeom>
          <a:solidFill>
            <a:srgbClr val="0C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akeaway"/>
          <p:cNvSpPr txBox="1"/>
          <p:nvPr/>
        </p:nvSpPr>
        <p:spPr>
          <a:xfrm>
            <a:off x="822959" y="5623560"/>
            <a:ext cx="10545775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rial Narrow" panose="020B0606020202030204" pitchFamily="34" charset="0"/>
              </a:rPr>
              <a:t>Same wallets, same trades, 3 s later: negative.  </a:t>
            </a:r>
            <a:r>
              <a:rPr sz="2100" b="1" i="0">
                <a:solidFill>
                  <a:srgbClr val="F07A66"/>
                </a:solidFill>
                <a:latin typeface="Arial Narrow" panose="020B0606020202030204" pitchFamily="34" charset="0"/>
              </a:rPr>
              <a:t>The edge is speed.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6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Our CV calls the point before the ball lands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03  ·  INNOVATION</a:t>
            </a:r>
          </a:p>
        </p:txBody>
      </p:sp>
      <p:sp>
        <p:nvSpPr>
          <p:cNvPr id="5" name="Video frame"/>
          <p:cNvSpPr/>
          <p:nvPr/>
        </p:nvSpPr>
        <p:spPr>
          <a:xfrm>
            <a:off x="512063" y="1655064"/>
            <a:ext cx="6976872" cy="3956494"/>
          </a:xfrm>
          <a:prstGeom prst="roundRect">
            <a:avLst>
              <a:gd name="adj" fmla="val 1386"/>
            </a:avLst>
          </a:prstGeom>
          <a:solidFill>
            <a:srgbClr val="0C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Video: real-footage early calls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91640"/>
            <a:ext cx="6903720" cy="3883342"/>
          </a:xfrm>
          <a:prstGeom prst="rect">
            <a:avLst/>
          </a:prstGeom>
        </p:spPr>
      </p:pic>
      <p:sp>
        <p:nvSpPr>
          <p:cNvPr id="8" name="Video caption and credit"/>
          <p:cNvSpPr txBox="1"/>
          <p:nvPr/>
        </p:nvSpPr>
        <p:spPr>
          <a:xfrm>
            <a:off x="548640" y="5666422"/>
            <a:ext cx="6903720" cy="60350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>
                <a:solidFill>
                  <a:srgbClr val="0C1A28"/>
                </a:solidFill>
                <a:latin typeface="Arial" panose="020B0604020202020204" pitchFamily="34" charset="0"/>
              </a:rPr>
              <a:t>Real 120 fps table-tennis footage: OpenTTGames (lab.osai.ai), CC BY-NC-SA 4.0. </a:t>
            </a:r>
            <a:r>
              <a:rPr sz="1100" b="0" i="0">
                <a:solidFill>
                  <a:srgbClr val="566676"/>
                </a:solidFill>
                <a:latin typeface="Arial" panose="020B0604020202020204" pitchFamily="34" charset="0"/>
              </a:rPr>
              <a:t>Held-out games, frozen model, run on HiPerGator; clips selected for presentation.</a:t>
            </a:r>
          </a:p>
        </p:txBody>
      </p:sp>
      <p:sp>
        <p:nvSpPr>
          <p:cNvPr id="9" name="Calls value"/>
          <p:cNvSpPr txBox="1"/>
          <p:nvPr/>
        </p:nvSpPr>
        <p:spPr>
          <a:xfrm>
            <a:off x="7863840" y="1417320"/>
            <a:ext cx="3779215" cy="7772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4800" b="1" i="0">
                <a:solidFill>
                  <a:srgbClr val="D1432F"/>
                </a:solidFill>
                <a:latin typeface="Arial Narrow" panose="020B0606020202030204" pitchFamily="34" charset="0"/>
              </a:rPr>
              <a:t>11/11</a:t>
            </a:r>
          </a:p>
        </p:txBody>
      </p:sp>
      <p:sp>
        <p:nvSpPr>
          <p:cNvPr id="10" name="Calls caption"/>
          <p:cNvSpPr txBox="1"/>
          <p:nvPr/>
        </p:nvSpPr>
        <p:spPr>
          <a:xfrm>
            <a:off x="7863840" y="2212848"/>
            <a:ext cx="3779215" cy="8686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miss calls correct 50 ms before contact on held-out games. Called 11 of 41 misses (recall 27%); 95% lower bound 74%</a:t>
            </a:r>
          </a:p>
        </p:txBody>
      </p:sp>
      <p:sp>
        <p:nvSpPr>
          <p:cNvPr id="11" name="Tracking value"/>
          <p:cNvSpPr txBox="1"/>
          <p:nvPr/>
        </p:nvSpPr>
        <p:spPr>
          <a:xfrm>
            <a:off x="7863840" y="3108960"/>
            <a:ext cx="3779215" cy="7772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4800" b="1" i="0">
                <a:solidFill>
                  <a:srgbClr val="27598B"/>
                </a:solidFill>
                <a:latin typeface="Arial Narrow" panose="020B0606020202030204" pitchFamily="34" charset="0"/>
              </a:rPr>
              <a:t>97.7%</a:t>
            </a:r>
          </a:p>
        </p:txBody>
      </p:sp>
      <p:sp>
        <p:nvSpPr>
          <p:cNvPr id="12" name="Tracking caption"/>
          <p:cNvSpPr txBox="1"/>
          <p:nvPr/>
        </p:nvSpPr>
        <p:spPr>
          <a:xfrm>
            <a:off x="7863840" y="3904487"/>
            <a:ext cx="3779215" cy="5029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of labelled held-out frames tracked within 5 px (ball found in 99.7%)</a:t>
            </a:r>
          </a:p>
        </p:txBody>
      </p:sp>
      <p:sp>
        <p:nvSpPr>
          <p:cNvPr id="13" name="Latency value"/>
          <p:cNvSpPr txBox="1"/>
          <p:nvPr/>
        </p:nvSpPr>
        <p:spPr>
          <a:xfrm>
            <a:off x="7863840" y="4434840"/>
            <a:ext cx="3779215" cy="7772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4800" b="1" i="0">
                <a:solidFill>
                  <a:srgbClr val="0C1A28"/>
                </a:solidFill>
                <a:latin typeface="Arial Narrow" panose="020B0606020202030204" pitchFamily="34" charset="0"/>
              </a:rPr>
              <a:t>100 ms</a:t>
            </a:r>
          </a:p>
        </p:txBody>
      </p:sp>
      <p:sp>
        <p:nvSpPr>
          <p:cNvPr id="14" name="Latency caption"/>
          <p:cNvSpPr txBox="1"/>
          <p:nvPr/>
        </p:nvSpPr>
        <p:spPr>
          <a:xfrm>
            <a:off x="7863840" y="5230367"/>
            <a:ext cx="3779215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vision processing per call, median (p90 153 ms). The laptop sustains 51 fps, below 120: a venue box needs a GPU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6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4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5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v2: in sample vs out of sample, and costs doubled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04  ·  PERFORMANCE</a:t>
            </a:r>
          </a:p>
        </p:txBody>
      </p:sp>
      <p:sp>
        <p:nvSpPr>
          <p:cNvPr id="5" name="Fills strip"/>
          <p:cNvSpPr/>
          <p:nvPr/>
        </p:nvSpPr>
        <p:spPr>
          <a:xfrm>
            <a:off x="548640" y="1517904"/>
            <a:ext cx="11094415" cy="347472"/>
          </a:xfrm>
          <a:prstGeom prst="roundRect">
            <a:avLst>
              <a:gd name="adj" fmla="val 15789"/>
            </a:avLst>
          </a:prstGeom>
          <a:solidFill>
            <a:srgbClr val="FB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lls caveat"/>
          <p:cNvSpPr txBox="1"/>
          <p:nvPr/>
        </p:nvSpPr>
        <p:spPr>
          <a:xfrm>
            <a:off x="713232" y="1517904"/>
            <a:ext cx="10765231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D1432F"/>
                </a:solidFill>
                <a:latin typeface="Arial" panose="020B0604020202020204" pitchFamily="34" charset="0"/>
              </a:rPr>
              <a:t>Paper book on the fast tier's own fills: </a:t>
            </a:r>
            <a:r>
              <a:rPr sz="1200" b="0" i="0">
                <a:solidFill>
                  <a:srgbClr val="0C1A28"/>
                </a:solidFill>
                <a:latin typeface="Arial" panose="020B0604020202020204" pitchFamily="34" charset="0"/>
              </a:rPr>
              <a:t>it prices the opportunity at their speed, not our execution. Out of sample is burned (v2 was designed after v1 failed there) and labelled non-blind.</a:t>
            </a:r>
          </a:p>
        </p:txBody>
      </p:sp>
      <p:sp>
        <p:nvSpPr>
          <p:cNvPr id="7" name="Label: NET ¢/SHARE, HELD TO RES"/>
          <p:cNvSpPr txBox="1"/>
          <p:nvPr/>
        </p:nvSpPr>
        <p:spPr>
          <a:xfrm>
            <a:off x="548640" y="1975104"/>
            <a:ext cx="512064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NET ¢/SHARE, HELD TO RESOLUTION, BY COST CASE</a:t>
            </a:r>
          </a:p>
        </p:txBody>
      </p:sp>
      <p:graphicFrame>
        <p:nvGraphicFramePr>
          <p:cNvPr id="8" name="Chart: v2 by cost case"/>
          <p:cNvGraphicFramePr>
            <a:graphicFrameLocks noGrp="1"/>
          </p:cNvGraphicFramePr>
          <p:nvPr/>
        </p:nvGraphicFramePr>
        <p:xfrm>
          <a:off x="502919" y="2240280"/>
          <a:ext cx="51663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Chart note"/>
          <p:cNvSpPr txBox="1"/>
          <p:nvPr/>
        </p:nvSpPr>
        <p:spPr>
          <a:xfrm>
            <a:off x="548640" y="5715000"/>
            <a:ext cx="512064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In sample 206 days, burned OOS 40 days. Fees ×2: each match's own fee rate doubled. All costs ×2: fees doubled plus half a tick of spread. Book held fixed.</a:t>
            </a:r>
          </a:p>
        </p:txBody>
      </p:sp>
      <p:graphicFrame>
        <p:nvGraphicFramePr>
          <p:cNvPr id="10" name="Table: v2 IS vs OOS"/>
          <p:cNvGraphicFramePr>
            <a:graphicFrameLocks noGrp="1"/>
          </p:cNvGraphicFramePr>
          <p:nvPr/>
        </p:nvGraphicFramePr>
        <p:xfrm>
          <a:off x="5897880" y="1975104"/>
          <a:ext cx="5745175" cy="286207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1600"/>
                <a:gridCol w="1463040"/>
                <a:gridCol w="1463040"/>
                <a:gridCol w="1447495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v2, causal window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9FB3C8"/>
                          </a:solidFill>
                          <a:latin typeface="Arial" panose="020B0604020202020204" pitchFamily="34" charset="0"/>
                        </a:rPr>
                        <a:t>net of fees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In sample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9FB3C8"/>
                          </a:solidFill>
                          <a:latin typeface="Arial" panose="020B0604020202020204" pitchFamily="34" charset="0"/>
                        </a:rPr>
                        <a:t>frozen rules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Burned OOS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9FB3C8"/>
                          </a:solidFill>
                          <a:latin typeface="Arial" panose="020B0604020202020204" pitchFamily="34" charset="0"/>
                        </a:rPr>
                        <a:t>non-blind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Forward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9FB3C8"/>
                          </a:solidFill>
                          <a:latin typeface="Arial" panose="020B0604020202020204" pitchFamily="34" charset="0"/>
                        </a:rPr>
                        <a:t>blind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Net ¢/share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27598B"/>
                          </a:solidFill>
                          <a:latin typeface="Arial Narrow" panose="020B0606020202030204" pitchFamily="34" charset="0"/>
                        </a:rPr>
                        <a:t>+1.38¢</a:t>
                      </a:r>
                    </a:p>
                    <a:p>
                      <a:pPr algn="l"/>
                      <a:r>
                        <a:rPr sz="10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[1.17, 1.59]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27598B"/>
                          </a:solidFill>
                          <a:latin typeface="Arial Narrow" panose="020B0606020202030204" pitchFamily="34" charset="0"/>
                        </a:rPr>
                        <a:t>+0.60¢</a:t>
                      </a:r>
                    </a:p>
                    <a:p>
                      <a:pPr algn="l"/>
                      <a:r>
                        <a:rPr sz="10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[0.09, 1.13]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 rowSpan="5"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pending</a:t>
                      </a:r>
                    </a:p>
                    <a:p>
                      <a:pPr algn="l"/>
                      <a:r>
                        <a:rPr sz="1050" b="0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runs once, tomorrow</a:t>
                      </a:r>
                    </a:p>
                    <a:p>
                      <a:pPr algn="l"/>
                      <a:r>
                        <a:rPr sz="10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reported either way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Sharpe · DD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14.5 · −2.0%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6.7 · −2.1%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Months &gt; 0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7/7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2/3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P&amp;L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+$40.4k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on $28.3k capital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+$3.7k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on $22.8k capital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 vMerge="1"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/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Fees ×2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+0.77¢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−0.34¢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 vMerge="1"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/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solidFill>
                      <a:srgbClr val="FBEAE6"/>
                    </a:solidFill>
                  </a:tcPr>
                </a:tc>
              </a:tr>
            </a:tbl>
          </a:graphicData>
        </a:graphic>
      </p:graphicFrame>
      <p:sp>
        <p:nvSpPr>
          <p:cNvPr id="11" name="v1 card"/>
          <p:cNvSpPr/>
          <p:nvPr/>
        </p:nvSpPr>
        <p:spPr>
          <a:xfrm>
            <a:off x="5897880" y="4937760"/>
            <a:ext cx="574517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v1 note"/>
          <p:cNvSpPr txBox="1"/>
          <p:nvPr/>
        </p:nvSpPr>
        <p:spPr>
          <a:xfrm>
            <a:off x="6126480" y="4937760"/>
            <a:ext cx="5287975" cy="1371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100" b="1" i="0" spc="120">
                <a:solidFill>
                  <a:srgbClr val="27598B"/>
                </a:solidFill>
                <a:latin typeface="Arial" panose="020B0604020202020204" pitchFamily="34" charset="0"/>
              </a:rPr>
              <a:t>WHY v2 EXISTS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0C1A28"/>
                </a:solidFill>
                <a:latin typeface="Arial" panose="020B0604020202020204" pitchFamily="34" charset="0"/>
              </a:rPr>
              <a:t>v1 copied the fast tier's tickets and lost $36.1k out of sample (max DD −75%): big tickets on cheap tokens. v2 adds a causal window, fee-beating wallets, risk-parity size, a net cap per match and hold-to-resolution. With fees doubled, out of sample it loses.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4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test we ran, including the ones we failed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05  ·  RIGOR AND BLIND TESTS</a:t>
            </a:r>
          </a:p>
        </p:txBody>
      </p:sp>
      <p:sp>
        <p:nvSpPr>
          <p:cNvPr id="5" name="Label: RIGOR PACK (results/rigo"/>
          <p:cNvSpPr txBox="1"/>
          <p:nvPr/>
        </p:nvSpPr>
        <p:spPr>
          <a:xfrm>
            <a:off x="548640" y="1572768"/>
            <a:ext cx="45720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RIGOR PACK (results/rigor/rigor.json)</a:t>
            </a:r>
          </a:p>
        </p:txBody>
      </p:sp>
      <p:sp>
        <p:nvSpPr>
          <p:cNvPr id="6" name="Rigor tile 0"/>
          <p:cNvSpPr/>
          <p:nvPr/>
        </p:nvSpPr>
        <p:spPr>
          <a:xfrm>
            <a:off x="548640" y="1901952"/>
            <a:ext cx="2194560" cy="2057400"/>
          </a:xfrm>
          <a:prstGeom prst="roundRect">
            <a:avLst>
              <a:gd name="adj" fmla="val 355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or value 0"/>
          <p:cNvSpPr txBox="1"/>
          <p:nvPr/>
        </p:nvSpPr>
        <p:spPr>
          <a:xfrm>
            <a:off x="713232" y="2011680"/>
            <a:ext cx="1865376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3400" b="1" i="0">
                <a:solidFill>
                  <a:srgbClr val="27598B"/>
                </a:solidFill>
                <a:latin typeface="Arial Narrow" panose="020B0606020202030204" pitchFamily="34" charset="0"/>
              </a:rPr>
              <a:t>1.00</a:t>
            </a:r>
          </a:p>
        </p:txBody>
      </p:sp>
      <p:sp>
        <p:nvSpPr>
          <p:cNvPr id="8" name="Rigor caption 0"/>
          <p:cNvSpPr txBox="1"/>
          <p:nvPr/>
        </p:nvSpPr>
        <p:spPr>
          <a:xfrm>
            <a:off x="713232" y="2798064"/>
            <a:ext cx="1865376" cy="106984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200" b="0" i="0">
                <a:solidFill>
                  <a:srgbClr val="0C1A28"/>
                </a:solidFill>
                <a:latin typeface="Arial" panose="020B0604020202020204" pitchFamily="34" charset="0"/>
              </a:rPr>
              <a:t>deflated Sharpe, in sample, N = 3,386 trials</a:t>
            </a:r>
          </a:p>
        </p:txBody>
      </p:sp>
      <p:sp>
        <p:nvSpPr>
          <p:cNvPr id="9" name="Rigor tile 1"/>
          <p:cNvSpPr/>
          <p:nvPr/>
        </p:nvSpPr>
        <p:spPr>
          <a:xfrm>
            <a:off x="2880360" y="1901952"/>
            <a:ext cx="2194560" cy="2057400"/>
          </a:xfrm>
          <a:prstGeom prst="roundRect">
            <a:avLst>
              <a:gd name="adj" fmla="val 355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or value 1"/>
          <p:cNvSpPr txBox="1"/>
          <p:nvPr/>
        </p:nvSpPr>
        <p:spPr>
          <a:xfrm>
            <a:off x="3044952" y="2011680"/>
            <a:ext cx="1865376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3400" b="1" i="0">
                <a:solidFill>
                  <a:srgbClr val="D1432F"/>
                </a:solidFill>
                <a:latin typeface="Arial Narrow" panose="020B0606020202030204" pitchFamily="34" charset="0"/>
              </a:rPr>
              <a:t>0.075</a:t>
            </a:r>
          </a:p>
        </p:txBody>
      </p:sp>
      <p:sp>
        <p:nvSpPr>
          <p:cNvPr id="11" name="Rigor caption 1"/>
          <p:cNvSpPr txBox="1"/>
          <p:nvPr/>
        </p:nvSpPr>
        <p:spPr>
          <a:xfrm>
            <a:off x="3044952" y="2798064"/>
            <a:ext cx="1865376" cy="106984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200" b="0" i="0">
                <a:solidFill>
                  <a:srgbClr val="0C1A28"/>
                </a:solidFill>
                <a:latin typeface="Arial" panose="020B0604020202020204" pitchFamily="34" charset="0"/>
              </a:rPr>
              <a:t>deflated Sharpe, burned OOS at N = 3,386 (0.481 at N = 44): 40 days can't rule out luck</a:t>
            </a:r>
          </a:p>
        </p:txBody>
      </p:sp>
      <p:sp>
        <p:nvSpPr>
          <p:cNvPr id="12" name="Rigor tile 2"/>
          <p:cNvSpPr/>
          <p:nvPr/>
        </p:nvSpPr>
        <p:spPr>
          <a:xfrm>
            <a:off x="548640" y="4096512"/>
            <a:ext cx="2194560" cy="2057400"/>
          </a:xfrm>
          <a:prstGeom prst="roundRect">
            <a:avLst>
              <a:gd name="adj" fmla="val 355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or value 2"/>
          <p:cNvSpPr txBox="1"/>
          <p:nvPr/>
        </p:nvSpPr>
        <p:spPr>
          <a:xfrm>
            <a:off x="713232" y="4206240"/>
            <a:ext cx="1865376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3400" b="1" i="0">
                <a:solidFill>
                  <a:srgbClr val="27598B"/>
                </a:solidFill>
                <a:latin typeface="Arial Narrow" panose="020B0606020202030204" pitchFamily="34" charset="0"/>
              </a:rPr>
              <a:t>15.4%</a:t>
            </a:r>
          </a:p>
        </p:txBody>
      </p:sp>
      <p:sp>
        <p:nvSpPr>
          <p:cNvPr id="14" name="Rigor caption 2"/>
          <p:cNvSpPr txBox="1"/>
          <p:nvPr/>
        </p:nvSpPr>
        <p:spPr>
          <a:xfrm>
            <a:off x="713232" y="4992624"/>
            <a:ext cx="1865376" cy="106984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200" b="0" i="0">
                <a:solidFill>
                  <a:srgbClr val="0C1A28"/>
                </a:solidFill>
                <a:latin typeface="Arial" panose="020B0604020202020204" pitchFamily="34" charset="0"/>
              </a:rPr>
              <a:t>probability of backtest overfitting, v2-safe grid (0.0% on the sizing grid)</a:t>
            </a:r>
          </a:p>
        </p:txBody>
      </p:sp>
      <p:sp>
        <p:nvSpPr>
          <p:cNvPr id="15" name="Rigor tile 3"/>
          <p:cNvSpPr/>
          <p:nvPr/>
        </p:nvSpPr>
        <p:spPr>
          <a:xfrm>
            <a:off x="2880360" y="4096512"/>
            <a:ext cx="2194560" cy="2057400"/>
          </a:xfrm>
          <a:prstGeom prst="roundRect">
            <a:avLst>
              <a:gd name="adj" fmla="val 355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or value 3"/>
          <p:cNvSpPr txBox="1"/>
          <p:nvPr/>
        </p:nvSpPr>
        <p:spPr>
          <a:xfrm>
            <a:off x="3044952" y="4206240"/>
            <a:ext cx="1865376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2400" b="1" i="0">
                <a:solidFill>
                  <a:srgbClr val="0C1A28"/>
                </a:solidFill>
                <a:latin typeface="Arial Narrow" panose="020B0606020202030204" pitchFamily="34" charset="0"/>
              </a:rPr>
              <a:t>[1.9, 12.3]</a:t>
            </a:r>
          </a:p>
        </p:txBody>
      </p:sp>
      <p:sp>
        <p:nvSpPr>
          <p:cNvPr id="17" name="Rigor caption 3"/>
          <p:cNvSpPr txBox="1"/>
          <p:nvPr/>
        </p:nvSpPr>
        <p:spPr>
          <a:xfrm>
            <a:off x="3044952" y="4992624"/>
            <a:ext cx="1865376" cy="106984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200" b="0" i="0">
                <a:solidFill>
                  <a:srgbClr val="0C1A28"/>
                </a:solidFill>
                <a:latin typeface="Arial" panose="020B0604020202020204" pitchFamily="34" charset="0"/>
              </a:rPr>
              <a:t>block-bootstrap 95% CI of the burned-OOS Sharpe</a:t>
            </a:r>
          </a:p>
        </p:txBody>
      </p:sp>
      <p:sp>
        <p:nvSpPr>
          <p:cNvPr id="18" name="Label: TESTS, IN THE ORDER WE R"/>
          <p:cNvSpPr txBox="1"/>
          <p:nvPr/>
        </p:nvSpPr>
        <p:spPr>
          <a:xfrm>
            <a:off x="5440680" y="1572768"/>
            <a:ext cx="620237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TESTS, IN THE ORDER WE RAN THEM</a:t>
            </a:r>
          </a:p>
        </p:txBody>
      </p:sp>
      <p:graphicFrame>
        <p:nvGraphicFramePr>
          <p:cNvPr id="19" name="Table: tests"/>
          <p:cNvGraphicFramePr>
            <a:graphicFrameLocks noGrp="1"/>
          </p:cNvGraphicFramePr>
          <p:nvPr/>
        </p:nvGraphicFramePr>
        <p:xfrm>
          <a:off x="5440680" y="1901952"/>
          <a:ext cx="6202375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81935"/>
                <a:gridCol w="2377440"/>
                <a:gridCol w="11430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Test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Result (¢/share, 95% CI)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Verdict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Fast tier, walk-forward, OOS months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3/3 months &gt; 0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7598B"/>
                          </a:solidFill>
                          <a:latin typeface="Arial" panose="020B0604020202020204" pitchFamily="34" charset="0"/>
                        </a:rPr>
                        <a:t>PASS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E4EC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v2, burned OOS (non-blind)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+0.60¢ [0.09, 1.13]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POSITIVE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v2, burned OOS, fees ×2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−0.34¢ [−0.86, 0.19]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NEGATIVE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Blind: v2 on unseen markets, IS period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+2.02¢ [1.14, 2.93]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7598B"/>
                          </a:solidFill>
                          <a:latin typeface="Arial" panose="020B0604020202020204" pitchFamily="34" charset="0"/>
                        </a:rPr>
                        <a:t>PASS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E4EC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Blind: v2 on unseen markets, OOS period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+1.22¢ [−0.19, 2.65]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FAIL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Blind: maker v1, side markets, OOS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+1.87¢ [−0.14, 3.86], −$379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FAIL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Table tennis, same mechanism (TT1–TT3)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no fast tier, no trades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FAIL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FBEA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Blind forward test (run once)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tomorrow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pending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" name="Peeks note"/>
          <p:cNvSpPr txBox="1"/>
          <p:nvPr/>
        </p:nvSpPr>
        <p:spPr>
          <a:xfrm>
            <a:off x="5440680" y="5943600"/>
            <a:ext cx="6202375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50" b="0" i="0">
                <a:solidFill>
                  <a:srgbClr val="566676"/>
                </a:solidFill>
                <a:latin typeface="Arial" panose="020B0604020202020204" pitchFamily="34" charset="0"/>
              </a:rPr>
              <a:t>Every look at held-out data is logged: 45 lines in results/oos_peeks.log. Failures stay in the record.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22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Tier 0, priced: positive if the book reprices late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06  ·  WHAT THE CV EDGE COULD BUY (COUNTERFACTUAL)</a:t>
            </a:r>
          </a:p>
        </p:txBody>
      </p:sp>
      <p:sp>
        <p:nvSpPr>
          <p:cNvPr id="5" name="Counterfactual banner"/>
          <p:cNvSpPr/>
          <p:nvPr/>
        </p:nvSpPr>
        <p:spPr>
          <a:xfrm>
            <a:off x="548640" y="1517904"/>
            <a:ext cx="11094415" cy="384048"/>
          </a:xfrm>
          <a:prstGeom prst="roundRect">
            <a:avLst>
              <a:gd name="adj" fmla="val 14285"/>
            </a:avLst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unterfactual label"/>
          <p:cNvSpPr txBox="1"/>
          <p:nvPr/>
        </p:nvSpPr>
        <p:spPr>
          <a:xfrm>
            <a:off x="731520" y="1517904"/>
            <a:ext cx="10728655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 panose="020B0604020202020204" pitchFamily="34" charset="0"/>
              </a:rPr>
              <a:t>COUNTERFACTUAL: assumes a licensed live feed + courtside camera (not purchased); parameters measured</a:t>
            </a:r>
          </a:p>
        </p:txBody>
      </p:sp>
      <p:sp>
        <p:nvSpPr>
          <p:cNvPr id="7" name="T0 card 0"/>
          <p:cNvSpPr/>
          <p:nvPr/>
        </p:nvSpPr>
        <p:spPr>
          <a:xfrm>
            <a:off x="548640" y="2103120"/>
            <a:ext cx="39319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0 text 0"/>
          <p:cNvSpPr txBox="1"/>
          <p:nvPr/>
        </p:nvSpPr>
        <p:spPr>
          <a:xfrm>
            <a:off x="749808" y="2194560"/>
            <a:ext cx="3566160" cy="14630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50" b="1" i="0" spc="110">
                <a:solidFill>
                  <a:srgbClr val="27598B"/>
                </a:solidFill>
                <a:latin typeface="Arial" panose="020B0604020202020204" pitchFamily="34" charset="0"/>
              </a:rPr>
              <a:t>IN SAMPLE (1 s-delay matches)</a:t>
            </a:r>
          </a:p>
          <a:p>
            <a:pPr algn="l">
              <a:spcBef>
                <a:spcPts val="200"/>
              </a:spcBef>
            </a:pPr>
            <a:r>
              <a:rPr sz="3400" b="1" i="0">
                <a:solidFill>
                  <a:srgbClr val="27598B"/>
                </a:solidFill>
                <a:latin typeface="Arial Narrow" panose="020B0606020202030204" pitchFamily="34" charset="0"/>
              </a:rPr>
              <a:t>+1.10¢</a:t>
            </a:r>
            <a:r>
              <a:rPr sz="1200" b="0" i="0">
                <a:solidFill>
                  <a:srgbClr val="566676"/>
                </a:solidFill>
                <a:latin typeface="Arial" panose="020B0604020202020204" pitchFamily="34" charset="0"/>
              </a:rPr>
              <a:t>  [0.82, 1.38]</a:t>
            </a:r>
          </a:p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Sharpe 11.4 ± 2.5  ·  $88.8/day</a:t>
            </a:r>
          </a:p>
          <a:p>
            <a:pPr algn="l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20-seed mean, 103 days</a:t>
            </a:r>
          </a:p>
        </p:txBody>
      </p:sp>
      <p:sp>
        <p:nvSpPr>
          <p:cNvPr id="9" name="T0 card 1"/>
          <p:cNvSpPr/>
          <p:nvPr/>
        </p:nvSpPr>
        <p:spPr>
          <a:xfrm>
            <a:off x="548640" y="3886200"/>
            <a:ext cx="39319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0 text 1"/>
          <p:cNvSpPr txBox="1"/>
          <p:nvPr/>
        </p:nvSpPr>
        <p:spPr>
          <a:xfrm>
            <a:off x="749808" y="3977639"/>
            <a:ext cx="3566160" cy="14630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50" b="1" i="0" spc="110">
                <a:solidFill>
                  <a:srgbClr val="27598B"/>
                </a:solidFill>
                <a:latin typeface="Arial" panose="020B0604020202020204" pitchFamily="34" charset="0"/>
              </a:rPr>
              <a:t>BURNED OOS (non-blind)</a:t>
            </a:r>
          </a:p>
          <a:p>
            <a:pPr algn="l">
              <a:spcBef>
                <a:spcPts val="200"/>
              </a:spcBef>
            </a:pPr>
            <a:r>
              <a:rPr sz="3400" b="1" i="0">
                <a:solidFill>
                  <a:srgbClr val="D1432F"/>
                </a:solidFill>
                <a:latin typeface="Arial Narrow" panose="020B0606020202030204" pitchFamily="34" charset="0"/>
              </a:rPr>
              <a:t>+0.58¢</a:t>
            </a:r>
            <a:r>
              <a:rPr sz="1200" b="0" i="0">
                <a:solidFill>
                  <a:srgbClr val="566676"/>
                </a:solidFill>
                <a:latin typeface="Arial" panose="020B0604020202020204" pitchFamily="34" charset="0"/>
              </a:rPr>
              <a:t>  [−0.08, 1.21]</a:t>
            </a:r>
          </a:p>
          <a:p>
            <a:pPr algn="l"/>
            <a:r>
              <a:rPr sz="1300" b="0" i="0">
                <a:solidFill>
                  <a:srgbClr val="0C1A28"/>
                </a:solidFill>
                <a:latin typeface="Arial" panose="020B0604020202020204" pitchFamily="34" charset="0"/>
              </a:rPr>
              <a:t>Sharpe 7.3 ± 5.9  ·  $46.4/day</a:t>
            </a:r>
          </a:p>
          <a:p>
            <a:pPr algn="l"/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20-seed mean, 40 days</a:t>
            </a:r>
          </a:p>
        </p:txBody>
      </p:sp>
      <p:sp>
        <p:nvSpPr>
          <p:cNvPr id="11" name="Label: NET ¢/SHARE VS SECONDS F"/>
          <p:cNvSpPr txBox="1"/>
          <p:nvPr/>
        </p:nvSpPr>
        <p:spPr>
          <a:xfrm>
            <a:off x="4754879" y="2029968"/>
            <a:ext cx="688817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NET ¢/SHARE VS SECONDS FROM BOUNCE TO BOOK REPRICE (20-SEED MEANS)</a:t>
            </a:r>
          </a:p>
        </p:txBody>
      </p:sp>
      <p:graphicFrame>
        <p:nvGraphicFramePr>
          <p:cNvPr id="12" name="Chart: P&amp;L vs reprice timing"/>
          <p:cNvGraphicFramePr>
            <a:graphicFrameLocks noGrp="1"/>
          </p:cNvGraphicFramePr>
          <p:nvPr/>
        </p:nvGraphicFramePr>
        <p:xfrm>
          <a:off x="4709159" y="2286000"/>
          <a:ext cx="6933895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0 reading"/>
          <p:cNvSpPr txBox="1"/>
          <p:nvPr/>
        </p:nvSpPr>
        <p:spPr>
          <a:xfrm>
            <a:off x="4754879" y="5349240"/>
            <a:ext cx="6888175" cy="10058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250" b="1" i="0">
                <a:solidFill>
                  <a:srgbClr val="0C1A28"/>
                </a:solidFill>
                <a:latin typeface="Arial" panose="020B0604020202020204" pitchFamily="34" charset="0"/>
              </a:rPr>
              <a:t>The sign hinges on one unmeasured number: </a:t>
            </a:r>
            <a:r>
              <a:rPr sz="1250" b="0" i="0">
                <a:solidFill>
                  <a:srgbClr val="0C1A28"/>
                </a:solidFill>
                <a:latin typeface="Arial" panose="020B0604020202020204" pitchFamily="34" charset="0"/>
              </a:rPr>
              <a:t>how long after the bounce the book reprices. Under the stamp reading the edge is negative below 1.1 s.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D1432F"/>
                </a:solidFill>
                <a:latin typeface="Arial" panose="020B0604020202020204" pitchFamily="34" charset="0"/>
              </a:rPr>
              <a:t>And it does not pay its way: $88.8/day of trading vs at least $1,153/day of fixed costs (feed licence, camera, operator) at 10 covered matches a day.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5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End to end on live Polymarket books, paper only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07  ·  THE ENGINE, END TO END (PAPER ONLY)</a:t>
            </a:r>
          </a:p>
        </p:txBody>
      </p:sp>
      <p:sp>
        <p:nvSpPr>
          <p:cNvPr id="5" name="Label: LIVE BOOKS, READ-ONLY RU"/>
          <p:cNvSpPr txBox="1"/>
          <p:nvPr/>
        </p:nvSpPr>
        <p:spPr>
          <a:xfrm>
            <a:off x="548640" y="1572768"/>
            <a:ext cx="38862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LIVE BOOKS, READ-ONLY RUN</a:t>
            </a:r>
          </a:p>
        </p:txBody>
      </p:sp>
      <p:graphicFrame>
        <p:nvGraphicFramePr>
          <p:cNvPr id="6" name="Table: live engine"/>
          <p:cNvGraphicFramePr>
            <a:graphicFrameLocks noGrp="1"/>
          </p:cNvGraphicFramePr>
          <p:nvPr/>
        </p:nvGraphicFramePr>
        <p:xfrm>
          <a:off x="548640" y="1874519"/>
          <a:ext cx="3886200" cy="30358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86000"/>
                <a:gridCol w="16002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60 s live window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/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Messages · assets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7,785 · 54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Markets discovered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27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Feed delay p50/95/99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65 / 84 / 123 ms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Snapshots mismatched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0 of 8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Gaps · reconnects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0 · 0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What-if: send / skip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2 / 34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Orders sent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Engine note"/>
          <p:cNvSpPr txBox="1"/>
          <p:nvPr/>
        </p:nvSpPr>
        <p:spPr>
          <a:xfrm>
            <a:off x="548640" y="5010912"/>
            <a:ext cx="388620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0" i="0">
                <a:solidFill>
                  <a:srgbClr val="566676"/>
                </a:solidFill>
                <a:latin typeface="Arial" panose="020B0604020202020204" pitchFamily="34" charset="0"/>
              </a:rPr>
              <a:t>Engine: streaming vision → fair value → strategy → risk → paper executor. The executor refuses to start if a live-trading flag or wallet key is present.</a:t>
            </a:r>
          </a:p>
        </p:txBody>
      </p:sp>
      <p:sp>
        <p:nvSpPr>
          <p:cNvPr id="8" name="Label: LIVE PAPER SESSION (TONI"/>
          <p:cNvSpPr txBox="1"/>
          <p:nvPr/>
        </p:nvSpPr>
        <p:spPr>
          <a:xfrm>
            <a:off x="4709159" y="1572768"/>
            <a:ext cx="329184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LIVE PAPER SESSION (TONIGHT)</a:t>
            </a:r>
          </a:p>
        </p:txBody>
      </p:sp>
      <p:sp>
        <p:nvSpPr>
          <p:cNvPr id="9" name="Session card"/>
          <p:cNvSpPr/>
          <p:nvPr/>
        </p:nvSpPr>
        <p:spPr>
          <a:xfrm>
            <a:off x="4709159" y="1874519"/>
            <a:ext cx="3291840" cy="4434840"/>
          </a:xfrm>
          <a:prstGeom prst="roundRect">
            <a:avLst>
              <a:gd name="adj" fmla="val 2777"/>
            </a:avLst>
          </a:prstGeom>
          <a:solidFill>
            <a:srgbClr val="0C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ession text"/>
          <p:cNvSpPr txBox="1"/>
          <p:nvPr/>
        </p:nvSpPr>
        <p:spPr>
          <a:xfrm>
            <a:off x="4910327" y="1965960"/>
            <a:ext cx="2889504" cy="4251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>
                <a:solidFill>
                  <a:srgbClr val="F07A66"/>
                </a:solidFill>
                <a:latin typeface="Arial" panose="020B0604020202020204" pitchFamily="34" charset="0"/>
              </a:rPr>
              <a:t>PAPER TRADING - LIVE MARKET DATA (public Polymarket feeds; no orders sent)</a:t>
            </a:r>
          </a:p>
          <a:p>
            <a:pPr algn="l">
              <a:spcBef>
                <a:spcPts val="600"/>
              </a:spcBef>
            </a:pPr>
            <a:r>
              <a:rPr sz="1150" b="0" i="0">
                <a:solidFill>
                  <a:srgbClr val="FFFFFF"/>
                </a:solidFill>
                <a:latin typeface="Arial" panose="020B0604020202020204" pitchFamily="34" charset="0"/>
              </a:rPr>
              <a:t>Strategy: maker v1 (frozen, pre-registered) + taker control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9FB3C8"/>
                </a:solidFill>
                <a:latin typeface="Arial" panose="020B0604020202020204" pitchFamily="34" charset="0"/>
              </a:rPr>
              <a:t>Run 20261003T193534Z  ·  as of 2026-10-03 20:19 UTC</a:t>
            </a:r>
          </a:p>
          <a:p>
            <a:pPr algn="l">
              <a:spcBef>
                <a:spcPts val="600"/>
              </a:spcBef>
            </a:pPr>
            <a:r>
              <a:rPr sz="1150" b="0" i="0">
                <a:solidFill>
                  <a:srgbClr val="9FB3C8"/>
                </a:solidFill>
                <a:latin typeface="Arial" panose="020B0604020202020204" pitchFamily="34" charset="0"/>
              </a:rPr>
              <a:t>Status: </a:t>
            </a:r>
            <a:r>
              <a:rPr sz="1150" b="0" i="0">
                <a:solidFill>
                  <a:srgbClr val="FFFFFF"/>
                </a:solidFill>
                <a:latin typeface="Arial" panose="020B0604020202020204" pitchFamily="34" charset="0"/>
              </a:rPr>
              <a:t>QUOTING (paper)</a:t>
            </a:r>
          </a:p>
          <a:p>
            <a:pPr algn="l">
              <a:spcBef>
                <a:spcPts val="800"/>
              </a:spcBef>
            </a:pPr>
            <a:r>
              <a:rPr sz="1250" b="1" i="0">
                <a:solidFill>
                  <a:srgbClr val="FFFFFF"/>
                </a:solidFill>
                <a:latin typeface="Arial" panose="020B0604020202020204" pitchFamily="34" charset="0"/>
              </a:rPr>
              <a:t>Primary book: 0 fills, P&amp;L +$0.00 on $10,000 paper capital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FFFFFF"/>
                </a:solidFill>
                <a:latin typeface="Arial" panose="020B0604020202020204" pitchFamily="34" charset="0"/>
              </a:rPr>
              <a:t>Taker control: 0 fills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9FB3C8"/>
                </a:solidFill>
                <a:latin typeface="Arial" panose="020B0604020202020204" pitchFamily="34" charset="0"/>
              </a:rPr>
              <a:t>25,982 book messages · 0 match(es) in play</a:t>
            </a:r>
          </a:p>
          <a:p>
            <a:pPr algn="l">
              <a:spcBef>
                <a:spcPts val="800"/>
              </a:spcBef>
            </a:pPr>
            <a:r>
              <a:rPr sz="1050" b="0" i="0">
                <a:solidFill>
                  <a:srgbClr val="9FB3C8"/>
                </a:solidFill>
                <a:latin typeface="Arial" panose="020B0604020202020204" pitchFamily="34" charset="0"/>
              </a:rPr>
              <a:t>Plumbing check, not evidence of edge: maker v1 already failed its blind OOS.</a:t>
            </a:r>
          </a:p>
        </p:txBody>
      </p:sp>
      <p:sp>
        <p:nvSpPr>
          <p:cNvPr id="11" name="Card: Engine demo timeline"/>
          <p:cNvSpPr/>
          <p:nvPr/>
        </p:nvSpPr>
        <p:spPr>
          <a:xfrm>
            <a:off x="8275320" y="1572768"/>
            <a:ext cx="3367735" cy="4736592"/>
          </a:xfrm>
          <a:prstGeom prst="roundRect">
            <a:avLst>
              <a:gd name="adj" fmla="val 2172"/>
            </a:avLst>
          </a:prstGeom>
          <a:solidFill>
            <a:srgbClr val="FCFCFB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Engine demo timeline" descr="demo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2530486"/>
            <a:ext cx="3148279" cy="2135354"/>
          </a:xfrm>
          <a:prstGeom prst="rect">
            <a:avLst/>
          </a:prstGeom>
        </p:spPr>
      </p:pic>
      <p:sp>
        <p:nvSpPr>
          <p:cNvPr id="13" name="Caption: Engine demo timeline"/>
          <p:cNvSpPr txBox="1"/>
          <p:nvPr/>
        </p:nvSpPr>
        <p:spPr>
          <a:xfrm>
            <a:off x="8458200" y="5513831"/>
            <a:ext cx="3001975" cy="685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100" b="0" i="0">
                <a:solidFill>
                  <a:srgbClr val="566676"/>
                </a:solidFill>
                <a:latin typeface="Arial" panose="020B0604020202020204" pitchFamily="34" charset="0"/>
              </a:rPr>
              <a:t>Illustrative pairing: held-out table-tennis calls mapped onto a real recorded WTA book. Shows mechanics and timing only; not a backtest, not evidence of edge.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5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600" b="1" i="0">
                <a:solidFill>
                  <a:srgbClr val="0C1A28"/>
                </a:solidFill>
                <a:latin typeface="Arial Narrow" panose="020B0606020202030204" pitchFamily="34" charset="0"/>
              </a:rPr>
              <a:t>Small, hard-limited, and it barely pays its costs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08  ·  RISK  ·  LIQUIDITY &amp; CAPITAL  ·  FINANCIALS</a:t>
            </a:r>
          </a:p>
        </p:txBody>
      </p:sp>
      <p:sp>
        <p:nvSpPr>
          <p:cNvPr id="5" name="Label: HARD LIMITS (ENGINE Risk"/>
          <p:cNvSpPr txBox="1"/>
          <p:nvPr/>
        </p:nvSpPr>
        <p:spPr>
          <a:xfrm>
            <a:off x="548640" y="1572768"/>
            <a:ext cx="35661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HARD LIMITS (ENGINE RiskConfig)</a:t>
            </a:r>
          </a:p>
        </p:txBody>
      </p:sp>
      <p:sp>
        <p:nvSpPr>
          <p:cNvPr id="6" name="Limit tile 0"/>
          <p:cNvSpPr/>
          <p:nvPr/>
        </p:nvSpPr>
        <p:spPr>
          <a:xfrm>
            <a:off x="548640" y="1874519"/>
            <a:ext cx="17145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imit value 0"/>
          <p:cNvSpPr txBox="1"/>
          <p:nvPr/>
        </p:nvSpPr>
        <p:spPr>
          <a:xfrm>
            <a:off x="685800" y="1965960"/>
            <a:ext cx="1440180" cy="65836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2800" b="1" i="0">
                <a:solidFill>
                  <a:srgbClr val="27598B"/>
                </a:solidFill>
                <a:latin typeface="Arial Narrow" panose="020B0606020202030204" pitchFamily="34" charset="0"/>
              </a:rPr>
              <a:t>$1,000</a:t>
            </a:r>
          </a:p>
        </p:txBody>
      </p:sp>
      <p:sp>
        <p:nvSpPr>
          <p:cNvPr id="8" name="Limit caption 0"/>
          <p:cNvSpPr txBox="1"/>
          <p:nvPr/>
        </p:nvSpPr>
        <p:spPr>
          <a:xfrm>
            <a:off x="685800" y="2606039"/>
            <a:ext cx="144018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per order</a:t>
            </a:r>
          </a:p>
        </p:txBody>
      </p:sp>
      <p:sp>
        <p:nvSpPr>
          <p:cNvPr id="9" name="Limit tile 1"/>
          <p:cNvSpPr/>
          <p:nvPr/>
        </p:nvSpPr>
        <p:spPr>
          <a:xfrm>
            <a:off x="2400300" y="1874519"/>
            <a:ext cx="17145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imit value 1"/>
          <p:cNvSpPr txBox="1"/>
          <p:nvPr/>
        </p:nvSpPr>
        <p:spPr>
          <a:xfrm>
            <a:off x="2537460" y="1965960"/>
            <a:ext cx="1440180" cy="65836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2800" b="1" i="0">
                <a:solidFill>
                  <a:srgbClr val="27598B"/>
                </a:solidFill>
                <a:latin typeface="Arial Narrow" panose="020B0606020202030204" pitchFamily="34" charset="0"/>
              </a:rPr>
              <a:t>100</a:t>
            </a:r>
          </a:p>
        </p:txBody>
      </p:sp>
      <p:sp>
        <p:nvSpPr>
          <p:cNvPr id="11" name="Limit caption 1"/>
          <p:cNvSpPr txBox="1"/>
          <p:nvPr/>
        </p:nvSpPr>
        <p:spPr>
          <a:xfrm>
            <a:off x="2537460" y="2606039"/>
            <a:ext cx="144018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shares net per match</a:t>
            </a:r>
          </a:p>
        </p:txBody>
      </p:sp>
      <p:sp>
        <p:nvSpPr>
          <p:cNvPr id="12" name="Limit tile 2"/>
          <p:cNvSpPr/>
          <p:nvPr/>
        </p:nvSpPr>
        <p:spPr>
          <a:xfrm>
            <a:off x="548640" y="3172968"/>
            <a:ext cx="17145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imit value 2"/>
          <p:cNvSpPr txBox="1"/>
          <p:nvPr/>
        </p:nvSpPr>
        <p:spPr>
          <a:xfrm>
            <a:off x="685800" y="3264408"/>
            <a:ext cx="1440180" cy="65836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2200" b="1" i="0">
                <a:solidFill>
                  <a:srgbClr val="27598B"/>
                </a:solidFill>
                <a:latin typeface="Arial Narrow" panose="020B0606020202030204" pitchFamily="34" charset="0"/>
              </a:rPr>
              <a:t>0.05–0.95</a:t>
            </a:r>
          </a:p>
        </p:txBody>
      </p:sp>
      <p:sp>
        <p:nvSpPr>
          <p:cNvPr id="14" name="Limit caption 2"/>
          <p:cNvSpPr txBox="1"/>
          <p:nvPr/>
        </p:nvSpPr>
        <p:spPr>
          <a:xfrm>
            <a:off x="685800" y="3904487"/>
            <a:ext cx="144018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price zone only</a:t>
            </a:r>
          </a:p>
        </p:txBody>
      </p:sp>
      <p:sp>
        <p:nvSpPr>
          <p:cNvPr id="15" name="Limit tile 3"/>
          <p:cNvSpPr/>
          <p:nvPr/>
        </p:nvSpPr>
        <p:spPr>
          <a:xfrm>
            <a:off x="2400300" y="3172968"/>
            <a:ext cx="17145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imit value 3"/>
          <p:cNvSpPr txBox="1"/>
          <p:nvPr/>
        </p:nvSpPr>
        <p:spPr>
          <a:xfrm>
            <a:off x="2537460" y="3264408"/>
            <a:ext cx="1440180" cy="65836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2800" b="1" i="0">
                <a:solidFill>
                  <a:srgbClr val="D1432F"/>
                </a:solidFill>
                <a:latin typeface="Arial Narrow" panose="020B0606020202030204" pitchFamily="34" charset="0"/>
              </a:rPr>
              <a:t>$1,000</a:t>
            </a:r>
          </a:p>
        </p:txBody>
      </p:sp>
      <p:sp>
        <p:nvSpPr>
          <p:cNvPr id="17" name="Limit caption 3"/>
          <p:cNvSpPr txBox="1"/>
          <p:nvPr/>
        </p:nvSpPr>
        <p:spPr>
          <a:xfrm>
            <a:off x="2537460" y="3904487"/>
            <a:ext cx="144018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daily stop (latches)</a:t>
            </a:r>
          </a:p>
        </p:txBody>
      </p:sp>
      <p:sp>
        <p:nvSpPr>
          <p:cNvPr id="18" name="Limit tile 4"/>
          <p:cNvSpPr/>
          <p:nvPr/>
        </p:nvSpPr>
        <p:spPr>
          <a:xfrm>
            <a:off x="548640" y="4471416"/>
            <a:ext cx="17145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Limit value 4"/>
          <p:cNvSpPr txBox="1"/>
          <p:nvPr/>
        </p:nvSpPr>
        <p:spPr>
          <a:xfrm>
            <a:off x="685800" y="4562855"/>
            <a:ext cx="1440180" cy="65836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2800" b="1" i="0">
                <a:solidFill>
                  <a:srgbClr val="D1432F"/>
                </a:solidFill>
                <a:latin typeface="Arial Narrow" panose="020B0606020202030204" pitchFamily="34" charset="0"/>
              </a:rPr>
              <a:t>2 s</a:t>
            </a:r>
          </a:p>
        </p:txBody>
      </p:sp>
      <p:sp>
        <p:nvSpPr>
          <p:cNvPr id="20" name="Limit caption 4"/>
          <p:cNvSpPr txBox="1"/>
          <p:nvPr/>
        </p:nvSpPr>
        <p:spPr>
          <a:xfrm>
            <a:off x="685800" y="5202936"/>
            <a:ext cx="144018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no data → reduce only</a:t>
            </a:r>
          </a:p>
        </p:txBody>
      </p:sp>
      <p:sp>
        <p:nvSpPr>
          <p:cNvPr id="21" name="Limit tile 5"/>
          <p:cNvSpPr/>
          <p:nvPr/>
        </p:nvSpPr>
        <p:spPr>
          <a:xfrm>
            <a:off x="2400300" y="4471416"/>
            <a:ext cx="17145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imit value 5"/>
          <p:cNvSpPr txBox="1"/>
          <p:nvPr/>
        </p:nvSpPr>
        <p:spPr>
          <a:xfrm>
            <a:off x="2537460" y="4562855"/>
            <a:ext cx="1440180" cy="65836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2800" b="1" i="0">
                <a:solidFill>
                  <a:srgbClr val="D1432F"/>
                </a:solidFill>
                <a:latin typeface="Arial Narrow" panose="020B0606020202030204" pitchFamily="34" charset="0"/>
              </a:rPr>
              <a:t>1 s</a:t>
            </a:r>
          </a:p>
        </p:txBody>
      </p:sp>
      <p:sp>
        <p:nvSpPr>
          <p:cNvPr id="23" name="Limit caption 5"/>
          <p:cNvSpPr txBox="1"/>
          <p:nvPr/>
        </p:nvSpPr>
        <p:spPr>
          <a:xfrm>
            <a:off x="2537460" y="5202936"/>
            <a:ext cx="144018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no vision → reduce only</a:t>
            </a:r>
          </a:p>
        </p:txBody>
      </p:sp>
      <p:sp>
        <p:nvSpPr>
          <p:cNvPr id="24" name="Label: LIQUIDITY &amp; CAPITAL (v2,"/>
          <p:cNvSpPr txBox="1"/>
          <p:nvPr/>
        </p:nvSpPr>
        <p:spPr>
          <a:xfrm>
            <a:off x="4389120" y="1572768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LIQUIDITY &amp; CAPITAL (v2, IN SAMPLE)</a:t>
            </a:r>
          </a:p>
        </p:txBody>
      </p:sp>
      <p:sp>
        <p:nvSpPr>
          <p:cNvPr id="25" name="Liquidity list"/>
          <p:cNvSpPr txBox="1"/>
          <p:nvPr/>
        </p:nvSpPr>
        <p:spPr>
          <a:xfrm>
            <a:off x="4389120" y="1874519"/>
            <a:ext cx="3154680" cy="40233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27598B"/>
                </a:solidFill>
                <a:latin typeface="Arial Narrow" panose="020B0606020202030204" pitchFamily="34" charset="0"/>
              </a:rPr>
              <a:t>$11.17  </a:t>
            </a:r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median trade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27598B"/>
                </a:solidFill>
                <a:latin typeface="Arial Narrow" panose="020B0606020202030204" pitchFamily="34" charset="0"/>
              </a:rPr>
              <a:t>$7.2k/day  </a:t>
            </a:r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notional on $28.3k capital (3× peak locked $9.4k)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27598B"/>
                </a:solidFill>
                <a:latin typeface="Arial Narrow" panose="020B0606020202030204" pitchFamily="34" charset="0"/>
              </a:rPr>
              <a:t>≤ 18.1%  </a:t>
            </a:r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of the fast tier's own 0–3 s volume in any month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27598B"/>
                </a:solidFill>
                <a:latin typeface="Arial Narrow" panose="020B0606020202030204" pitchFamily="34" charset="0"/>
              </a:rPr>
              <a:t>$82.3k/day  </a:t>
            </a:r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outer ceiling: every qualifying fast-tier print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27598B"/>
                </a:solidFill>
                <a:latin typeface="Arial Narrow" panose="020B0606020202030204" pitchFamily="34" charset="0"/>
              </a:rPr>
              <a:t>41.7%  </a:t>
            </a:r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of in-sample P&amp;L from the top wallet: concentration risk</a:t>
            </a:r>
          </a:p>
        </p:txBody>
      </p:sp>
      <p:sp>
        <p:nvSpPr>
          <p:cNvPr id="26" name="Label: $/DAY AFTER CENTRAL FIXE"/>
          <p:cNvSpPr txBox="1"/>
          <p:nvPr/>
        </p:nvSpPr>
        <p:spPr>
          <a:xfrm>
            <a:off x="7818120" y="1572768"/>
            <a:ext cx="38249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27598B"/>
                </a:solidFill>
                <a:latin typeface="Arial" panose="020B0604020202020204" pitchFamily="34" charset="0"/>
              </a:rPr>
              <a:t>$/DAY AFTER CENTRAL FIXED COSTS</a:t>
            </a:r>
          </a:p>
        </p:txBody>
      </p:sp>
      <p:graphicFrame>
        <p:nvGraphicFramePr>
          <p:cNvPr id="27" name="Table: financials"/>
          <p:cNvGraphicFramePr>
            <a:graphicFrameLocks noGrp="1"/>
          </p:cNvGraphicFramePr>
          <p:nvPr/>
        </p:nvGraphicFramePr>
        <p:xfrm>
          <a:off x="7818120" y="1874519"/>
          <a:ext cx="3824935" cy="263347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93215"/>
                <a:gridCol w="777240"/>
                <a:gridCol w="685800"/>
                <a:gridCol w="86868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Book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Trading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Fixed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Net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solidFill>
                      <a:srgbClr val="0C1A2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v2, IS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+$196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$167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7598B"/>
                          </a:solidFill>
                          <a:latin typeface="Arial" panose="020B0604020202020204" pitchFamily="34" charset="0"/>
                        </a:rPr>
                        <a:t>+$29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v2, IS, today's fees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+$179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$167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7598B"/>
                          </a:solidFill>
                          <a:latin typeface="Arial" panose="020B0604020202020204" pitchFamily="34" charset="0"/>
                        </a:rPr>
                        <a:t>+$12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v2, burned OOS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+$92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$167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−$75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Maker, blind OOS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−$9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$3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−$12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D3DCE5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Tier-0 (counterfactual)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0C1A28"/>
                          </a:solidFill>
                          <a:latin typeface="Arial" panose="020B0604020202020204" pitchFamily="34" charset="0"/>
                        </a:rPr>
                        <a:t>+$89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566676"/>
                          </a:solidFill>
                          <a:latin typeface="Arial" panose="020B0604020202020204" pitchFamily="34" charset="0"/>
                        </a:rPr>
                        <a:t>$4,149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D1432F"/>
                          </a:solidFill>
                          <a:latin typeface="Arial" panose="020B0604020202020204" pitchFamily="34" charset="0"/>
                        </a:rPr>
                        <a:t>−$4,060</a:t>
                      </a:r>
                    </a:p>
                  </a:txBody>
                  <a:tcPr marL="91440" marR="91440" marT="27432" marB="27432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8" name="Financials note"/>
          <p:cNvSpPr txBox="1"/>
          <p:nvPr/>
        </p:nvSpPr>
        <p:spPr>
          <a:xfrm>
            <a:off x="7818120" y="4572000"/>
            <a:ext cx="3824935" cy="12344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050" b="1" i="0">
                <a:solidFill>
                  <a:srgbClr val="D1432F"/>
                </a:solidFill>
                <a:latin typeface="Arial" panose="020B0604020202020204" pitchFamily="34" charset="0"/>
              </a:rPr>
              <a:t>Tier-0: COUNTERFACTUAL: assumes a licensed live feed + courtside camera (not purchased); parameters measured.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566676"/>
                </a:solidFill>
                <a:latin typeface="Arial" panose="020B0604020202020204" pitchFamily="34" charset="0"/>
              </a:rPr>
              <a:t>Fixed costs include an official point-feed licence, an ASSUMPTION ($5,000/month central; no public price). Fees are the binding variable.</a:t>
            </a:r>
          </a:p>
        </p:txBody>
      </p:sp>
      <p:sp>
        <p:nvSpPr>
          <p:cNvPr id="29" name="Risk strip"/>
          <p:cNvSpPr/>
          <p:nvPr/>
        </p:nvSpPr>
        <p:spPr>
          <a:xfrm>
            <a:off x="548640" y="5870448"/>
            <a:ext cx="11094415" cy="475488"/>
          </a:xfrm>
          <a:prstGeom prst="roundRect">
            <a:avLst>
              <a:gd name="adj" fmla="val 15384"/>
            </a:avLst>
          </a:prstGeom>
          <a:solidFill>
            <a:srgbClr val="0C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sk register"/>
          <p:cNvSpPr txBox="1"/>
          <p:nvPr/>
        </p:nvSpPr>
        <p:spPr>
          <a:xfrm>
            <a:off x="777240" y="5870448"/>
            <a:ext cx="1063721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>
                <a:solidFill>
                  <a:srgbClr val="F07A66"/>
                </a:solidFill>
                <a:latin typeface="Arial" panose="020B0604020202020204" pitchFamily="34" charset="0"/>
              </a:rPr>
              <a:t>Top risks (docs/RISK.md): </a:t>
            </a:r>
            <a:r>
              <a:rPr sz="1200" b="0" i="0">
                <a:solidFill>
                  <a:srgbClr val="FFFFFF"/>
                </a:solidFill>
                <a:latin typeface="Arial" panose="020B0604020202020204" pitchFamily="34" charset="0"/>
              </a:rPr>
              <a:t>fee/delay regime change (R11) · crowding for the same stale quote (R6) · wallet concentration (R2) · venue access and data rights (R16)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32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4000" b="1" i="0">
                <a:solidFill>
                  <a:srgbClr val="FFFFFF"/>
                </a:solidFill>
                <a:latin typeface="Arial Narrow" panose="020B0606020202030204" pitchFamily="34" charset="0"/>
              </a:rPr>
              <a:t>One command. Public data. Paper only.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9FB3C8"/>
                </a:solidFill>
                <a:latin typeface="Arial" panose="020B0604020202020204" pitchFamily="34" charset="0"/>
              </a:rPr>
              <a:t>REPRODUCE IT</a:t>
            </a:r>
          </a:p>
        </p:txBody>
      </p:sp>
      <p:sp>
        <p:nvSpPr>
          <p:cNvPr id="5" name="Terminal card"/>
          <p:cNvSpPr/>
          <p:nvPr/>
        </p:nvSpPr>
        <p:spPr>
          <a:xfrm>
            <a:off x="548640" y="1737360"/>
            <a:ext cx="6766560" cy="2011680"/>
          </a:xfrm>
          <a:prstGeom prst="roundRect">
            <a:avLst>
              <a:gd name="adj" fmla="val 4545"/>
            </a:avLst>
          </a:prstGeom>
          <a:solidFill>
            <a:srgbClr val="17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mmand"/>
          <p:cNvSpPr txBox="1"/>
          <p:nvPr/>
        </p:nvSpPr>
        <p:spPr>
          <a:xfrm>
            <a:off x="822959" y="1737360"/>
            <a:ext cx="6309360" cy="2011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600" b="1" i="0">
                <a:solidFill>
                  <a:srgbClr val="F07A66"/>
                </a:solidFill>
                <a:latin typeface="Courier New"/>
              </a:rPr>
              <a:t>$ </a:t>
            </a:r>
            <a:r>
              <a:rPr sz="2200" b="1" i="0">
                <a:solidFill>
                  <a:srgbClr val="FFFFFF"/>
                </a:solidFill>
                <a:latin typeface="Courier New"/>
              </a:rPr>
              <a:t>bash reproduce.sh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9FB3C8"/>
                </a:solidFill>
                <a:latin typeface="Courier New"/>
              </a:rPr>
              <a:t>  # every number and figure in the note, from cached public data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9FB3C8"/>
                </a:solidFill>
                <a:latin typeface="Courier New"/>
              </a:rPr>
              <a:t>  # first run: .venv/bin/python scripts/fetch_polymarket.py (no keys)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9FB3C8"/>
                </a:solidFill>
                <a:latin typeface="Courier New"/>
              </a:rPr>
              <a:t>  # this deck: .venv/bin/python docs/deck/build_deck.py</a:t>
            </a:r>
          </a:p>
        </p:txBody>
      </p:sp>
      <p:sp>
        <p:nvSpPr>
          <p:cNvPr id="7" name="Repo URL"/>
          <p:cNvSpPr txBox="1"/>
          <p:nvPr/>
        </p:nvSpPr>
        <p:spPr>
          <a:xfrm>
            <a:off x="548640" y="3977639"/>
            <a:ext cx="11094415" cy="5029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urier New"/>
              </a:rPr>
              <a:t>https://github.com/OjasMishra32/computervisionpredictivetabletennismoneymachineouuushiii</a:t>
            </a:r>
          </a:p>
        </p:txBody>
      </p:sp>
      <p:sp>
        <p:nvSpPr>
          <p:cNvPr id="8" name="Pending"/>
          <p:cNvSpPr txBox="1"/>
          <p:nvPr/>
        </p:nvSpPr>
        <p:spPr>
          <a:xfrm>
            <a:off x="548640" y="4663440"/>
            <a:ext cx="11094415" cy="1463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200" b="1" i="0" spc="140">
                <a:solidFill>
                  <a:srgbClr val="9FB3C8"/>
                </a:solidFill>
                <a:latin typeface="Arial" panose="020B0604020202020204" pitchFamily="34" charset="0"/>
              </a:rPr>
              <a:t>STILL OPEN AT BUILD TIME</a:t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FFFFFF"/>
                </a:solidFill>
                <a:latin typeface="Arial" panose="020B0604020202020204" pitchFamily="34" charset="0"/>
              </a:rPr>
              <a:t>Blind forward test (run once, tomorrow): </a:t>
            </a:r>
            <a:r>
              <a:rPr sz="1400" b="1" i="0">
                <a:solidFill>
                  <a:srgbClr val="F07A66"/>
                </a:solidFill>
                <a:latin typeface="Arial" panose="020B0604020202020204" pitchFamily="34" charset="0"/>
              </a:rPr>
              <a:t>pending</a:t>
            </a:r>
          </a:p>
          <a:p>
            <a:pPr algn="l"/>
            <a:r>
              <a:rPr sz="1400" b="1" i="0">
                <a:solidFill>
                  <a:srgbClr val="FFFFFF"/>
                </a:solidFill>
                <a:latin typeface="Arial" panose="020B0604020202020204" pitchFamily="34" charset="0"/>
              </a:rPr>
              <a:t>Live paper session: </a:t>
            </a:r>
            <a:r>
              <a:rPr sz="1400" b="0" i="0">
                <a:solidFill>
                  <a:srgbClr val="9FB3C8"/>
                </a:solidFill>
                <a:latin typeface="Arial" panose="020B0604020202020204" pitchFamily="34" charset="0"/>
              </a:rPr>
              <a:t>QUOTING (paper)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9FB3C8"/>
                </a:solidFill>
                <a:latin typeface="Arial" panose="020B0604020202020204" pitchFamily="34" charset="0"/>
              </a:rPr>
              <a:t>Financials still pending: v2 (frozen fast-tier book) Forward (blind); Maker v1, side markets Live paper session</a:t>
            </a:r>
          </a:p>
        </p:txBody>
      </p:sp>
      <p:sp>
        <p:nvSpPr>
          <p:cNvPr id="9" name="Disclaimer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100" b="0" i="0">
                <a:solidFill>
                  <a:srgbClr val="9FB3C8"/>
                </a:solidFill>
                <a:latin typeface="Arial" panose="020B0604020202020204" pitchFamily="34" charset="0"/>
              </a:rPr>
              <a:t>No real money was traded. No live ATP/WTA data was bought or used. Tier 0 is a labelled counterfactual.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Isn't filling at the fast tier's print lookahead?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Q1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“Table 2 fills at the fast tier's own print. You only know that print exists because it happened. Isn't that lookahead, and isn't this someone else's P&amp;L?”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Yes, it is their speed, and we say so.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v2 measures the opportunity for a trader as fast as the fast tier, not our execution.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What gets counted uses no future information: wallets qualify on past months only, the fee filter uses the fee at the time, and the 0–3 s window runs from detection, not hindsight onset (D9).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 executable lagged copy loses: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the same trades ~3 s later lose in 11/11 months.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Out of sample, second place earns nothing: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+½ tick gives +0.10¢ [−0.41, 0.63].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Our own route to first place is tier 0, which we only model as a labelled counterfactual.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11/11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months the 3 s-late copy lost money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+0.10¢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burned OOS at +½ tick [−0.41, 0.63]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results/summary.json; results/v2/causal.json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Isn't v2 tuned on the out-of-sample window?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Q2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“You built v2 after v1 lost $36.1k out of sample. Isn't that tuning on the out-of-sample period?”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 OOS was opened once, blind, for v1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(2026-10-03 10:42 UTC); v1's −$36.1k loss is reported.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v2's rules were tuned on in-sample data only, but its motivation came from how v1 failed. So that window is burned, and every v2 number on it is labelled non-blind.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v2's clean tests are pre-registered.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Blind, on 11,307 never-examined markets: +2.02¢ [1.14, 2.93] in the in-sample period (pass); +1.22¢ [−0.19, 2.65] out of sample: a fail by our rule.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The forward window is run once, tomorrow, and reported either way.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All 45 looks at held-out data are in results/oos_peeks.log.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D1432F"/>
                </a:solidFill>
                <a:latin typeface="Arial Narrow" panose="020B0606020202030204" pitchFamily="34" charset="0"/>
              </a:rPr>
              <a:t>−$36.1k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v1 on the held-out window, opened once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D1432F"/>
                </a:solidFill>
                <a:latin typeface="Arial Narrow" panose="020B0606020202030204" pitchFamily="34" charset="0"/>
              </a:rPr>
              <a:t>+1.22¢ FAIL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blind U2 OOS [−0.19, 2.65]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45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logged looks at held-out data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results/summary.json; results/expand/results.json; results/oos_peeks.log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A Sharpe of 14.5 on daily data? Assume a bug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Q3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“A Sharpe of 14.5 on daily data. The brief says above 3, assume a bug.”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We assumed one and found one: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the onset hindsight (D9). Fixing it cut the in-sample Sharpe from 16.8 to 14.5.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What remains is structural: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about 270 small bets a day, each settled by an exogenous binary outcome, net exposure capped at 100 shares per match.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Tails are mild: skew 0.53, kurtosis 4.3, worst day −1.9%.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It falls fast with costs: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Sharpe 9.8 at +½ tick, 4.3 at +1 tick, 3.0 with all costs doubled; burned OOS 6.7 (bootstrap [1.9, 12.3]).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16.8 → 14.5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in-sample Sharpe before / after the D9 fix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3.0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in-sample Sharpe, all costs doubled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6.7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burned-OOS Sharpe, CI [1.9, 12.3]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results/summary.json; results/v2/causal.json; results/v2/note_metrics.json; results/rigor/rigor.json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What happens when costs double?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Q4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“What happens when costs double? What is your cost in bps?”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Fees: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each match's own rate × q(1−q): about 120 bps of notional in sample (mixed fee regimes) and 179 bps out of sample (all at today's rate).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Fees doubled: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+0.77¢ in sample (7/7 months), but −0.34¢ [−0.86, 0.19] out of sample (0/3 months).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All costs doubled: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+0.27¢ in sample and −0.84¢ out of sample.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So in today's regime the edge does not survive doubled costs,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and we say so. Break-even taker fee rate on the burned OOS, before fixed costs: 8.2%.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That is why venue rules are risk R11 and why the halve/stop rule exists.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D1432F"/>
                </a:solidFill>
                <a:latin typeface="Arial Narrow" panose="020B0606020202030204" pitchFamily="34" charset="0"/>
              </a:rPr>
              <a:t>−0.34¢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burned OOS with fees doubled [−0.86, 0.19]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D1432F"/>
                </a:solidFill>
                <a:latin typeface="Arial Narrow" panose="020B0606020202030204" pitchFamily="34" charset="0"/>
              </a:rPr>
              <a:t>−0.84¢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burned OOS with all costs doubled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8.2%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break-even taker fee rate (OOS, before fixed costs)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results/v2/note_metrics.json; results/v2/cost_stress.json; results/financials/financials.json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Is Polymarket allowed here, and from the US?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Q5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“Is Polymarket even allowed in this track, and can you trade it from the US?”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 track allows any liquid, publicly traded market.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Polymarket tennis has a public order book, keyless public data, and $2.84B traded in our universe.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 international venue restricts US persons,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and we say so. TERMS 5.3 forbids funded accounts during the event, so everything here is paper.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 repo only reads public data.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The engine is paper-only by construction (orders sent in the live run: 0); it refuses to start if a key or live flag exists.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A deployment needs a permitted venue, licensed data and legal review (docs/RISK.md R16).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Kalshi, the regulated alternative, leads most repricings, but its fee leaves the hedged laggard trade at about zero (research/v2/kalshi/RESULTS.md).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$2.84B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traded in the study universe (public data)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0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orders sent by the engine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results/summary.json; results/engine/live_market_run.json; docs/RISK.md R16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15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Who is the fast tier, and why does the edge survive?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Q6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“Who is the fast tier, and why hasn't competition killed the edge?”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We can't identify them; we can characterize them: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they trade within 3 s of a detected point, and selected walk-forward they made money in 11/11 months.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They replicate blind: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on unseen markets they beat everyone else by +3.09¢ in sample and +2.16¢ [1.79, 2.53] out of sample.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Someone knows the point before the book. Courtside humans would imply an official-stamp lag of about 3.1 s, but that is an inference, not a measurement.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Competition is biting: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the 30 s edge went from +2.0¢ in the first month to +0.4¢ in the last; qualifying wallets grew from 4 to 131. It shrank but stayed positive.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11/11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months the fast tier made money, walk-forward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+2.16¢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fast minus others, blind OOS [1.79, 2.53]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+2.0¢ → +0.4¢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edge per share, first vs last month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results/summary.json; results/expand/results.json; results/tier0/results.json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16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With this many variants, isn't it the luckiest draw?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Q7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“You tried 3,386 or more variants. Why isn't this the luckiest draw?”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Every variant is counted and reported: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N = 3,386.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In sample the deflated Sharpe at that N is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1.00, even with the most conservative variance.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On the 40-day burned OOS it is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0.481 at N = 44 and 0.075 at N = 3,386. 40 days cannot rule out luck at the full trial count, and we say that.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Probability of backtest overfitting: 0.0% on the sizing grid, 15.4% by Sharpe on the v2-safe grid, 42.0% by its selection rule.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Many variants are near-duplicates, so N overstates independent trials. The real answer is the forward test.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1.00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DSR in sample, N = 3,386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0.075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DSR burned OOS, N = 3,386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15.4%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PBO, v2-safe grid by Sharpe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results/rigor/rigor.json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Is the holdout survivorship-biased?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Q8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“Your OOS is 20% of matches but only 39 of 360 days, and your universe keeps matches with at least $5k of lifetime volume, which you only know afterwards. Isn't that survivorship and lookahead?”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We read “20%” as a share of observations: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2,617 of 13,084 matches, 21% of volume. By calendar time it is 39 of 360 days; a time-based 20% would start 2026-07-23.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 volume filter is ex-post.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It drops thin markets a live trader would see. The OOS trades nearest the threshold made −1.96¢ a share.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Our check is the blind test on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11,307 other markets (mostly ITF): the fast-tier gap holds there; v2's out-of-sample interval includes zero.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H1–H6 use onset-aligned windows: an ex-post event study, labelled as such. Every tradable v2 number uses the causal window.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2,617/13,084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matches held out (21% of volume)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39 of 360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days held out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11,307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unseen markets in the blind test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results/v2/note_metrics.json; results/risk/risk_stats.json; results/expand/results.json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18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How much capital could this run?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Q9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“How much capital could this run, and doesn't it hang on a handful of wallets?”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Not much.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v2 ran about $7.2k a day of notional ($1.48M in 206 days) on $28.3k of capital; median trade $11.17.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Capacity is bounded by the fast tier's own prints,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not book depth: every qualifying print totals $82.3k/day in sample and $105.5k/day out of sample.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Concentration is real: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the top wallet carries 41.7% of in-sample P&amp;L and 48.4% out of sample. Clustered by wallet, the burned-OOS CI is [−0.45, 2.38].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Does it cover central fixed costs out of sample? No: not even with every qualifying print (central cost $167/day). That is why we say “positive but not proven”.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$7.2k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notional per day, in sample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$82.3k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outer ceiling per day (IS)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[−0.45, 2.38]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burned-OOS ¢/share, wallet-clustered CI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results/v2/note_metrics.json; results/v2/causal.json; results/risk/risk_stats.json; results/financials/financials.json; results/financials/pm_compute.json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19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3000" b="1" i="0">
                <a:solidFill>
                  <a:srgbClr val="0C1A28"/>
                </a:solidFill>
                <a:latin typeface="Arial Narrow" panose="020B0606020202030204" pitchFamily="34" charset="0"/>
              </a:rPr>
              <a:t>What does the computer vision actually add?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Q&amp;A BACKUP  ·  Q10 OF 10  ·  research/compliance/JUDGE.md</a:t>
            </a:r>
          </a:p>
        </p:txBody>
      </p:sp>
      <p:sp>
        <p:nvSpPr>
          <p:cNvPr id="5" name="Question"/>
          <p:cNvSpPr txBox="1"/>
          <p:nvPr/>
        </p:nvSpPr>
        <p:spPr>
          <a:xfrm>
            <a:off x="548640" y="1536192"/>
            <a:ext cx="694944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300" b="0" i="1">
                <a:solidFill>
                  <a:srgbClr val="566676"/>
                </a:solidFill>
                <a:latin typeface="Arial" panose="020B0604020202020204" pitchFamily="34" charset="0"/>
              </a:rPr>
              <a:t>“What does the computer vision add? Your own counterfactual says the camera barely matters.”</a:t>
            </a:r>
          </a:p>
        </p:txBody>
      </p:sp>
      <p:sp>
        <p:nvSpPr>
          <p:cNvPr id="6" name="Answer"/>
          <p:cNvSpPr txBox="1"/>
          <p:nvPr/>
        </p:nvSpPr>
        <p:spPr>
          <a:xfrm>
            <a:off x="548640" y="2286000"/>
            <a:ext cx="6949440" cy="397763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It measures what tier 0 can know: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real 120 fps video called 11/11 misses correctly 50 ms before contact (recall 27%, lower bound 74%); 25 fps broadcast is off by 0.7–1.2 m: useless.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Against a 1 s order delay those leads are small.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In the counterfactual (assumed feed, not bought) the unmeasured bounce-to-reprice time dominates: under the stamp reading it is negative below 1.1 s.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The contribution is the time budget: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where a lead comes from (frame rate, cameras, being in the venue) and what it costs in latency (~100 ms per call on a laptop).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D1432F"/>
                </a:solidFill>
                <a:latin typeface="Arial" panose="020B0604020202020204" pitchFamily="34" charset="0"/>
              </a:rPr>
              <a:t>•  </a:t>
            </a:r>
            <a:r>
              <a:rPr sz="1400" b="1" i="0">
                <a:solidFill>
                  <a:srgbClr val="0C1A28"/>
                </a:solidFill>
                <a:latin typeface="Arial" panose="020B0604020202020204" pitchFamily="34" charset="0"/>
              </a:rPr>
              <a:t>Not shown: </a:t>
            </a:r>
            <a:r>
              <a:rPr sz="1400" b="0" i="0">
                <a:solidFill>
                  <a:srgbClr val="0C1A28"/>
                </a:solidFill>
                <a:latin typeface="Arial" panose="020B0604020202020204" pitchFamily="34" charset="0"/>
              </a:rPr>
              <a:t>a tier-0 order reaching a stale quote end to end live. We have no camera at a tennis venue and no licensed feed.</a:t>
            </a:r>
          </a:p>
        </p:txBody>
      </p:sp>
      <p:sp>
        <p:nvSpPr>
          <p:cNvPr id="7" name="Evidence card"/>
          <p:cNvSpPr/>
          <p:nvPr/>
        </p:nvSpPr>
        <p:spPr>
          <a:xfrm>
            <a:off x="7863840" y="1536192"/>
            <a:ext cx="3779215" cy="475488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3DCE5"/>
            </a:solidFill>
          </a:ln>
          <a:effectLst>
            <a:outerShdw blurRad="63500" dist="12700" dir="5400000" algn="t" rotWithShape="0">
              <a:srgbClr val="0C1A28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"/>
          <p:cNvSpPr txBox="1"/>
          <p:nvPr/>
        </p:nvSpPr>
        <p:spPr>
          <a:xfrm>
            <a:off x="8065008" y="1627632"/>
            <a:ext cx="3376879" cy="457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1" i="0" spc="140">
                <a:solidFill>
                  <a:srgbClr val="27598B"/>
                </a:solidFill>
                <a:latin typeface="Arial" panose="020B0604020202020204" pitchFamily="34" charset="0"/>
              </a:rPr>
              <a:t>EVIDENCE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11/11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miss calls correct at 50 ms (recall 27%)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0.7–1.2 m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broadcast-video landing error</a:t>
            </a:r>
          </a:p>
          <a:p>
            <a:pPr algn="l">
              <a:spcBef>
                <a:spcPts val="800"/>
              </a:spcBef>
            </a:pPr>
            <a:r>
              <a:rPr sz="2400" b="1" i="0">
                <a:solidFill>
                  <a:srgbClr val="27598B"/>
                </a:solidFill>
                <a:latin typeface="Arial Narrow" panose="020B0606020202030204" pitchFamily="34" charset="0"/>
              </a:rPr>
              <a:t>1.1 s</a:t>
            </a:r>
          </a:p>
          <a:p>
            <a:pPr algn="l"/>
            <a:r>
              <a:rPr sz="1150" b="0" i="0">
                <a:solidFill>
                  <a:srgbClr val="0C1A28"/>
                </a:solidFill>
                <a:latin typeface="Arial" panose="020B0604020202020204" pitchFamily="34" charset="0"/>
              </a:rPr>
              <a:t>stamp-reading break-even, bounce to reprice. Tier-0: COUNTERFACTUAL: assumes a licensed live feed + courtside camera (not purchased); parameters measured</a:t>
            </a:r>
          </a:p>
          <a:p>
            <a:pPr algn="l">
              <a:spcBef>
                <a:spcPts val="1000"/>
              </a:spcBef>
            </a:pPr>
            <a:r>
              <a:rPr sz="950" b="0" i="0">
                <a:solidFill>
                  <a:srgbClr val="566676"/>
                </a:solidFill>
                <a:latin typeface="Courier New"/>
              </a:rPr>
              <a:t>Sources: results/tracking/summary.json; results/tennis_tracking/summary.json; results/tier0/results.json; results/engine/demo_run.json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20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1 OF 10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13,084                   results/summary.json :: universe &gt; matches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$2.84B                   results/summary.json :: universe &gt; volume_usd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$5k                      results/risk/risk_stats.json :: universe_volume_filter &gt; note  [volume threshold quoted in the note field]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Oct 2025                 results/v2/note_metrics.json :: holdout &gt; first_start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Oct 2026                 results/v2/note_metrics.json :: holdout &gt; last_start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Nakashima                results/viz/viz_data.json :: tape &gt; out0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Medvedev                 results/viz/viz_data.json :: tape &gt; out1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2026-08-18               results/viz/viz_data.json :: tape &gt; date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 Title                    5.7%                     results/leverage_stats.json :: atp &gt; mean_abs_leverage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±2.4 cm                  results/summary.json :: tracking_tennis_physics &gt; [lead_ms=100] &gt; pred_err_sd_cm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−1.32 s                  results/tier0/results.json :: timing &gt; median_t_reprice_minus_t_stamp_s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≈3.1 s                   results/tier0/results.json :: timing &gt; calibrated_stamp_lag_s (inference)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+28.2 s                  results/decay/decay.json :: latency_inputs &gt; espn_behind_book_s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93%                      results/summary.json :: h4 &gt; share_book_first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75                       results/summary.json :: h4 &gt; 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44.5 s                   results/summary.json :: h4 &gt; median_lead_s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+5–30 s                  results/decay/decay.json :: latency_inputs &gt; stream_delay_s_assumed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$4.2                     results/leverage_stats.json :: atp &gt; total_abs_move_per_match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161                      results/leverage_stats.json :: atp &gt; points_per_match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5.7%                     results/leverage_stats.json :: atp &gt; mean_abs_leverage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 Economics                1s/5%                    results/risk/risk_stats.json :: regime &gt; burned_oos  [regime key: order delay / taker fee rate]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11/11                    results/summary.json :: is &gt; h6_walkforward (months before universe &gt; oos_start) + oos &gt; h6_walkforward  [months with fast-ti…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3/3                      results/summary.json :: oos &gt; h6_walkforward  [months with net30_c &gt; 0]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11/11                    results/summary.json :: is &gt; h6_walkforward (months before universe &gt; oos_start) + oos &gt; h6_walkforward  [months with follow_…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11/11                    results/summary.json :: is &gt; h6_walkforward (months before universe &gt; oos_start) + oos &gt; h6_walkforward  [months with others_…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+1.97¢                   results/summary.json :: is &gt; h6_walkforward &gt; [month=2025-12]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−0.48¢                   results/summary.json :: is &gt; h6_walkforward &gt; [month=2025-12]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−0.37¢                   results/summary.json :: is &gt; h6_walkforward &gt; [month=2025-12]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+2.41¢                   results/summary.json :: is &gt; h6_walkforward &gt; [month=2026-01]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−0.56¢                   results/summary.json :: is &gt; h6_walkforward &gt; [month=2026-01]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−2.10¢                   results/summary.json :: is &gt; h6_walkforward &gt; [month=2026-01]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+1.21¢                   results/summary.json :: is &gt; h6_walkforward &gt; [month=2026-02]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−0.63¢                   results/summary.json :: is &gt; h6_walkforward &gt; [month=2026-02]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−0.06¢                   results/summary.json :: is &gt; h6_walkforward &gt; [month=2026-02] &gt; follow_res_c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2 OF 10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+2.02¢                   results/summary.json :: is &gt; h6_walkforward &gt; [month=2026-03]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−0.49¢                   results/summary.json :: is &gt; h6_walkforward &gt; [month=2026-03]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−2.53¢                   results/summary.json :: is &gt; h6_walkforward &gt; [month=2026-03]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+1.43¢                   results/summary.json :: is &gt; h6_walkforward &gt; [month=2026-04]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−0.87¢                   results/summary.json :: is &gt; h6_walkforward &gt; [month=2026-04]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−1.02¢                   results/summary.json :: is &gt; h6_walkforward &gt; [month=2026-04]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+0.80¢                   results/summary.json :: is &gt; h6_walkforward &gt; [month=2026-05]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−1.68¢                   results/summary.json :: is &gt; h6_walkforward &gt; [month=2026-05]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−1.03¢                   results/summary.json :: is &gt; h6_walkforward &gt; [month=2026-05]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+0.73¢                   results/summary.json :: is &gt; h6_walkforward &gt; [month=2026-06]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−0.84¢                   results/summary.json :: is &gt; h6_walkforward &gt; [month=2026-06]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−0.70¢                   results/summary.json :: is &gt; h6_walkforward &gt; [month=2026-06]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+0.60¢                   results/summary.json :: is &gt; h6_walkforward &gt; [month=2026-07]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−1.27¢                   results/summary.json :: is &gt; h6_walkforward &gt; [month=2026-07]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−0.97¢                   results/summary.json :: is &gt; h6_walkforward &gt; [month=2026-07]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+0.83¢                   results/summary.json :: oos &gt; h6_walkforward &gt; [month=2026-08]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−1.20¢                   results/summary.json :: oos &gt; h6_walkforward &gt; [month=2026-08]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−1.53¢                   results/summary.json :: oos &gt; h6_walkforward &gt; [month=2026-08]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+0.70¢                   results/summary.json :: oos &gt; h6_walkforward &gt; [month=2026-09]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−1.22¢                   results/summary.json :: oos &gt; h6_walkforward &gt; [month=2026-09]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−1.57¢                   results/summary.json :: oos &gt; h6_walkforward &gt; [month=2026-09]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+0.44¢                   results/summary.json :: oos &gt; h6_walkforward &gt; [month=2026-10] &gt; 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−1.86¢                   results/summary.json :: oos &gt; h6_walkforward &gt; [month=2026-10] &gt; others_net30_c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−2.42¢                   results/summary.json :: oos &gt; h6_walkforward &gt; [month=2026-10] &gt; follow_res_c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+3.09¢                   results/expand/results.json :: fast_minus_others_u2 &gt; u2_is &gt; fast_minus_others_c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+2.16¢                   results/expand/results.json :: fast_minus_others_u2 &gt; u2_oos &gt; fast_minus_others_c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[1.79, 2.53]             results/expand/results.json :: fast_minus_others_u2 &gt; u2_oos &gt; 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3 Evidence                 11,307                   results/expand/results.json :: universe &gt; u2_markets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11                       results/tracking/summary.json :: early_call &gt; precision_recall_test_snapshot &gt; 50ms &gt; tp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11/11                    results/tracking/summary.json :: early_call &gt; precision_recall_test_snapshot &gt; 50ms  [tp/(tp+fp)]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41                       results/tracking/summary.json :: early_call &gt; precision_recall_test_snapshot &gt; 50ms  [tp+fn]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27%                      results/tracking/summary.json :: early_call &gt; precision_recall_test_snapshot &gt; 50ms &gt; recall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74%                      results/tracking/summary.json :: early_call &gt; precision_recall_test_snapshot &gt; 50ms &gt; precision_wilson95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97.7%                    results/engine/demo_run.json :: vision &gt; detection_vs_labels &gt; within_5px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3 OF 10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99.7%                    results/engine/demo_run.json :: vision &gt; detection_vs_labels &gt; recall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100 ms                   results/engine/demo_run.json :: latency_budget &gt; [stage 'vision…'] &gt; ms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153 ms                   results/engine/demo_run.json :: latency_budget &gt; [stage 'vision…'] &gt; p90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4 CV in action             51 fps                   results/engine/vision_bench.json :: summary &gt; 0 &gt; fps_sustained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+1.38¢                   results/v2/causal.json :: causal/is_eval/slip0.0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+0.88¢                   results/v2/causal.json :: causal/is_eval/slip0.005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+0.38¢                   results/v2/causal.json :: causal/is_eval/slip0.01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+0.77¢                   results/v2/cost_stress.json :: is_eval/fee_x2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+0.27¢                   results/v2/cost_stress.json :: is_eval/costs_x2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+0.60¢                   results/v2/causal.json :: causal/burned_oos/slip0.0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+0.10¢                   results/v2/causal.json :: causal/burned_oos/slip0.005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−0.40¢                   results/v2/causal.json :: causal/burned_oos/slip0.01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−0.34¢                   results/v2/cost_stress.json :: burned_oos/fee_x2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−0.84¢                   results/v2/cost_stress.json :: burned_oos/costs_x2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206                      results/v2/causal.json :: causal/is_eval/slip0.0 &gt; 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40                       results/v2/causal.json :: causal/burned_oos/slip0.0 &gt; 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pending                  results/v2/forward.json  [blind forward test: one run, pre-registered in HYPOTHESIS_V2.md]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[1.17, 1.59]             results/v2/causal.json :: causal/is_eval/slip0.0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[0.09, 1.13]             results/v2/causal.json :: causal/burned_oos/slip0.0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14.5                     results/v2/causal.json :: causal/is_eval/slip0.0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−2.0%                    results/v2/causal.json :: causal/is_eval/slip0.0 &gt; max_dd_pct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6.7                      results/v2/causal.json :: causal/burned_oos/slip0.0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−2.1%                    results/v2/causal.json :: causal/burned_oos/slip0.0 &gt; max_dd_pct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7                        results/v2/causal.json :: causal/is_eval/slip0.0 &gt; months_positive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7                        results/v2/causal.json :: causal/is_eval/slip0.0 &gt; months_total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2                        results/v2/causal.json :: causal/burned_oos/slip0.0 &gt; months_positive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3                        results/v2/causal.json :: causal/burned_oos/slip0.0 &gt; months_total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+$40.4k                  results/v2/causal.json :: causal/is_eval/slip0.0 &gt; total_pnl_usd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$28.3k                   results/v2/causal.json :: causal/is_eval/slip0.0 &gt; capital_usd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+$3.7k                   results/v2/causal.json :: causal/burned_oos/slip0.0 &gt; total_pnl_usd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$22.8k                   results/v2/causal.json :: causal/burned_oos/slip0.0 &gt; capital_usd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lost $36.1k              results/summary.json :: oos &gt; h6_shadow &gt; total_pnl_usd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5 Backtest                 −75%                     results/summary.json :: oos &gt; h6_shadow &gt; max_dd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3,386                    results/rigor/rigor.json :: psr_dsr &gt; N &gt; all_NOTE_s8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23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4 OF 10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44                       results/rigor/rigor.json :: psr_dsr &gt; N &gt; H1_H6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1.00                     results/rigor/rigor.json :: psr_dsr &gt; rows &gt; [series=v2_is] &gt; dsr &gt; N3386/sizing_grid_55 &gt; dsr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0.075                    results/rigor/rigor.json :: psr_dsr &gt; rows &gt; [series=v2_oos] &gt; dsr &gt; N3386/null &gt; dsr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0.481                    results/rigor/rigor.json :: psr_dsr &gt; rows &gt; [series=v2_oos] &gt; dsr &gt; N44/null &gt; dsr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15.4%                    results/rigor/rigor.json :: pbo_cscv &gt; lowloss_24_sharpe &gt; pbo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0.0%                     results/rigor/rigor.json :: pbo_cscv &gt; sizing_55_res_actual_sharpe &gt; pbo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[1.9, 12.3]              results/rigor/rigor.json :: bootstrap &gt; v2_oos &gt; sharpe_ann_ci95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40                       results/rigor/rigor.json :: sharpe_moments &gt; v2_oos &gt; T_days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FAIL                     results/tt/results.json :: TT1 &gt; verdict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FAIL (no fast tier detec results/tt/results.json :: TT2 &gt; verdict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FAIL (no trades)         results/tt/results.json :: TT3 &gt; verdict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PASS                     results/expand/results.json :: primary &gt; u2_is &gt; label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FAILURE                  results/expand/results.json :: primary &gt; u2_oos &gt; label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FAILURE                  results/maker/oos.json :: primary &gt; verdict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pending                  results/v2/forward.json  [verdict_B_v2_book]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3/3 months &gt; 0           results/summary.json :: oos &gt; h6_walkforward  [months net30_c &gt; 0]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+0.60¢                   results/v2/causal.json :: causal/burned_oos/slip0.0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[0.09, 1.13]             results/v2/causal.json :: causal/burned_oos/slip0.0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−0.34¢                   results/v2/cost_stress.json :: burned_oos/fee_x2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[−0.86, 0.19]            results/v2/cost_stress.json :: burned_oos/fee_x2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+2.02¢                   results/expand/results.json :: primary &gt; u2_is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[1.14, 2.93]             results/expand/results.json :: primary &gt; u2_is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+1.22¢                   results/expand/results.json :: primary &gt; u2_oos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[−0.19, 2.65]            results/expand/results.json :: primary &gt; u2_oos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+1.87¢                   results/maker/oos.json :: primary &gt; value_c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[−0.14, 3.86]            results/maker/oos.json :: primary &gt; ci95_c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−$379                    results/maker/oos.json :: headline &gt; total_pnl_usd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6 Rigor                    45                       results/oos_peeks.log  [non-empty lines]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COUNTERFACTUAL label     results/tier0/results.json :: label  [must contain COUNTERFACTUAL; checked at build]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+1.10¢                   results/tier0/results.json :: headline &gt; IS &gt; mean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0.82                     results/tier0/results.json :: headline &gt; IS &gt; mean &gt; per_share_ci95_c_lo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1.38                     results/tier0/results.json :: headline &gt; IS &gt; mean &gt; per_share_ci95_c_hi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11.4                     results/tier0/results.json :: headline &gt; IS &gt; mean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2.5                      results/tier0/results.json :: headline &gt; IS &gt; sd &gt; sharpe_ann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24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5 OF 10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$88.8                    results/tier0/results.json :: headline &gt; IS &gt; mean &gt; pnl_per_day_usd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20                       results/tier0/results.json :: headline &gt; IS &gt; n_seeds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103                      results/tier0/results.json :: headline &gt; IS &gt; mean &gt; 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+0.58¢                   results/tier0/results.json :: headline &gt; burned_OOS &gt; mean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−0.08                    results/tier0/results.json :: headline &gt; burned_OOS &gt; mean &gt; per_share_ci95_c_lo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1.21                     results/tier0/results.json :: headline &gt; burned_OOS &gt; mean &gt; per_share_ci95_c_hi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7.3                      results/tier0/results.json :: headline &gt; burned_OOS &gt; mean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5.9                      results/tier0/results.json :: headline &gt; burned_OOS &gt; sd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$46.4                    results/tier0/results.json :: headline &gt; burned_OOS &gt; mean &gt; pnl_per_day_usd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20                       results/tier0/results.json :: headline &gt; burned_OOS &gt; n_seeds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40                       results/tier0/results.json :: headline &gt; burned_OOS &gt; mean &gt; 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+0.85¢                   results/tier0/results.json :: pnl_vs_t_reprice_minus_t_bounce &gt; IS &gt; tournament &gt; 0.6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+1.06¢                   results/tier0/results.json :: pnl_vs_t_reprice_minus_t_bounce &gt; IS &gt; tournament &gt; 0.8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+1.10¢                   results/tier0/results.json :: pnl_vs_t_reprice_minus_t_bounce &gt; IS &gt; tournament &gt; 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+1.14¢                   results/tier0/results.json :: pnl_vs_t_reprice_minus_t_bounce &gt; IS &gt; tournament &gt; 1.1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+1.15¢                   results/tier0/results.json :: pnl_vs_t_reprice_minus_t_bounce &gt; IS &gt; tournament &gt; 1.2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+1.18¢                   results/tier0/results.json :: pnl_vs_t_reprice_minus_t_bounce &gt; IS &gt; tournament &gt; 1.3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+1.20¢                   results/tier0/results.json :: pnl_vs_t_reprice_minus_t_bounce &gt; IS &gt; tournament &gt; 1.35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+1.20¢                   results/tier0/results.json :: pnl_vs_t_reprice_minus_t_bounce &gt; IS &gt; tournament &gt; 1.4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+1.21¢                   results/tier0/results.json :: pnl_vs_t_reprice_minus_t_bounce &gt; IS &gt; tournament &gt; 1.5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+1.34¢                   results/tier0/results.json :: pnl_vs_t_reprice_minus_t_bounce &gt; IS &gt; tournament &gt; 1.75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+1.36¢                   results/tier0/results.json :: pnl_vs_t_reprice_minus_t_bounce &gt; IS &gt; tournament &gt; 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+1.44¢                   results/tier0/results.json :: pnl_vs_t_reprice_minus_t_bounce &gt; IS &gt; tournament &gt; 2.5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+0.23¢                   results/tier0/results.json :: pnl_vs_t_reprice_minus_t_bounce &gt; burned_OOS &gt; tournament &gt; 0.6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+0.67¢                   results/tier0/results.json :: pnl_vs_t_reprice_minus_t_bounce &gt; burned_OOS &gt; tournament &gt; 0.8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+0.73¢                   results/tier0/results.json :: pnl_vs_t_reprice_minus_t_bounce &gt; burned_OOS &gt; tournament &gt; 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+0.78¢                   results/tier0/results.json :: pnl_vs_t_reprice_minus_t_bounce &gt; burned_OOS &gt; tournament &gt; 1.1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+0.84¢                   results/tier0/results.json :: pnl_vs_t_reprice_minus_t_bounce &gt; burned_OOS &gt; tournament &gt; 1.2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+0.83¢                   results/tier0/results.json :: pnl_vs_t_reprice_minus_t_bounce &gt; burned_OOS &gt; tournament &gt; 1.3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+0.83¢                   results/tier0/results.json :: pnl_vs_t_reprice_minus_t_bounce &gt; burned_OOS &gt; tournament &gt; 1.35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+0.83¢                   results/tier0/results.json :: pnl_vs_t_reprice_minus_t_bounce &gt; burned_OOS &gt; tournament &gt; 1.4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+0.84¢                   results/tier0/results.json :: pnl_vs_t_reprice_minus_t_bounce &gt; burned_OOS &gt; tournament &gt; 1.5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+0.93¢                   results/tier0/results.json :: pnl_vs_t_reprice_minus_t_bounce &gt; burned_OOS &gt; tournament &gt; 1.75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+0.97¢                   results/tier0/results.json :: pnl_vs_t_reprice_minus_t_bounce &gt; burned_OOS &gt; tournament &gt; 2 &gt; per_share_c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25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6 OF 10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+1.01¢                   results/tier0/results.json :: pnl_vs_t_reprice_minus_t_bounce &gt; burned_OOS &gt; tournament &gt; 2.5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−2.10¢                   results/tier0/results.json :: pnl_vs_t_reprice_minus_t_bounce &gt; burned_OOS &gt; stamp &gt; 0.6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−3.93¢                   results/tier0/results.json :: pnl_vs_t_reprice_minus_t_bounce &gt; burned_OOS &gt; stamp &gt; 0.8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−3.25¢                   results/tier0/results.json :: pnl_vs_t_reprice_minus_t_bounce &gt; burned_OOS &gt; stamp &gt; 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+0.71¢                   results/tier0/results.json :: pnl_vs_t_reprice_minus_t_bounce &gt; burned_OOS &gt; stamp &gt; 1.1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+0.86¢                   results/tier0/results.json :: pnl_vs_t_reprice_minus_t_bounce &gt; burned_OOS &gt; stamp &gt; 1.2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+0.86¢                   results/tier0/results.json :: pnl_vs_t_reprice_minus_t_bounce &gt; burned_OOS &gt; stamp &gt; 1.3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+0.84¢                   results/tier0/results.json :: pnl_vs_t_reprice_minus_t_bounce &gt; burned_OOS &gt; stamp &gt; 1.35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+0.83¢                   results/tier0/results.json :: pnl_vs_t_reprice_minus_t_bounce &gt; burned_OOS &gt; stamp &gt; 1.4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+0.86¢                   results/tier0/results.json :: pnl_vs_t_reprice_minus_t_bounce &gt; burned_OOS &gt; stamp &gt; 1.5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+0.95¢                   results/tier0/results.json :: pnl_vs_t_reprice_minus_t_bounce &gt; burned_OOS &gt; stamp &gt; 1.75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+1.05¢                   results/tier0/results.json :: pnl_vs_t_reprice_minus_t_bounce &gt; burned_OOS &gt; stamp &gt; 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+1.12¢                   results/tier0/results.json :: pnl_vs_t_reprice_minus_t_bounce &gt; burned_OOS &gt; stamp &gt; 2.5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0.68 s                   results/tier0/results.json :: timing &gt; pre_registered_primary_median_t_reprice_minus_t_bounce_s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1.35 s                   results/tier0/results.json :: timing &gt; calibrated_t_reprice_minus_t_bounce_s (inference)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1.1 s                    results/tier0/results.json :: pnl_vs_t_reprice_minus_t_bounce &gt; burned_OOS &gt; stamp_breakeven_B_s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$1,153                   results/financials/financials.json :: headline &gt; 9 &gt; fixed_cost_usd_per_day &gt; low  [row Tier-0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$88.8                    results/financials/financials.json :: headline &gt; 9 &gt; net_trading_usd_per_day  [row Tier-0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7 Tier-0 counterfactual    10                       results/tier0/results.json :: headline_scenario &gt; coverage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60 s                     results/engine/live_market_run.json :: seconds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7,785                    results/engine/live_market_run.json :: feed &gt; msgs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54                       results/engine/live_market_run.json :: feed &gt; assets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27                       results/engine/live_market_run.json :: markets_discovered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65                       results/engine/live_market_run.json :: feed &gt; latency &gt; p50_ms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84                       results/engine/live_market_run.json :: feed &gt; latency &gt; p95_ms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123                      results/engine/live_market_run.json :: feed &gt; latency &gt; p99_ms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0                        results/engine/live_market_run.json :: feed &gt; snapshots_mismatched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8                        results/engine/live_market_run.json :: feed &gt; snapshots_checked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0                        results/engine/live_market_run.json :: feed &gt; gaps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0                        results/engine/live_market_run.json :: reconnects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2 / 34                   results/engine/live_market_run.json :: what_if_tally  [sum SEND* / SKIP*]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0                        results/engine/live_market_run.json :: orders_sent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PAPER TRADING - LIVE MAR results/live/summary.json :: label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QUOTING (paper)          results/live/summary.json :: status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26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7 OF 10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20261003T193534Z         results/live/summary.json :: run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2026-10-03 20:19 UTC     results/live/summary.json :: now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0                        results/live/summary.json :: books &gt; B1 &gt; fills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+$0.00                   results/live/summary.json :: books &gt; B1 &gt; pnl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0                        results/live/summary.json :: books &gt; CTRL-taker &gt; fills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$10,000                  results/live/summary.json :: capital_per_book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25,982                   results/live/summary.json :: counters  [sum msg_*]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8 Live engine              0                        results/live/summary.json :: matches_in_play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$1,000                   results/engine/demo_run.json :: risk_config &gt; max_order_usd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100                      results/engine/demo_run.json :: risk_config &gt; net_cap_shares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0.05–0.95                results/engine/demo_run.json :: risk_config &gt; zone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$1,000                   results/engine/demo_run.json :: risk_config &gt; daily_stop_usd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2 s                      results/engine/demo_run.json :: risk_config &gt; feed_stale_ms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1 s                      results/engine/demo_run.json :: risk_config &gt; vision_stale_ms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$11.17                   results/risk/risk_stats.json :: liquidity_capital &gt; is_eval &gt; usd_per_trade_quantiles &gt; 0.5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$28.3k                   results/v2/causal.json :: causal/is_eval/slip0.0 &gt; capital_usd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$9.4k                    results/v2/causal.json :: causal/is_eval/slip0.0 &gt; peak_locked_usd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$7.2k                    results/v2/note_metrics.json :: is &gt; usd_traded_per_day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18.1%                    results/risk/risk_stats.json :: liquidity_capital &gt; v2_share_of_fast_tier_usd_is_pct  [max over months]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$82.3k                   results/financials/financials.json :: strategies &gt; v2 &gt; ceiling &gt; IS &gt; fast_tier_qualified_print_usd_per_day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41.7%                    results/risk/risk_stats.json :: concentration &gt; is_eval &gt; wallet &gt; top1_share_of_net_pct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+$196                    results/financials/financials.json :: headline &gt; 0 &gt; net_trading_usd_per_day  [row v2 (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$167                     results/financials/financials.json :: headline &gt; 0 &gt; fixed_cost_usd_per_day &gt; central  [row v2 (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+$29                     results/financials/financials.json :: headline &gt; 0 &gt; net_after_costs_usd_per_day &gt; central  [row v2 (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+$179                    results/financials/financials.json :: headline &gt; 1 &gt; net_trading_usd_per_day  [row v2 ( / IS, current 1 s / 5% regime only]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$167                     results/financials/financials.json :: headline &gt; 1 &gt; fixed_cost_usd_per_day &gt; central  [row v2 ( / IS, current 1 s / 5% regim…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+$12                     results/financials/financials.json :: headline &gt; 1 &gt; net_after_costs_usd_per_day &gt; central  [row v2 ( / IS, current 1 s / 5% 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+$92                     results/financials/financials.json :: headline &gt; 2 &gt; net_trading_usd_per_day  [row v2 ( / OOS (burned, non-blind)]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$167                     results/financials/financials.json :: headline &gt; 2 &gt; fixed_cost_usd_per_day &gt; central  [row v2 ( / OOS (burned, non-blind)]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−$75                     results/financials/financials.json :: headline &gt; 2 &gt; net_after_costs_usd_per_day &gt; central  [row v2 ( / OOS (burned, non-blin…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−$9                      results/financials/financials.json :: headline &gt; 13 &gt; net_trading_usd_per_day  [row Maker / OOS (blind)]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$3                       results/financials/financials.json :: headline &gt; 13 &gt; fixed_cost_usd_per_day &gt; central  [row Maker / OOS (blind)]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−$12                     results/financials/financials.json :: headline &gt; 13 &gt; net_after_costs_usd_per_day &gt; central  [row Maker / OOS (blind)]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+$89                     results/financials/financials.json :: headline &gt; 9 &gt; net_trading_usd_per_day  [row Tier-0 / IS]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27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8 OF 10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$4,149                   results/financials/financials.json :: headline &gt; 9 &gt; fixed_cost_usd_per_day &gt; central  [row Tier-0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−$4,060                  results/financials/financials.json :: headline &gt; 9 &gt; net_after_costs_usd_per_day &gt; central  [row Tier-0 / IS]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9 Risk + liquidity + finan $5,000                   results/financials/financials.json :: cost_assumptions &gt; feed_licence &gt; central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10 Close                   pending                  results/v2/forward.json  [forward test]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10 Close                   QUOTING (paper)          results/live/summary.json :: status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10 Close                   v2 (frozen fast-tier boo results/financials/financials.json :: pending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11 Q1                      +0.10¢                   results/v2/causal.json :: causal/burned_oos/slip0.005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11 Q1                      [−0.41, 0.63]            results/v2/causal.json :: causal/burned_oos/slip0.005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11 Q1                      11/11                    results/summary.json :: is &gt; h6_walkforward (months before universe &gt; oos_start) + oos &gt; h6_walkforward  [follow_res_c &lt; 0]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−$36.1k                  results/summary.json :: oos &gt; h6_shadow &gt; total_pnl_usd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2026-10-03 10:42 UTC     results/oos_peeks.log  [first line timestamp]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+2.02¢                   results/expand/results.json :: primary &gt; u2_is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[1.14, 2.93]             results/expand/results.json :: primary &gt; u2_is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+1.22¢                   results/expand/results.json :: primary &gt; u2_oos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[−0.19, 2.65]            results/expand/results.json :: primary &gt; u2_oos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11,307                   results/expand/results.json :: universe &gt; u2_markets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12 Q2                      45                       results/oos_peeks.log  [non-empty lines]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16.8                     results/summary.json :: v2_onset_superseded &gt; is_eval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14.5                     results/v2/causal.json :: causal/is_eval/slip0.0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270                      results/v2/causal.json :: causal/is_eval/slip0.0  [n_trades / days]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0.53                     results/v2/note_metrics.json :: is &gt; skew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4.3                      results/v2/note_metrics.json :: is &gt; kurtosis_pearson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−1.9%                    results/v2/note_metrics.json :: is &gt; worst_day_pct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9.8                      results/v2/causal.json :: causal/is_eval/slip0.005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4.3                      results/v2/causal.json :: causal/is_eval/slip0.01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3.0                      results/v2/note_metrics.json :: is &gt; costs_x2_sharpe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6.7                      results/v2/causal.json :: causal/burned_oos/slip0.0 &gt; sharpe_ann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[1.9, 12.3]              results/rigor/rigor.json :: bootstrap &gt; v2_oos &gt; sharpe_ann_ci95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13 Q3                      100                      results/engine/demo_run.json :: risk_config &gt; net_cap_shares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120 bps                  results/v2/note_metrics.json :: is &gt; fee_bps_of_notional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179 bps                  results/v2/note_metrics.json :: burned_oos &gt; fee_bps_of_notional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+0.77¢                   results/v2/cost_stress.json :: is_eval/fee_x2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7/7                      results/v2/cost_stress.json :: is_eval/fee_x2  [months_positive/months_total]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−0.34¢                   results/v2/cost_stress.json :: burned_oos/fee_x2 &gt; per_share_c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28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9 OF 10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[−0.86, 0.19]            results/v2/cost_stress.json :: burned_oos/fee_x2 &gt; per_share_ci_c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0/3                      results/v2/cost_stress.json :: burned_oos/fee_x2  [months_positive/months_total]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+0.27¢                   results/v2/cost_stress.json :: is_eval/costs_x2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−0.84¢                   results/v2/cost_stress.json :: burned_oos/costs_x2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14 Q4                      8.2%                     results/financials/financials.json :: strategies &gt; v2 &gt; periods &gt; OOS &gt; breakeven_taker_fee &gt; rate_before_fixed_costs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15 Q5                      $2.84B                   results/summary.json :: universe &gt; volume_usd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15 Q5                      0                        results/engine/live_market_run.json :: orders_sent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11/11                    results/summary.json :: is &gt; h6_walkforward (months before universe &gt; oos_start) + oos &gt; h6_walkforward  [net30_c &gt; 0]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4                        results/summary.json :: is &gt; h6_walkforward (months before universe &gt; oos_start) + oos &gt; h6_walkforward  [first month n_walle…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131                      results/summary.json :: is &gt; h6_walkforward (months before universe &gt; oos_start) + oos &gt; h6_walkforward  [last month n_wallet…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+2.0¢                    results/summary.json :: is &gt; h6_walkforward (months before universe &gt; oos_start) + oos &gt; h6_walkforward  [first month net30_c]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+0.4¢                    results/summary.json :: is &gt; h6_walkforward (months before universe &gt; oos_start) + oos &gt; h6_walkforward  [last month net30_c]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+3.09¢                   results/expand/results.json :: fast_minus_others_u2 &gt; u2_is &gt; fast_minus_others_c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+2.16¢                   results/expand/results.json :: fast_minus_others_u2 &gt; u2_oos &gt; fast_minus_others_c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[1.79, 2.53]             results/expand/results.json :: fast_minus_others_u2 &gt; u2_oos &gt; ci_c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16 Q6                      3.1 s                    results/tier0/results.json :: timing &gt; calibrated_stamp_lag_s (inference)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3,386                    results/rigor/rigor.json :: psr_dsr &gt; N &gt; all_NOTE_s8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44                       results/rigor/rigor.json :: psr_dsr &gt; N &gt; H1_H6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40                       results/rigor/rigor.json :: sharpe_moments &gt; v2_oos &gt; T_days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1.00                     results/rigor/rigor.json :: psr_dsr &gt; rows &gt; [series=v2_is] &gt; dsr &gt; N3386/sizing_grid_55 &gt; dsr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0.481                    results/rigor/rigor.json :: psr_dsr &gt; rows &gt; [series=v2_oos] &gt; dsr &gt; N44/null &gt; dsr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0.075                    results/rigor/rigor.json :: psr_dsr &gt; rows &gt; [series=v2_oos] &gt; dsr &gt; N3386/null &gt; dsr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0.0%                     results/rigor/rigor.json :: pbo_cscv &gt; sizing_55_res_actual_sharpe &gt; pbo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15.4%                    results/rigor/rigor.json :: pbo_cscv &gt; lowloss_24_sharpe &gt; pbo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17 Q7                      42.0%                    results/rigor/rigor.json :: pbo_cscv &gt; lowloss_24_selection_rule &gt; pbo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2,617                    results/v2/note_metrics.json :: holdout &gt; oos_matches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13,084                   results/v2/note_metrics.json :: holdout &gt; matches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21%                      results/v2/note_metrics.json :: holdout &gt; oos_share_of_volume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39                       results/v2/note_metrics.json :: holdout &gt; oos_days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360                      results/v2/note_metrics.json :: holdout &gt; span_days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2026-07-23               results/v2/note_metrics.json :: holdout &gt; time_based_20pct_start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−1.96¢                   results/risk/risk_stats.json :: universe_volume_filter &gt; burned_oos &gt; $5-20k &gt; per_share_c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11,307                   results/expand/results.json :: universe &gt; u2_markets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20%                      results/v2/note_metrics.json :: holdout  [oos_matches / matches]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29</a:t>
            </a:fld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/>
          <a:p>
            <a:r>
              <a:rPr sz="2600" b="1" i="0">
                <a:solidFill>
                  <a:srgbClr val="0C1A28"/>
                </a:solidFill>
                <a:latin typeface="Arial Narrow" panose="020B0606020202030204" pitchFamily="34" charset="0"/>
              </a:rPr>
              <a:t>Every number on screen, and where it was read</a:t>
            </a:r>
          </a:p>
        </p:txBody>
      </p:sp>
      <p:sp>
        <p:nvSpPr>
          <p:cNvPr id="3" name="Motif: ball"/>
          <p:cNvSpPr/>
          <p:nvPr/>
        </p:nvSpPr>
        <p:spPr>
          <a:xfrm>
            <a:off x="548640" y="457200"/>
            <a:ext cx="137160" cy="137160"/>
          </a:xfrm>
          <a:prstGeom prst="ellipse">
            <a:avLst/>
          </a:prstGeom>
          <a:solidFill>
            <a:srgbClr val="D1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yebrow"/>
          <p:cNvSpPr txBox="1"/>
          <p:nvPr/>
        </p:nvSpPr>
        <p:spPr>
          <a:xfrm>
            <a:off x="795528" y="365760"/>
            <a:ext cx="10847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200" b="1" i="0" spc="150">
                <a:solidFill>
                  <a:srgbClr val="27598B"/>
                </a:solidFill>
                <a:latin typeface="Arial" panose="020B0604020202020204" pitchFamily="34" charset="0"/>
              </a:rPr>
              <a:t>HIDDEN MANIFEST  ·  PAGE 10 OF 10</a:t>
            </a:r>
          </a:p>
        </p:txBody>
      </p:sp>
      <p:sp>
        <p:nvSpPr>
          <p:cNvPr id="5" name="Manifest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18 Q8                      $5k                      results/risk/risk_stats.json :: universe_volume_filter &gt; note  [volume threshold quoted in the note field]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$7.2k                    results/v2/note_metrics.json :: is &gt; usd_traded_per_day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$1.48M                   results/v2/causal.json :: causal/is_eval/slip0.0 &gt; usd_traded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206                      results/v2/causal.json :: causal/is_eval/slip0.0 &gt; days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$28.3k                   results/v2/causal.json :: causal/is_eval/slip0.0 &gt; capital_usd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$11.17                   results/risk/risk_stats.json :: liquidity_capital &gt; is_eval &gt; usd_per_trade_quantiles &gt; 0.5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$82.3k                   results/financials/financials.json :: strategies &gt; v2 &gt; ceiling &gt; IS &gt; fast_tier_qualified_print_usd_per_day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$105.5k                  results/financials/financials.json :: strategies &gt; v2 &gt; ceiling &gt; OOS &gt; fast_tier_qualified_print_usd_per_day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41.7%                    results/risk/risk_stats.json :: concentration &gt; is_eval &gt; wallet &gt; top1_share_of_net_pct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48.4%                    results/risk/risk_stats.json :: concentration &gt; burned_oos &gt; wallet &gt; top1_share_of_net_pct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[−0.45, 2.38]            results/financials/pm_compute.json :: p07_wallet_clustered_ci &gt; burned_oos &gt; ci95_c_wallet_clustered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19 Q9                      no: not even with every  results/financials/financials.json :: strategies &gt; v2 &gt; coverage &gt; OOS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20 Q10                     11/11                    results/tracking/summary.json :: early_call &gt; precision_recall_test_snapshot &gt; 50ms  [tp/(tp+fp)]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20 Q10                     27%                      results/tracking/summary.json :: early_call &gt; precision_recall_test_snapshot &gt; 50ms &gt; recall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20 Q10                     74%                      results/tracking/summary.json :: early_call &gt; precision_recall_test_snapshot &gt; 50ms &gt; precision_wilson95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20 Q10                     0.7–1.2 m                results/tennis_tracking/summary.json :: headline &gt; labels &gt; median_landing_err_cm &gt; learned  [33–300 ms]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20 Q10                     1.1 s                    results/tier0/results.json :: pnl_vs_t_reprice_minus_t_bounce &gt; burned_OOS &gt; stamp_breakeven_B_s</a:t>
            </a:r>
          </a:p>
          <a:p>
            <a:pPr algn="l"/>
            <a:r>
              <a:rPr sz="700" b="0" i="0">
                <a:solidFill>
                  <a:srgbClr val="0C1A28"/>
                </a:solidFill>
                <a:latin typeface="Courier New"/>
              </a:rPr>
              <a:t>20 Q10                     100 ms                   results/engine/demo_run.json :: latency_budget &gt; [stage 'vision…'] &gt; ms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55664"/>
            <a:ext cx="5486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1000" b="0" i="0">
                <a:solidFill>
                  <a:srgbClr val="566676"/>
                </a:solidFill>
                <a:latin typeface="Arial" panose="020B0604020202020204" pitchFamily="34" charset="0"/>
              </a:rPr>
              <a:t>COURTSIDE  ·  Gator Quant Hacks 2026  ·  Systematic Trading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8655" y="6455664"/>
            <a:ext cx="9144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/>
            <a:fld id="{B6F15528-21DE-4FAA-801E-634DDDAF4B2B}" type="slidenum">
              <a:rPr lang="en-US" sz="1000" dirty="0">
                <a:solidFill>
                  <a:srgbClr val="566676"/>
                </a:solidFill>
                <a:latin typeface="Arial" panose="020B0604020202020204" pitchFamily="34" charset="0"/>
              </a:rPr>
              <a:t>30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urtside">
  <a:themeElements>
    <a:clrScheme name="Courtside">
      <a:dk1>
        <a:srgbClr val="0C1A28"/>
      </a:dk1>
      <a:lt1>
        <a:srgbClr val="FFFFFF"/>
      </a:lt1>
      <a:dk2>
        <a:srgbClr val="27598B"/>
      </a:dk2>
      <a:lt2>
        <a:srgbClr val="F2F5F8"/>
      </a:lt2>
      <a:accent1>
        <a:srgbClr val="27598B"/>
      </a:accent1>
      <a:accent2>
        <a:srgbClr val="D1432F"/>
      </a:accent2>
      <a:accent3>
        <a:srgbClr val="0C1A28"/>
      </a:accent3>
      <a:accent4>
        <a:srgbClr val="7D8FA3"/>
      </a:accent4>
      <a:accent5>
        <a:srgbClr val="8FB0D1"/>
      </a:accent5>
      <a:accent6>
        <a:srgbClr val="E39A8C"/>
      </a:accent6>
      <a:hlink>
        <a:srgbClr val="27598B"/>
      </a:hlink>
      <a:folHlink>
        <a:srgbClr val="566676"/>
      </a:folHlink>
    </a:clrScheme>
    <a:fontScheme name="Courtside">
      <a:majorFont>
        <a:latin typeface="Arial Narrow" panose="020B0606020202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COURTSIDE: who gets paid in the seconds after a tennis point</dc:title>
  <dc:subject>Gator Quant Hacks 2026, Systematic Trading</dc:subject>
  <dc:creator>COURTSIDE</dc:creator>
  <cp:keywords>tennis; Polymarket; latency; computer vision; paper trading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